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7" r:id="rId2"/>
    <p:sldId id="258" r:id="rId3"/>
    <p:sldId id="259" r:id="rId4"/>
    <p:sldId id="260" r:id="rId5"/>
    <p:sldId id="261" r:id="rId6"/>
    <p:sldId id="262" r:id="rId7"/>
    <p:sldId id="362" r:id="rId8"/>
    <p:sldId id="363" r:id="rId9"/>
    <p:sldId id="299" r:id="rId10"/>
    <p:sldId id="303" r:id="rId11"/>
    <p:sldId id="364" r:id="rId12"/>
    <p:sldId id="279" r:id="rId13"/>
    <p:sldId id="365" r:id="rId14"/>
    <p:sldId id="287" r:id="rId15"/>
    <p:sldId id="265" r:id="rId16"/>
    <p:sldId id="366" r:id="rId17"/>
    <p:sldId id="270" r:id="rId18"/>
    <p:sldId id="36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13"/>
  </p:normalViewPr>
  <p:slideViewPr>
    <p:cSldViewPr snapToGrid="0">
      <p:cViewPr>
        <p:scale>
          <a:sx n="100" d="100"/>
          <a:sy n="100" d="100"/>
        </p:scale>
        <p:origin x="82" y="-77"/>
      </p:cViewPr>
      <p:guideLst>
        <p:guide orient="horz" pos="2160"/>
        <p:guide pos="3840"/>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image" Target="../media/image2.emf"/><Relationship Id="rId5" Type="http://schemas.openxmlformats.org/officeDocument/2006/relationships/image" Target="../media/image6.emf"/><Relationship Id="rId4"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image" Target="../media/image8.emf"/><Relationship Id="rId4"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image" Target="../media/image1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8C4012-B319-3242-A823-F53B58022FC5}" type="datetimeFigureOut">
              <a:rPr lang="en-US" smtClean="0"/>
              <a:t>11/24/2025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E68E05-80BB-904F-98D4-7D7175B7847B}" type="slidenum">
              <a:rPr lang="en-US" smtClean="0"/>
              <a:t>‹#›</a:t>
            </a:fld>
            <a:endParaRPr lang="en-US"/>
          </a:p>
        </p:txBody>
      </p:sp>
    </p:spTree>
    <p:extLst>
      <p:ext uri="{BB962C8B-B14F-4D97-AF65-F5344CB8AC3E}">
        <p14:creationId xmlns:p14="http://schemas.microsoft.com/office/powerpoint/2010/main" val="3950974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E68E05-80BB-904F-98D4-7D7175B7847B}" type="slidenum">
              <a:rPr lang="en-US" smtClean="0"/>
              <a:t>14</a:t>
            </a:fld>
            <a:endParaRPr lang="en-US"/>
          </a:p>
        </p:txBody>
      </p:sp>
    </p:spTree>
    <p:extLst>
      <p:ext uri="{BB962C8B-B14F-4D97-AF65-F5344CB8AC3E}">
        <p14:creationId xmlns:p14="http://schemas.microsoft.com/office/powerpoint/2010/main" val="1966698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E68E05-80BB-904F-98D4-7D7175B7847B}" type="slidenum">
              <a:rPr lang="en-US" smtClean="0"/>
              <a:t>17</a:t>
            </a:fld>
            <a:endParaRPr lang="en-US"/>
          </a:p>
        </p:txBody>
      </p:sp>
    </p:spTree>
    <p:extLst>
      <p:ext uri="{BB962C8B-B14F-4D97-AF65-F5344CB8AC3E}">
        <p14:creationId xmlns:p14="http://schemas.microsoft.com/office/powerpoint/2010/main" val="2003956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73F4CF-D8BD-BFF5-E873-CFEB1796D8F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xmlns="" id="{D53E6CD1-866F-DC89-ED87-3DDBB372D1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xmlns="" id="{29424054-8782-6D63-1430-9D0CCF211163}"/>
              </a:ext>
            </a:extLst>
          </p:cNvPr>
          <p:cNvSpPr>
            <a:spLocks noGrp="1"/>
          </p:cNvSpPr>
          <p:nvPr>
            <p:ph type="dt" sz="half" idx="10"/>
          </p:nvPr>
        </p:nvSpPr>
        <p:spPr/>
        <p:txBody>
          <a:bodyPr/>
          <a:lstStyle/>
          <a:p>
            <a:fld id="{F39CC654-826B-C544-B4DF-A996ACA1DD1D}" type="datetimeFigureOut">
              <a:rPr lang="en-US" smtClean="0"/>
              <a:t>11/24/2025</a:t>
            </a:fld>
            <a:endParaRPr lang="en-US"/>
          </a:p>
        </p:txBody>
      </p:sp>
      <p:sp>
        <p:nvSpPr>
          <p:cNvPr id="5" name="Footer Placeholder 4">
            <a:extLst>
              <a:ext uri="{FF2B5EF4-FFF2-40B4-BE49-F238E27FC236}">
                <a16:creationId xmlns:a16="http://schemas.microsoft.com/office/drawing/2014/main" xmlns="" id="{DC0868F8-F803-7C6E-5AF0-5830C3D94F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1E4BE9DD-B973-C53B-3A5A-7EFC6B479872}"/>
              </a:ext>
            </a:extLst>
          </p:cNvPr>
          <p:cNvSpPr>
            <a:spLocks noGrp="1"/>
          </p:cNvSpPr>
          <p:nvPr>
            <p:ph type="sldNum" sz="quarter" idx="12"/>
          </p:nvPr>
        </p:nvSpPr>
        <p:spPr/>
        <p:txBody>
          <a:bodyPr/>
          <a:lstStyle/>
          <a:p>
            <a:fld id="{C2849A47-8CF0-514D-ACF3-96F19B9A1AF9}" type="slidenum">
              <a:rPr lang="en-US" smtClean="0"/>
              <a:t>‹#›</a:t>
            </a:fld>
            <a:endParaRPr lang="en-US"/>
          </a:p>
        </p:txBody>
      </p:sp>
    </p:spTree>
    <p:extLst>
      <p:ext uri="{BB962C8B-B14F-4D97-AF65-F5344CB8AC3E}">
        <p14:creationId xmlns:p14="http://schemas.microsoft.com/office/powerpoint/2010/main" val="977504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187603-97BC-D852-4337-F45BD65A310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BC9D19A0-22F4-7764-FF84-3D28838490F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9084C63E-EC11-37F4-0C7A-3A11969092F6}"/>
              </a:ext>
            </a:extLst>
          </p:cNvPr>
          <p:cNvSpPr>
            <a:spLocks noGrp="1"/>
          </p:cNvSpPr>
          <p:nvPr>
            <p:ph type="dt" sz="half" idx="10"/>
          </p:nvPr>
        </p:nvSpPr>
        <p:spPr/>
        <p:txBody>
          <a:bodyPr/>
          <a:lstStyle/>
          <a:p>
            <a:fld id="{F39CC654-826B-C544-B4DF-A996ACA1DD1D}" type="datetimeFigureOut">
              <a:rPr lang="en-US" smtClean="0"/>
              <a:t>11/24/2025</a:t>
            </a:fld>
            <a:endParaRPr lang="en-US"/>
          </a:p>
        </p:txBody>
      </p:sp>
      <p:sp>
        <p:nvSpPr>
          <p:cNvPr id="5" name="Footer Placeholder 4">
            <a:extLst>
              <a:ext uri="{FF2B5EF4-FFF2-40B4-BE49-F238E27FC236}">
                <a16:creationId xmlns:a16="http://schemas.microsoft.com/office/drawing/2014/main" xmlns="" id="{0694BF5D-C5B4-D02F-3D82-7EE3CEEEB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1396DBF7-2334-8420-2466-11E02C8B3A63}"/>
              </a:ext>
            </a:extLst>
          </p:cNvPr>
          <p:cNvSpPr>
            <a:spLocks noGrp="1"/>
          </p:cNvSpPr>
          <p:nvPr>
            <p:ph type="sldNum" sz="quarter" idx="12"/>
          </p:nvPr>
        </p:nvSpPr>
        <p:spPr/>
        <p:txBody>
          <a:bodyPr/>
          <a:lstStyle/>
          <a:p>
            <a:fld id="{C2849A47-8CF0-514D-ACF3-96F19B9A1AF9}" type="slidenum">
              <a:rPr lang="en-US" smtClean="0"/>
              <a:t>‹#›</a:t>
            </a:fld>
            <a:endParaRPr lang="en-US"/>
          </a:p>
        </p:txBody>
      </p:sp>
    </p:spTree>
    <p:extLst>
      <p:ext uri="{BB962C8B-B14F-4D97-AF65-F5344CB8AC3E}">
        <p14:creationId xmlns:p14="http://schemas.microsoft.com/office/powerpoint/2010/main" val="2005789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C66C7D-6407-47B8-E22C-D0089A20182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xmlns="" id="{B5736983-EB8B-1001-17E4-3DDC445495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xmlns="" id="{B98854C9-EC0C-B74D-9E00-4B1CC2B95D30}"/>
              </a:ext>
            </a:extLst>
          </p:cNvPr>
          <p:cNvSpPr>
            <a:spLocks noGrp="1"/>
          </p:cNvSpPr>
          <p:nvPr>
            <p:ph type="dt" sz="half" idx="10"/>
          </p:nvPr>
        </p:nvSpPr>
        <p:spPr/>
        <p:txBody>
          <a:bodyPr/>
          <a:lstStyle/>
          <a:p>
            <a:fld id="{F39CC654-826B-C544-B4DF-A996ACA1DD1D}" type="datetimeFigureOut">
              <a:rPr lang="en-US" smtClean="0"/>
              <a:t>11/24/2025</a:t>
            </a:fld>
            <a:endParaRPr lang="en-US"/>
          </a:p>
        </p:txBody>
      </p:sp>
      <p:sp>
        <p:nvSpPr>
          <p:cNvPr id="5" name="Footer Placeholder 4">
            <a:extLst>
              <a:ext uri="{FF2B5EF4-FFF2-40B4-BE49-F238E27FC236}">
                <a16:creationId xmlns:a16="http://schemas.microsoft.com/office/drawing/2014/main" xmlns="" id="{E8E8095B-FEBC-5359-2C54-5EDC651A2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59EB6781-E03D-3F1A-66E4-775ABF975606}"/>
              </a:ext>
            </a:extLst>
          </p:cNvPr>
          <p:cNvSpPr>
            <a:spLocks noGrp="1"/>
          </p:cNvSpPr>
          <p:nvPr>
            <p:ph type="sldNum" sz="quarter" idx="12"/>
          </p:nvPr>
        </p:nvSpPr>
        <p:spPr/>
        <p:txBody>
          <a:bodyPr/>
          <a:lstStyle/>
          <a:p>
            <a:fld id="{C2849A47-8CF0-514D-ACF3-96F19B9A1AF9}" type="slidenum">
              <a:rPr lang="en-US" smtClean="0"/>
              <a:t>‹#›</a:t>
            </a:fld>
            <a:endParaRPr lang="en-US"/>
          </a:p>
        </p:txBody>
      </p:sp>
    </p:spTree>
    <p:extLst>
      <p:ext uri="{BB962C8B-B14F-4D97-AF65-F5344CB8AC3E}">
        <p14:creationId xmlns:p14="http://schemas.microsoft.com/office/powerpoint/2010/main" val="4040537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DB145F-F0EE-6B0F-378D-9BE56B1EAE5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9027E34F-DCD1-5ABD-ADA0-6A00CC2BF1D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xmlns="" id="{057DA43A-C193-A5AE-305C-508EEA6C971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xmlns="" id="{F589EA72-E2E1-94C4-6F8F-D7CAC5A087C7}"/>
              </a:ext>
            </a:extLst>
          </p:cNvPr>
          <p:cNvSpPr>
            <a:spLocks noGrp="1"/>
          </p:cNvSpPr>
          <p:nvPr>
            <p:ph type="dt" sz="half" idx="10"/>
          </p:nvPr>
        </p:nvSpPr>
        <p:spPr/>
        <p:txBody>
          <a:bodyPr/>
          <a:lstStyle/>
          <a:p>
            <a:fld id="{F39CC654-826B-C544-B4DF-A996ACA1DD1D}" type="datetimeFigureOut">
              <a:rPr lang="en-US" smtClean="0"/>
              <a:t>11/24/2025</a:t>
            </a:fld>
            <a:endParaRPr lang="en-US"/>
          </a:p>
        </p:txBody>
      </p:sp>
      <p:sp>
        <p:nvSpPr>
          <p:cNvPr id="6" name="Footer Placeholder 5">
            <a:extLst>
              <a:ext uri="{FF2B5EF4-FFF2-40B4-BE49-F238E27FC236}">
                <a16:creationId xmlns:a16="http://schemas.microsoft.com/office/drawing/2014/main" xmlns="" id="{50801194-29A2-45B3-A2EA-1EFFDBB8CB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8FD0B1F1-6167-EBF9-8C1B-54CB77EC05D6}"/>
              </a:ext>
            </a:extLst>
          </p:cNvPr>
          <p:cNvSpPr>
            <a:spLocks noGrp="1"/>
          </p:cNvSpPr>
          <p:nvPr>
            <p:ph type="sldNum" sz="quarter" idx="12"/>
          </p:nvPr>
        </p:nvSpPr>
        <p:spPr/>
        <p:txBody>
          <a:bodyPr/>
          <a:lstStyle/>
          <a:p>
            <a:fld id="{C2849A47-8CF0-514D-ACF3-96F19B9A1AF9}" type="slidenum">
              <a:rPr lang="en-US" smtClean="0"/>
              <a:t>‹#›</a:t>
            </a:fld>
            <a:endParaRPr lang="en-US"/>
          </a:p>
        </p:txBody>
      </p:sp>
    </p:spTree>
    <p:extLst>
      <p:ext uri="{BB962C8B-B14F-4D97-AF65-F5344CB8AC3E}">
        <p14:creationId xmlns:p14="http://schemas.microsoft.com/office/powerpoint/2010/main" val="3629560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D11312-201F-98D1-7F9D-30CDE54604F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47928276-3391-FB17-58D1-4F359AEA99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xmlns="" id="{3F875DDA-B6BA-BCDC-DBC4-3F20BDD1D16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xmlns="" id="{1801B9F7-1627-D10B-801F-BA896EA8C2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xmlns="" id="{A9398E04-B657-3CA1-7FE7-1C9A555510C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xmlns="" id="{5BA19E48-B375-79FE-7C7B-66E9CF80E846}"/>
              </a:ext>
            </a:extLst>
          </p:cNvPr>
          <p:cNvSpPr>
            <a:spLocks noGrp="1"/>
          </p:cNvSpPr>
          <p:nvPr>
            <p:ph type="dt" sz="half" idx="10"/>
          </p:nvPr>
        </p:nvSpPr>
        <p:spPr/>
        <p:txBody>
          <a:bodyPr/>
          <a:lstStyle/>
          <a:p>
            <a:fld id="{F39CC654-826B-C544-B4DF-A996ACA1DD1D}" type="datetimeFigureOut">
              <a:rPr lang="en-US" smtClean="0"/>
              <a:t>11/24/2025</a:t>
            </a:fld>
            <a:endParaRPr lang="en-US"/>
          </a:p>
        </p:txBody>
      </p:sp>
      <p:sp>
        <p:nvSpPr>
          <p:cNvPr id="8" name="Footer Placeholder 7">
            <a:extLst>
              <a:ext uri="{FF2B5EF4-FFF2-40B4-BE49-F238E27FC236}">
                <a16:creationId xmlns:a16="http://schemas.microsoft.com/office/drawing/2014/main" xmlns="" id="{3EF72988-22B3-E585-3EF5-8CFCA450234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0DCDEF7A-25C9-5E4C-497D-C78EBA1E7852}"/>
              </a:ext>
            </a:extLst>
          </p:cNvPr>
          <p:cNvSpPr>
            <a:spLocks noGrp="1"/>
          </p:cNvSpPr>
          <p:nvPr>
            <p:ph type="sldNum" sz="quarter" idx="12"/>
          </p:nvPr>
        </p:nvSpPr>
        <p:spPr/>
        <p:txBody>
          <a:bodyPr/>
          <a:lstStyle/>
          <a:p>
            <a:fld id="{C2849A47-8CF0-514D-ACF3-96F19B9A1AF9}" type="slidenum">
              <a:rPr lang="en-US" smtClean="0"/>
              <a:t>‹#›</a:t>
            </a:fld>
            <a:endParaRPr lang="en-US"/>
          </a:p>
        </p:txBody>
      </p:sp>
    </p:spTree>
    <p:extLst>
      <p:ext uri="{BB962C8B-B14F-4D97-AF65-F5344CB8AC3E}">
        <p14:creationId xmlns:p14="http://schemas.microsoft.com/office/powerpoint/2010/main" val="2751548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0E0EA2-C7C3-8F2F-FEB0-F3FC68714C6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xmlns="" id="{55F5A341-295F-3DEC-8CF1-47D7F816B752}"/>
              </a:ext>
            </a:extLst>
          </p:cNvPr>
          <p:cNvSpPr>
            <a:spLocks noGrp="1"/>
          </p:cNvSpPr>
          <p:nvPr>
            <p:ph type="dt" sz="half" idx="10"/>
          </p:nvPr>
        </p:nvSpPr>
        <p:spPr/>
        <p:txBody>
          <a:bodyPr/>
          <a:lstStyle/>
          <a:p>
            <a:fld id="{F39CC654-826B-C544-B4DF-A996ACA1DD1D}" type="datetimeFigureOut">
              <a:rPr lang="en-US" smtClean="0"/>
              <a:t>11/24/2025</a:t>
            </a:fld>
            <a:endParaRPr lang="en-US"/>
          </a:p>
        </p:txBody>
      </p:sp>
      <p:sp>
        <p:nvSpPr>
          <p:cNvPr id="4" name="Footer Placeholder 3">
            <a:extLst>
              <a:ext uri="{FF2B5EF4-FFF2-40B4-BE49-F238E27FC236}">
                <a16:creationId xmlns:a16="http://schemas.microsoft.com/office/drawing/2014/main" xmlns="" id="{DD1E368C-49A4-E5C3-5E93-79660B6A59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292EDC7E-FEA2-78C5-7076-58AC44A4D7DB}"/>
              </a:ext>
            </a:extLst>
          </p:cNvPr>
          <p:cNvSpPr>
            <a:spLocks noGrp="1"/>
          </p:cNvSpPr>
          <p:nvPr>
            <p:ph type="sldNum" sz="quarter" idx="12"/>
          </p:nvPr>
        </p:nvSpPr>
        <p:spPr/>
        <p:txBody>
          <a:bodyPr/>
          <a:lstStyle/>
          <a:p>
            <a:fld id="{C2849A47-8CF0-514D-ACF3-96F19B9A1AF9}" type="slidenum">
              <a:rPr lang="en-US" smtClean="0"/>
              <a:t>‹#›</a:t>
            </a:fld>
            <a:endParaRPr lang="en-US"/>
          </a:p>
        </p:txBody>
      </p:sp>
    </p:spTree>
    <p:extLst>
      <p:ext uri="{BB962C8B-B14F-4D97-AF65-F5344CB8AC3E}">
        <p14:creationId xmlns:p14="http://schemas.microsoft.com/office/powerpoint/2010/main" val="2547786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EFECCAA6-8653-0BA0-B882-46990278E26D}"/>
              </a:ext>
            </a:extLst>
          </p:cNvPr>
          <p:cNvSpPr>
            <a:spLocks noGrp="1"/>
          </p:cNvSpPr>
          <p:nvPr>
            <p:ph type="dt" sz="half" idx="10"/>
          </p:nvPr>
        </p:nvSpPr>
        <p:spPr/>
        <p:txBody>
          <a:bodyPr/>
          <a:lstStyle/>
          <a:p>
            <a:fld id="{F39CC654-826B-C544-B4DF-A996ACA1DD1D}" type="datetimeFigureOut">
              <a:rPr lang="en-US" smtClean="0"/>
              <a:t>11/24/2025</a:t>
            </a:fld>
            <a:endParaRPr lang="en-US"/>
          </a:p>
        </p:txBody>
      </p:sp>
      <p:sp>
        <p:nvSpPr>
          <p:cNvPr id="3" name="Footer Placeholder 2">
            <a:extLst>
              <a:ext uri="{FF2B5EF4-FFF2-40B4-BE49-F238E27FC236}">
                <a16:creationId xmlns:a16="http://schemas.microsoft.com/office/drawing/2014/main" xmlns="" id="{A33DC9CA-6D46-56B9-418B-E88BCE28FE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82624BCB-F8E4-04C7-3E82-5769D04B9BAD}"/>
              </a:ext>
            </a:extLst>
          </p:cNvPr>
          <p:cNvSpPr>
            <a:spLocks noGrp="1"/>
          </p:cNvSpPr>
          <p:nvPr>
            <p:ph type="sldNum" sz="quarter" idx="12"/>
          </p:nvPr>
        </p:nvSpPr>
        <p:spPr/>
        <p:txBody>
          <a:bodyPr/>
          <a:lstStyle/>
          <a:p>
            <a:fld id="{C2849A47-8CF0-514D-ACF3-96F19B9A1AF9}" type="slidenum">
              <a:rPr lang="en-US" smtClean="0"/>
              <a:t>‹#›</a:t>
            </a:fld>
            <a:endParaRPr lang="en-US"/>
          </a:p>
        </p:txBody>
      </p:sp>
    </p:spTree>
    <p:extLst>
      <p:ext uri="{BB962C8B-B14F-4D97-AF65-F5344CB8AC3E}">
        <p14:creationId xmlns:p14="http://schemas.microsoft.com/office/powerpoint/2010/main" val="1430521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0710D9-10CB-D073-B5F3-CA411465B9C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E41A3F11-EF48-C400-A59E-82B1C3F388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xmlns="" id="{2E5D9DE2-770E-DE5B-143C-79CE51B88C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BB9BE05A-F1CF-0367-C716-51075E3A24B8}"/>
              </a:ext>
            </a:extLst>
          </p:cNvPr>
          <p:cNvSpPr>
            <a:spLocks noGrp="1"/>
          </p:cNvSpPr>
          <p:nvPr>
            <p:ph type="dt" sz="half" idx="10"/>
          </p:nvPr>
        </p:nvSpPr>
        <p:spPr/>
        <p:txBody>
          <a:bodyPr/>
          <a:lstStyle/>
          <a:p>
            <a:fld id="{F39CC654-826B-C544-B4DF-A996ACA1DD1D}" type="datetimeFigureOut">
              <a:rPr lang="en-US" smtClean="0"/>
              <a:t>11/24/2025</a:t>
            </a:fld>
            <a:endParaRPr lang="en-US"/>
          </a:p>
        </p:txBody>
      </p:sp>
      <p:sp>
        <p:nvSpPr>
          <p:cNvPr id="6" name="Footer Placeholder 5">
            <a:extLst>
              <a:ext uri="{FF2B5EF4-FFF2-40B4-BE49-F238E27FC236}">
                <a16:creationId xmlns:a16="http://schemas.microsoft.com/office/drawing/2014/main" xmlns="" id="{883EA11F-F22C-269B-2854-9CA74CB904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7D5021DE-333C-3B41-3C70-FB99E6AE9A82}"/>
              </a:ext>
            </a:extLst>
          </p:cNvPr>
          <p:cNvSpPr>
            <a:spLocks noGrp="1"/>
          </p:cNvSpPr>
          <p:nvPr>
            <p:ph type="sldNum" sz="quarter" idx="12"/>
          </p:nvPr>
        </p:nvSpPr>
        <p:spPr/>
        <p:txBody>
          <a:bodyPr/>
          <a:lstStyle/>
          <a:p>
            <a:fld id="{C2849A47-8CF0-514D-ACF3-96F19B9A1AF9}" type="slidenum">
              <a:rPr lang="en-US" smtClean="0"/>
              <a:t>‹#›</a:t>
            </a:fld>
            <a:endParaRPr lang="en-US"/>
          </a:p>
        </p:txBody>
      </p:sp>
    </p:spTree>
    <p:extLst>
      <p:ext uri="{BB962C8B-B14F-4D97-AF65-F5344CB8AC3E}">
        <p14:creationId xmlns:p14="http://schemas.microsoft.com/office/powerpoint/2010/main" val="1363577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B6D1B9-E509-0790-4022-4A9448F55CD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xmlns="" id="{8F2A17F8-E700-5930-C55D-0BCCAAE5F8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5017E3E9-78A9-2D75-45F1-9F480C650A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115F442A-1BEB-77FB-3B58-15EF0549CF13}"/>
              </a:ext>
            </a:extLst>
          </p:cNvPr>
          <p:cNvSpPr>
            <a:spLocks noGrp="1"/>
          </p:cNvSpPr>
          <p:nvPr>
            <p:ph type="dt" sz="half" idx="10"/>
          </p:nvPr>
        </p:nvSpPr>
        <p:spPr/>
        <p:txBody>
          <a:bodyPr/>
          <a:lstStyle/>
          <a:p>
            <a:fld id="{F39CC654-826B-C544-B4DF-A996ACA1DD1D}" type="datetimeFigureOut">
              <a:rPr lang="en-US" smtClean="0"/>
              <a:t>11/24/2025</a:t>
            </a:fld>
            <a:endParaRPr lang="en-US"/>
          </a:p>
        </p:txBody>
      </p:sp>
      <p:sp>
        <p:nvSpPr>
          <p:cNvPr id="6" name="Footer Placeholder 5">
            <a:extLst>
              <a:ext uri="{FF2B5EF4-FFF2-40B4-BE49-F238E27FC236}">
                <a16:creationId xmlns:a16="http://schemas.microsoft.com/office/drawing/2014/main" xmlns="" id="{2007AED8-8BA8-1C46-EF5F-C06AEA1138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FAAB3EDC-685B-A747-3F87-4528E5BC8308}"/>
              </a:ext>
            </a:extLst>
          </p:cNvPr>
          <p:cNvSpPr>
            <a:spLocks noGrp="1"/>
          </p:cNvSpPr>
          <p:nvPr>
            <p:ph type="sldNum" sz="quarter" idx="12"/>
          </p:nvPr>
        </p:nvSpPr>
        <p:spPr/>
        <p:txBody>
          <a:bodyPr/>
          <a:lstStyle/>
          <a:p>
            <a:fld id="{C2849A47-8CF0-514D-ACF3-96F19B9A1AF9}" type="slidenum">
              <a:rPr lang="en-US" smtClean="0"/>
              <a:t>‹#›</a:t>
            </a:fld>
            <a:endParaRPr lang="en-US"/>
          </a:p>
        </p:txBody>
      </p:sp>
    </p:spTree>
    <p:extLst>
      <p:ext uri="{BB962C8B-B14F-4D97-AF65-F5344CB8AC3E}">
        <p14:creationId xmlns:p14="http://schemas.microsoft.com/office/powerpoint/2010/main" val="388453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C5F7AB-2193-ED71-C910-C6EA8FAC6F9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xmlns="" id="{4A9952EB-C773-E302-EEC7-93BFAA90A41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C6463443-8336-AEAC-863F-C62CF73C07FA}"/>
              </a:ext>
            </a:extLst>
          </p:cNvPr>
          <p:cNvSpPr>
            <a:spLocks noGrp="1"/>
          </p:cNvSpPr>
          <p:nvPr>
            <p:ph type="dt" sz="half" idx="10"/>
          </p:nvPr>
        </p:nvSpPr>
        <p:spPr/>
        <p:txBody>
          <a:bodyPr/>
          <a:lstStyle/>
          <a:p>
            <a:fld id="{F39CC654-826B-C544-B4DF-A996ACA1DD1D}" type="datetimeFigureOut">
              <a:rPr lang="en-US" smtClean="0"/>
              <a:t>11/24/2025</a:t>
            </a:fld>
            <a:endParaRPr lang="en-US"/>
          </a:p>
        </p:txBody>
      </p:sp>
      <p:sp>
        <p:nvSpPr>
          <p:cNvPr id="5" name="Footer Placeholder 4">
            <a:extLst>
              <a:ext uri="{FF2B5EF4-FFF2-40B4-BE49-F238E27FC236}">
                <a16:creationId xmlns:a16="http://schemas.microsoft.com/office/drawing/2014/main" xmlns="" id="{C29B661A-1A8A-983A-AB4A-D19ADC6566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C7BA3B89-2116-BDB4-F53F-E723E4BFEE89}"/>
              </a:ext>
            </a:extLst>
          </p:cNvPr>
          <p:cNvSpPr>
            <a:spLocks noGrp="1"/>
          </p:cNvSpPr>
          <p:nvPr>
            <p:ph type="sldNum" sz="quarter" idx="12"/>
          </p:nvPr>
        </p:nvSpPr>
        <p:spPr/>
        <p:txBody>
          <a:bodyPr/>
          <a:lstStyle/>
          <a:p>
            <a:fld id="{C2849A47-8CF0-514D-ACF3-96F19B9A1AF9}" type="slidenum">
              <a:rPr lang="en-US" smtClean="0"/>
              <a:t>‹#›</a:t>
            </a:fld>
            <a:endParaRPr lang="en-US"/>
          </a:p>
        </p:txBody>
      </p:sp>
    </p:spTree>
    <p:extLst>
      <p:ext uri="{BB962C8B-B14F-4D97-AF65-F5344CB8AC3E}">
        <p14:creationId xmlns:p14="http://schemas.microsoft.com/office/powerpoint/2010/main" val="3554488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8C860364-DEE4-063D-EEA9-54E0263FFC6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xmlns="" id="{1C45F267-31D7-2D27-7429-5B4F88917B6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3D9A7C0A-A64A-14B5-0A5B-CAA85C84A7A0}"/>
              </a:ext>
            </a:extLst>
          </p:cNvPr>
          <p:cNvSpPr>
            <a:spLocks noGrp="1"/>
          </p:cNvSpPr>
          <p:nvPr>
            <p:ph type="dt" sz="half" idx="10"/>
          </p:nvPr>
        </p:nvSpPr>
        <p:spPr/>
        <p:txBody>
          <a:bodyPr/>
          <a:lstStyle/>
          <a:p>
            <a:fld id="{F39CC654-826B-C544-B4DF-A996ACA1DD1D}" type="datetimeFigureOut">
              <a:rPr lang="en-US" smtClean="0"/>
              <a:t>11/24/2025</a:t>
            </a:fld>
            <a:endParaRPr lang="en-US"/>
          </a:p>
        </p:txBody>
      </p:sp>
      <p:sp>
        <p:nvSpPr>
          <p:cNvPr id="5" name="Footer Placeholder 4">
            <a:extLst>
              <a:ext uri="{FF2B5EF4-FFF2-40B4-BE49-F238E27FC236}">
                <a16:creationId xmlns:a16="http://schemas.microsoft.com/office/drawing/2014/main" xmlns="" id="{C3F5B89C-6053-60A5-71FC-3EF2747711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E55061B-F558-E3E5-3A7C-99BBD74918C9}"/>
              </a:ext>
            </a:extLst>
          </p:cNvPr>
          <p:cNvSpPr>
            <a:spLocks noGrp="1"/>
          </p:cNvSpPr>
          <p:nvPr>
            <p:ph type="sldNum" sz="quarter" idx="12"/>
          </p:nvPr>
        </p:nvSpPr>
        <p:spPr/>
        <p:txBody>
          <a:bodyPr/>
          <a:lstStyle/>
          <a:p>
            <a:fld id="{C2849A47-8CF0-514D-ACF3-96F19B9A1AF9}" type="slidenum">
              <a:rPr lang="en-US" smtClean="0"/>
              <a:t>‹#›</a:t>
            </a:fld>
            <a:endParaRPr lang="en-US"/>
          </a:p>
        </p:txBody>
      </p:sp>
    </p:spTree>
    <p:extLst>
      <p:ext uri="{BB962C8B-B14F-4D97-AF65-F5344CB8AC3E}">
        <p14:creationId xmlns:p14="http://schemas.microsoft.com/office/powerpoint/2010/main" val="1615060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0"/>
            <a:ext cx="53848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7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24300"/>
            <a:ext cx="5384800" cy="217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4">
            <a:extLst>
              <a:ext uri="{FF2B5EF4-FFF2-40B4-BE49-F238E27FC236}">
                <a16:creationId xmlns:a16="http://schemas.microsoft.com/office/drawing/2014/main" xmlns="" id="{CE608329-973D-94A4-9CD5-D8CE0A36CA47}"/>
              </a:ext>
            </a:extLst>
          </p:cNvPr>
          <p:cNvSpPr>
            <a:spLocks noGrp="1" noChangeArrowheads="1"/>
          </p:cNvSpPr>
          <p:nvPr>
            <p:ph type="dt" sz="half" idx="10"/>
          </p:nvPr>
        </p:nvSpPr>
        <p:spPr/>
        <p:txBody>
          <a:bodyPr/>
          <a:lstStyle>
            <a:lvl1pPr>
              <a:defRPr/>
            </a:lvl1pPr>
          </a:lstStyle>
          <a:p>
            <a:pPr>
              <a:defRPr/>
            </a:pPr>
            <a:endParaRPr lang="en-IN" altLang="en-US"/>
          </a:p>
        </p:txBody>
      </p:sp>
      <p:sp>
        <p:nvSpPr>
          <p:cNvPr id="7" name="Rectangle 25">
            <a:extLst>
              <a:ext uri="{FF2B5EF4-FFF2-40B4-BE49-F238E27FC236}">
                <a16:creationId xmlns:a16="http://schemas.microsoft.com/office/drawing/2014/main" xmlns="" id="{E9B30819-15AE-A245-808D-00D3585EE2C0}"/>
              </a:ext>
            </a:extLst>
          </p:cNvPr>
          <p:cNvSpPr>
            <a:spLocks noGrp="1" noChangeArrowheads="1"/>
          </p:cNvSpPr>
          <p:nvPr>
            <p:ph type="ftr" sz="quarter" idx="11"/>
          </p:nvPr>
        </p:nvSpPr>
        <p:spPr/>
        <p:txBody>
          <a:bodyPr/>
          <a:lstStyle>
            <a:lvl1pPr>
              <a:defRPr/>
            </a:lvl1pPr>
          </a:lstStyle>
          <a:p>
            <a:pPr>
              <a:defRPr/>
            </a:pPr>
            <a:endParaRPr lang="en-IN" altLang="en-US"/>
          </a:p>
        </p:txBody>
      </p:sp>
      <p:sp>
        <p:nvSpPr>
          <p:cNvPr id="8" name="Rectangle 26">
            <a:extLst>
              <a:ext uri="{FF2B5EF4-FFF2-40B4-BE49-F238E27FC236}">
                <a16:creationId xmlns:a16="http://schemas.microsoft.com/office/drawing/2014/main" xmlns="" id="{911C36F9-74A8-146D-3F86-5036BD7319F7}"/>
              </a:ext>
            </a:extLst>
          </p:cNvPr>
          <p:cNvSpPr>
            <a:spLocks noGrp="1" noChangeArrowheads="1"/>
          </p:cNvSpPr>
          <p:nvPr>
            <p:ph type="sldNum" sz="quarter" idx="12"/>
          </p:nvPr>
        </p:nvSpPr>
        <p:spPr/>
        <p:txBody>
          <a:bodyPr/>
          <a:lstStyle>
            <a:lvl1pPr>
              <a:defRPr/>
            </a:lvl1pPr>
          </a:lstStyle>
          <a:p>
            <a:pPr>
              <a:defRPr/>
            </a:pPr>
            <a:fld id="{18A316D0-C27F-0947-8508-2AF3AF3108DB}" type="slidenum">
              <a:rPr lang="en-IN" altLang="en-US"/>
              <a:pPr>
                <a:defRPr/>
              </a:pPr>
              <a:t>‹#›</a:t>
            </a:fld>
            <a:endParaRPr lang="en-IN" altLang="en-US"/>
          </a:p>
        </p:txBody>
      </p:sp>
    </p:spTree>
    <p:extLst>
      <p:ext uri="{BB962C8B-B14F-4D97-AF65-F5344CB8AC3E}">
        <p14:creationId xmlns:p14="http://schemas.microsoft.com/office/powerpoint/2010/main" val="25446034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600200"/>
            <a:ext cx="53848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7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24300"/>
            <a:ext cx="5384800" cy="217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4">
            <a:extLst>
              <a:ext uri="{FF2B5EF4-FFF2-40B4-BE49-F238E27FC236}">
                <a16:creationId xmlns:a16="http://schemas.microsoft.com/office/drawing/2014/main" xmlns="" id="{EAD332C6-5AD0-E787-E352-59A44017806F}"/>
              </a:ext>
            </a:extLst>
          </p:cNvPr>
          <p:cNvSpPr>
            <a:spLocks noGrp="1" noChangeArrowheads="1"/>
          </p:cNvSpPr>
          <p:nvPr>
            <p:ph type="dt" sz="half" idx="10"/>
          </p:nvPr>
        </p:nvSpPr>
        <p:spPr/>
        <p:txBody>
          <a:bodyPr/>
          <a:lstStyle>
            <a:lvl1pPr>
              <a:defRPr/>
            </a:lvl1pPr>
          </a:lstStyle>
          <a:p>
            <a:pPr>
              <a:defRPr/>
            </a:pPr>
            <a:endParaRPr lang="en-IN" altLang="en-US"/>
          </a:p>
        </p:txBody>
      </p:sp>
      <p:sp>
        <p:nvSpPr>
          <p:cNvPr id="7" name="Rectangle 25">
            <a:extLst>
              <a:ext uri="{FF2B5EF4-FFF2-40B4-BE49-F238E27FC236}">
                <a16:creationId xmlns:a16="http://schemas.microsoft.com/office/drawing/2014/main" xmlns="" id="{440CE8AB-006C-BEBD-F44E-9806D97E4746}"/>
              </a:ext>
            </a:extLst>
          </p:cNvPr>
          <p:cNvSpPr>
            <a:spLocks noGrp="1" noChangeArrowheads="1"/>
          </p:cNvSpPr>
          <p:nvPr>
            <p:ph type="ftr" sz="quarter" idx="11"/>
          </p:nvPr>
        </p:nvSpPr>
        <p:spPr/>
        <p:txBody>
          <a:bodyPr/>
          <a:lstStyle>
            <a:lvl1pPr>
              <a:defRPr/>
            </a:lvl1pPr>
          </a:lstStyle>
          <a:p>
            <a:pPr>
              <a:defRPr/>
            </a:pPr>
            <a:endParaRPr lang="en-IN" altLang="en-US"/>
          </a:p>
        </p:txBody>
      </p:sp>
      <p:sp>
        <p:nvSpPr>
          <p:cNvPr id="8" name="Rectangle 26">
            <a:extLst>
              <a:ext uri="{FF2B5EF4-FFF2-40B4-BE49-F238E27FC236}">
                <a16:creationId xmlns:a16="http://schemas.microsoft.com/office/drawing/2014/main" xmlns="" id="{2C6DAB0D-B052-12D4-3583-EC2429FE6DF4}"/>
              </a:ext>
            </a:extLst>
          </p:cNvPr>
          <p:cNvSpPr>
            <a:spLocks noGrp="1" noChangeArrowheads="1"/>
          </p:cNvSpPr>
          <p:nvPr>
            <p:ph type="sldNum" sz="quarter" idx="12"/>
          </p:nvPr>
        </p:nvSpPr>
        <p:spPr/>
        <p:txBody>
          <a:bodyPr/>
          <a:lstStyle>
            <a:lvl1pPr>
              <a:defRPr/>
            </a:lvl1pPr>
          </a:lstStyle>
          <a:p>
            <a:pPr>
              <a:defRPr/>
            </a:pPr>
            <a:fld id="{0AAD4122-7A60-5F42-980E-7A07728FADCB}" type="slidenum">
              <a:rPr lang="en-IN" altLang="en-US"/>
              <a:pPr>
                <a:defRPr/>
              </a:pPr>
              <a:t>‹#›</a:t>
            </a:fld>
            <a:endParaRPr lang="en-IN" altLang="en-US"/>
          </a:p>
        </p:txBody>
      </p:sp>
    </p:spTree>
    <p:extLst>
      <p:ext uri="{BB962C8B-B14F-4D97-AF65-F5344CB8AC3E}">
        <p14:creationId xmlns:p14="http://schemas.microsoft.com/office/powerpoint/2010/main" val="1383674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44A853-107F-C454-52CE-F29A56DE7294}"/>
              </a:ext>
            </a:extLst>
          </p:cNvPr>
          <p:cNvSpPr>
            <a:spLocks noGrp="1"/>
          </p:cNvSpPr>
          <p:nvPr>
            <p:ph type="title"/>
          </p:nvPr>
        </p:nvSpPr>
        <p:spPr>
          <a:xfrm>
            <a:off x="609600" y="274638"/>
            <a:ext cx="10972800" cy="1143000"/>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31B968AE-7E0E-26C3-7612-E9280403734F}"/>
              </a:ext>
            </a:extLst>
          </p:cNvPr>
          <p:cNvSpPr>
            <a:spLocks noGrp="1"/>
          </p:cNvSpPr>
          <p:nvPr>
            <p:ph type="body" sz="half" idx="1"/>
          </p:nvPr>
        </p:nvSpPr>
        <p:spPr>
          <a:xfrm>
            <a:off x="609600" y="1600201"/>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xmlns="" id="{314E3334-C4BB-495B-1354-322275A33ADA}"/>
              </a:ext>
            </a:extLst>
          </p:cNvPr>
          <p:cNvSpPr>
            <a:spLocks noGrp="1"/>
          </p:cNvSpPr>
          <p:nvPr>
            <p:ph sz="half" idx="2"/>
          </p:nvPr>
        </p:nvSpPr>
        <p:spPr>
          <a:xfrm>
            <a:off x="6197600" y="1600201"/>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xmlns="" id="{E33D0285-EAD0-A054-99EF-8698FE0528EA}"/>
              </a:ext>
            </a:extLst>
          </p:cNvPr>
          <p:cNvSpPr>
            <a:spLocks noGrp="1"/>
          </p:cNvSpPr>
          <p:nvPr>
            <p:ph type="dt" sz="half" idx="10"/>
          </p:nvPr>
        </p:nvSpPr>
        <p:spPr>
          <a:xfrm>
            <a:off x="609600" y="6245225"/>
            <a:ext cx="2844800" cy="476250"/>
          </a:xfrm>
        </p:spPr>
        <p:txBody>
          <a:bodyPr/>
          <a:lstStyle>
            <a:lvl1pPr>
              <a:defRPr/>
            </a:lvl1pPr>
          </a:lstStyle>
          <a:p>
            <a:endParaRPr lang="en-IN" altLang="en-US"/>
          </a:p>
        </p:txBody>
      </p:sp>
      <p:sp>
        <p:nvSpPr>
          <p:cNvPr id="6" name="Footer Placeholder 5">
            <a:extLst>
              <a:ext uri="{FF2B5EF4-FFF2-40B4-BE49-F238E27FC236}">
                <a16:creationId xmlns:a16="http://schemas.microsoft.com/office/drawing/2014/main" xmlns="" id="{405CEE74-37C1-32C6-2610-639DA5B9F98D}"/>
              </a:ext>
            </a:extLst>
          </p:cNvPr>
          <p:cNvSpPr>
            <a:spLocks noGrp="1"/>
          </p:cNvSpPr>
          <p:nvPr>
            <p:ph type="ftr" sz="quarter" idx="11"/>
          </p:nvPr>
        </p:nvSpPr>
        <p:spPr>
          <a:xfrm>
            <a:off x="4165600" y="6245225"/>
            <a:ext cx="3860800" cy="476250"/>
          </a:xfrm>
        </p:spPr>
        <p:txBody>
          <a:bodyPr/>
          <a:lstStyle>
            <a:lvl1pPr>
              <a:defRPr/>
            </a:lvl1pPr>
          </a:lstStyle>
          <a:p>
            <a:endParaRPr lang="en-IN" altLang="en-US"/>
          </a:p>
        </p:txBody>
      </p:sp>
      <p:sp>
        <p:nvSpPr>
          <p:cNvPr id="7" name="Slide Number Placeholder 6">
            <a:extLst>
              <a:ext uri="{FF2B5EF4-FFF2-40B4-BE49-F238E27FC236}">
                <a16:creationId xmlns:a16="http://schemas.microsoft.com/office/drawing/2014/main" xmlns="" id="{DB7A6366-7E39-3ED0-808A-A1BAE53BA8CC}"/>
              </a:ext>
            </a:extLst>
          </p:cNvPr>
          <p:cNvSpPr>
            <a:spLocks noGrp="1"/>
          </p:cNvSpPr>
          <p:nvPr>
            <p:ph type="sldNum" sz="quarter" idx="12"/>
          </p:nvPr>
        </p:nvSpPr>
        <p:spPr>
          <a:xfrm>
            <a:off x="8737600" y="6245225"/>
            <a:ext cx="2844800" cy="476250"/>
          </a:xfrm>
        </p:spPr>
        <p:txBody>
          <a:bodyPr/>
          <a:lstStyle>
            <a:lvl1pPr>
              <a:defRPr/>
            </a:lvl1pPr>
          </a:lstStyle>
          <a:p>
            <a:fld id="{A1E2AE90-E818-A441-904D-3EE90C18A47F}" type="slidenum">
              <a:rPr lang="en-IN" altLang="en-US"/>
              <a:pPr/>
              <a:t>‹#›</a:t>
            </a:fld>
            <a:endParaRPr lang="en-IN" altLang="en-US"/>
          </a:p>
        </p:txBody>
      </p:sp>
    </p:spTree>
    <p:extLst>
      <p:ext uri="{BB962C8B-B14F-4D97-AF65-F5344CB8AC3E}">
        <p14:creationId xmlns:p14="http://schemas.microsoft.com/office/powerpoint/2010/main" val="2677384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70">
          <a:fgClr>
            <a:schemeClr val="tx2"/>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B2B0354-E8D8-0DE3-AE47-846B03FA02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88B6E565-0A31-CF82-BAEE-FEFBECD351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99DEE345-40AE-3875-6BE8-8CBE8CE611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9CC654-826B-C544-B4DF-A996ACA1DD1D}" type="datetimeFigureOut">
              <a:rPr lang="en-US" smtClean="0"/>
              <a:t>11/24/2025</a:t>
            </a:fld>
            <a:endParaRPr lang="en-US"/>
          </a:p>
        </p:txBody>
      </p:sp>
      <p:sp>
        <p:nvSpPr>
          <p:cNvPr id="5" name="Footer Placeholder 4">
            <a:extLst>
              <a:ext uri="{FF2B5EF4-FFF2-40B4-BE49-F238E27FC236}">
                <a16:creationId xmlns:a16="http://schemas.microsoft.com/office/drawing/2014/main" xmlns="" id="{97D769E7-CD84-BF88-B2F8-FFBB94A476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xmlns="" id="{DFC20182-1FA5-FC1F-797B-1CBA2FA9D6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849A47-8CF0-514D-ACF3-96F19B9A1AF9}" type="slidenum">
              <a:rPr lang="en-US" smtClean="0"/>
              <a:t>‹#›</a:t>
            </a:fld>
            <a:endParaRPr lang="en-US"/>
          </a:p>
        </p:txBody>
      </p:sp>
    </p:spTree>
    <p:extLst>
      <p:ext uri="{BB962C8B-B14F-4D97-AF65-F5344CB8AC3E}">
        <p14:creationId xmlns:p14="http://schemas.microsoft.com/office/powerpoint/2010/main" val="11949447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6.emf"/><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image" Target="../media/image3.e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5.emf"/><Relationship Id="rId4" Type="http://schemas.openxmlformats.org/officeDocument/2006/relationships/image" Target="../media/image2.emf"/><Relationship Id="rId9"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image" Target="../media/image9.emf"/><Relationship Id="rId5" Type="http://schemas.openxmlformats.org/officeDocument/2006/relationships/oleObject" Target="../embeddings/oleObject8.bin"/><Relationship Id="rId10" Type="http://schemas.openxmlformats.org/officeDocument/2006/relationships/image" Target="../media/image11.emf"/><Relationship Id="rId4" Type="http://schemas.openxmlformats.org/officeDocument/2006/relationships/image" Target="../media/image8.emf"/><Relationship Id="rId9" Type="http://schemas.openxmlformats.org/officeDocument/2006/relationships/oleObject" Target="../embeddings/oleObject10.bin"/></Relationships>
</file>

<file path=ppt/slides/_rels/slide10.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13.xml"/><Relationship Id="rId1" Type="http://schemas.openxmlformats.org/officeDocument/2006/relationships/vmlDrawing" Target="../drawings/vmlDrawing4.vml"/><Relationship Id="rId6" Type="http://schemas.openxmlformats.org/officeDocument/2006/relationships/image" Target="../media/image13.emf"/><Relationship Id="rId5" Type="http://schemas.openxmlformats.org/officeDocument/2006/relationships/oleObject" Target="../embeddings/oleObject12.bin"/><Relationship Id="rId4" Type="http://schemas.openxmlformats.org/officeDocument/2006/relationships/image" Target="../media/image12.emf"/><Relationship Id="rId9"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microsoft.com/office/2007/relationships/hdphoto" Target="../media/hdphoto2.wdp"/></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3054D95A-8D5B-A225-761D-76132A5BF16E}"/>
              </a:ext>
            </a:extLst>
          </p:cNvPr>
          <p:cNvSpPr txBox="1"/>
          <p:nvPr/>
        </p:nvSpPr>
        <p:spPr>
          <a:xfrm>
            <a:off x="89582" y="2648229"/>
            <a:ext cx="12012829" cy="4098558"/>
          </a:xfrm>
          <a:prstGeom prst="rect">
            <a:avLst/>
          </a:prstGeom>
          <a:solidFill>
            <a:schemeClr val="bg1"/>
          </a:solidFill>
          <a:ln w="28575">
            <a:solidFill>
              <a:schemeClr val="tx2"/>
            </a:solidFill>
          </a:ln>
        </p:spPr>
        <p:txBody>
          <a:bodyPr wrap="square">
            <a:spAutoFit/>
          </a:bodyPr>
          <a:lstStyle/>
          <a:p>
            <a:pPr algn="ctr"/>
            <a:r>
              <a:rPr lang="en-US" sz="2800" b="1"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Syllabus </a:t>
            </a:r>
          </a:p>
          <a:p>
            <a:pPr algn="just"/>
            <a:r>
              <a:rPr lang="en-US" sz="28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Introduction, de-Broglie hypothesis, Heisenberg uncertainty principle, physical significance of wave function, postulates of quantum mechanics: operators in quantum mechanics, eigen values and eigen functions, expectation value; Schrödinger’s time independent wave equation, particle in a 1D box, Bloch’s theorem (qualitative), </a:t>
            </a:r>
            <a:r>
              <a:rPr lang="en-US" sz="2800" dirty="0" err="1"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Kronig</a:t>
            </a:r>
            <a:r>
              <a:rPr lang="en-US" sz="2800" dirty="0"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Penney model (qualitative): E-k diagram, effective mass of electron, formation of energy bands, origin of bandgap, classification of solids, concept of discrete energy levels and quantum confinement in nanomaterials.</a:t>
            </a:r>
            <a:endParaRPr lang="en-IN" sz="28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xmlns="" id="{4BFB86B3-A64B-DA6E-B51B-19A4CE372C23}"/>
              </a:ext>
            </a:extLst>
          </p:cNvPr>
          <p:cNvSpPr txBox="1"/>
          <p:nvPr/>
        </p:nvSpPr>
        <p:spPr>
          <a:xfrm>
            <a:off x="1940444" y="1016193"/>
            <a:ext cx="8311107" cy="1569660"/>
          </a:xfrm>
          <a:prstGeom prst="rect">
            <a:avLst/>
          </a:prstGeom>
          <a:solidFill>
            <a:schemeClr val="bg1"/>
          </a:solidFill>
          <a:ln w="28575">
            <a:solidFill>
              <a:srgbClr val="002060"/>
            </a:solidFill>
          </a:ln>
        </p:spPr>
        <p:txBody>
          <a:bodyPr wrap="square">
            <a:spAutoFit/>
          </a:bodyPr>
          <a:lstStyle/>
          <a:p>
            <a:pPr algn="ctr"/>
            <a:r>
              <a:rPr lang="en-US" sz="4400" b="1"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smtClean="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UNIT-IV </a:t>
            </a:r>
            <a:endParaRPr lang="en-US" sz="48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endParaRPr>
          </a:p>
          <a:p>
            <a:pPr algn="ctr"/>
            <a:r>
              <a:rPr lang="en-US" sz="48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    Quantum Mechanics</a:t>
            </a:r>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4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37E8AC28-2E07-803C-4D1A-B7BD7507E86A}"/>
              </a:ext>
            </a:extLst>
          </p:cNvPr>
          <p:cNvSpPr txBox="1"/>
          <p:nvPr/>
        </p:nvSpPr>
        <p:spPr>
          <a:xfrm>
            <a:off x="89584" y="107940"/>
            <a:ext cx="11833654" cy="830997"/>
          </a:xfrm>
          <a:prstGeom prst="rect">
            <a:avLst/>
          </a:prstGeom>
          <a:solidFill>
            <a:schemeClr val="bg1"/>
          </a:solidFill>
          <a:ln w="38100">
            <a:solidFill>
              <a:schemeClr val="tx2"/>
            </a:solidFill>
          </a:ln>
        </p:spPr>
        <p:txBody>
          <a:bodyPr wrap="square" rtlCol="0">
            <a:spAutoFit/>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ADVANCED ENGINEERING PHYSICS</a:t>
            </a:r>
          </a:p>
        </p:txBody>
      </p:sp>
    </p:spTree>
    <p:extLst>
      <p:ext uri="{BB962C8B-B14F-4D97-AF65-F5344CB8AC3E}">
        <p14:creationId xmlns:p14="http://schemas.microsoft.com/office/powerpoint/2010/main" val="26423059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371FAA56-594E-9812-7F4A-4F7B0402AF28}"/>
              </a:ext>
            </a:extLst>
          </p:cNvPr>
          <p:cNvSpPr txBox="1"/>
          <p:nvPr/>
        </p:nvSpPr>
        <p:spPr>
          <a:xfrm>
            <a:off x="107089" y="129348"/>
            <a:ext cx="11977815" cy="892552"/>
          </a:xfrm>
          <a:prstGeom prst="rect">
            <a:avLst/>
          </a:prstGeom>
          <a:solidFill>
            <a:schemeClr val="bg1"/>
          </a:solidFill>
          <a:ln w="28575">
            <a:solidFill>
              <a:srgbClr val="002060"/>
            </a:solidFill>
          </a:ln>
        </p:spPr>
        <p:txBody>
          <a:bodyPr wrap="square">
            <a:spAutoFit/>
          </a:bodyPr>
          <a:lstStyle/>
          <a:p>
            <a:pPr algn="just"/>
            <a:r>
              <a:rPr lang="en-IN" sz="2600" b="1" i="0" u="none" strike="noStrike" dirty="0">
                <a:solidFill>
                  <a:srgbClr val="002060"/>
                </a:solidFill>
                <a:effectLst/>
                <a:latin typeface="Times New Roman" panose="02020603050405020304" pitchFamily="18" charset="0"/>
                <a:cs typeface="Times New Roman" panose="02020603050405020304" pitchFamily="18" charset="0"/>
              </a:rPr>
              <a:t>Quantum Mechanics</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 is a fundamental branch of physics that describes the behavior of matter and energy at very small scales, such as atoms, subatomic particles, and photons. </a:t>
            </a:r>
            <a:endParaRPr lang="en-US" sz="2600" dirty="0">
              <a:solidFill>
                <a:srgbClr val="00206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FD0CDDEA-1520-972D-3362-685746156CF1}"/>
              </a:ext>
            </a:extLst>
          </p:cNvPr>
          <p:cNvSpPr txBox="1"/>
          <p:nvPr/>
        </p:nvSpPr>
        <p:spPr>
          <a:xfrm>
            <a:off x="107088" y="1099834"/>
            <a:ext cx="11977815" cy="1692771"/>
          </a:xfrm>
          <a:prstGeom prst="rect">
            <a:avLst/>
          </a:prstGeom>
          <a:solidFill>
            <a:schemeClr val="bg1"/>
          </a:solidFill>
          <a:ln w="28575">
            <a:solidFill>
              <a:srgbClr val="002060"/>
            </a:solidFill>
          </a:ln>
        </p:spPr>
        <p:txBody>
          <a:bodyPr wrap="square">
            <a:spAutoFit/>
          </a:bodyPr>
          <a:lstStyle/>
          <a:p>
            <a:pPr algn="ctr"/>
            <a:r>
              <a:rPr lang="en-IN" sz="2600" b="1" dirty="0">
                <a:solidFill>
                  <a:srgbClr val="C00000"/>
                </a:solidFill>
                <a:latin typeface="Times New Roman" panose="02020603050405020304" pitchFamily="18" charset="0"/>
                <a:cs typeface="Times New Roman" panose="02020603050405020304" pitchFamily="18" charset="0"/>
              </a:rPr>
              <a:t>de-Broglie Hypothesis </a:t>
            </a:r>
          </a:p>
          <a:p>
            <a:r>
              <a:rPr lang="en-IN" sz="2600" dirty="0">
                <a:solidFill>
                  <a:srgbClr val="002060"/>
                </a:solidFill>
                <a:latin typeface="Times New Roman" panose="02020603050405020304" pitchFamily="18" charset="0"/>
                <a:cs typeface="Times New Roman" panose="02020603050405020304" pitchFamily="18" charset="0"/>
              </a:rPr>
              <a:t>In 1924, </a:t>
            </a:r>
            <a:r>
              <a:rPr lang="en-IN" sz="2600" b="1" dirty="0">
                <a:solidFill>
                  <a:srgbClr val="002060"/>
                </a:solidFill>
                <a:latin typeface="Times New Roman" panose="02020603050405020304" pitchFamily="18" charset="0"/>
                <a:cs typeface="Times New Roman" panose="02020603050405020304" pitchFamily="18" charset="0"/>
              </a:rPr>
              <a:t>Louis de Broglie</a:t>
            </a:r>
            <a:r>
              <a:rPr lang="en-IN" sz="2600" dirty="0">
                <a:solidFill>
                  <a:srgbClr val="002060"/>
                </a:solidFill>
                <a:latin typeface="Times New Roman" panose="02020603050405020304" pitchFamily="18" charset="0"/>
                <a:cs typeface="Times New Roman" panose="02020603050405020304" pitchFamily="18" charset="0"/>
              </a:rPr>
              <a:t> proposed that matter, just like light, exhibits both </a:t>
            </a:r>
            <a:r>
              <a:rPr lang="en-IN" sz="2600" b="1" dirty="0">
                <a:solidFill>
                  <a:srgbClr val="002060"/>
                </a:solidFill>
                <a:latin typeface="Times New Roman" panose="02020603050405020304" pitchFamily="18" charset="0"/>
                <a:cs typeface="Times New Roman" panose="02020603050405020304" pitchFamily="18" charset="0"/>
              </a:rPr>
              <a:t>particle</a:t>
            </a:r>
            <a:r>
              <a:rPr lang="en-IN" sz="2600" dirty="0">
                <a:solidFill>
                  <a:srgbClr val="002060"/>
                </a:solidFill>
                <a:latin typeface="Times New Roman" panose="02020603050405020304" pitchFamily="18" charset="0"/>
                <a:cs typeface="Times New Roman" panose="02020603050405020304" pitchFamily="18" charset="0"/>
              </a:rPr>
              <a:t> and </a:t>
            </a:r>
            <a:r>
              <a:rPr lang="en-IN" sz="2600" b="1" dirty="0">
                <a:solidFill>
                  <a:srgbClr val="002060"/>
                </a:solidFill>
                <a:latin typeface="Times New Roman" panose="02020603050405020304" pitchFamily="18" charset="0"/>
                <a:cs typeface="Times New Roman" panose="02020603050405020304" pitchFamily="18" charset="0"/>
              </a:rPr>
              <a:t>wave</a:t>
            </a:r>
            <a:r>
              <a:rPr lang="en-IN" sz="2600" dirty="0">
                <a:solidFill>
                  <a:srgbClr val="002060"/>
                </a:solidFill>
                <a:latin typeface="Times New Roman" panose="02020603050405020304" pitchFamily="18" charset="0"/>
                <a:cs typeface="Times New Roman" panose="02020603050405020304" pitchFamily="18" charset="0"/>
              </a:rPr>
              <a:t> nature. This idea extended the concept of wave – particle duality from photons to all material particles. ​</a:t>
            </a:r>
          </a:p>
        </p:txBody>
      </p:sp>
      <p:sp>
        <p:nvSpPr>
          <p:cNvPr id="7" name="TextBox 6">
            <a:extLst>
              <a:ext uri="{FF2B5EF4-FFF2-40B4-BE49-F238E27FC236}">
                <a16:creationId xmlns:a16="http://schemas.microsoft.com/office/drawing/2014/main" xmlns="" id="{05376C0B-F1A2-F533-B3DF-33E5AD31189F}"/>
              </a:ext>
            </a:extLst>
          </p:cNvPr>
          <p:cNvSpPr txBox="1"/>
          <p:nvPr/>
        </p:nvSpPr>
        <p:spPr>
          <a:xfrm>
            <a:off x="107089" y="2865303"/>
            <a:ext cx="11977814" cy="2092881"/>
          </a:xfrm>
          <a:prstGeom prst="rect">
            <a:avLst/>
          </a:prstGeom>
          <a:solidFill>
            <a:schemeClr val="bg1"/>
          </a:solidFill>
          <a:ln w="28575">
            <a:solidFill>
              <a:srgbClr val="002060"/>
            </a:solidFill>
          </a:ln>
        </p:spPr>
        <p:txBody>
          <a:bodyPr wrap="square">
            <a:spAutoFit/>
          </a:bodyPr>
          <a:lstStyle/>
          <a:p>
            <a:r>
              <a:rPr lang="en-IN" sz="2600" dirty="0">
                <a:solidFill>
                  <a:srgbClr val="002060"/>
                </a:solidFill>
                <a:latin typeface="Times New Roman" panose="02020603050405020304" pitchFamily="18" charset="0"/>
                <a:cs typeface="Times New Roman" panose="02020603050405020304" pitchFamily="18" charset="0"/>
              </a:rPr>
              <a:t>According to de Broglie, every moving particle of mass m and velocity v is associated with a wavelength, called the de Broglie wavelength.</a:t>
            </a:r>
          </a:p>
          <a:p>
            <a:pPr algn="ctr"/>
            <a:r>
              <a:rPr lang="en-IN" sz="2600" dirty="0">
                <a:solidFill>
                  <a:srgbClr val="002060"/>
                </a:solidFill>
                <a:latin typeface="Times New Roman" panose="02020603050405020304" pitchFamily="18" charset="0"/>
                <a:cs typeface="Times New Roman" panose="02020603050405020304" pitchFamily="18" charset="0"/>
              </a:rPr>
              <a:t>As per Einstein, E = mc</a:t>
            </a:r>
            <a:r>
              <a:rPr lang="en-IN" sz="2600" baseline="30000" dirty="0">
                <a:solidFill>
                  <a:srgbClr val="002060"/>
                </a:solidFill>
                <a:latin typeface="Times New Roman" panose="02020603050405020304" pitchFamily="18" charset="0"/>
                <a:cs typeface="Times New Roman" panose="02020603050405020304" pitchFamily="18" charset="0"/>
              </a:rPr>
              <a:t>2</a:t>
            </a:r>
            <a:r>
              <a:rPr lang="en-IN" sz="2600" dirty="0">
                <a:solidFill>
                  <a:srgbClr val="002060"/>
                </a:solidFill>
                <a:latin typeface="Times New Roman" panose="02020603050405020304" pitchFamily="18" charset="0"/>
                <a:cs typeface="Times New Roman" panose="02020603050405020304" pitchFamily="18" charset="0"/>
              </a:rPr>
              <a:t>; &amp; As per Max Plank, E = h𝜐;</a:t>
            </a:r>
          </a:p>
          <a:p>
            <a:pPr algn="ctr"/>
            <a:r>
              <a:rPr lang="en-IN" sz="2600" dirty="0">
                <a:solidFill>
                  <a:srgbClr val="002060"/>
                </a:solidFill>
                <a:latin typeface="Times New Roman" panose="02020603050405020304" pitchFamily="18" charset="0"/>
                <a:cs typeface="Times New Roman" panose="02020603050405020304" pitchFamily="18" charset="0"/>
              </a:rPr>
              <a:t>mc</a:t>
            </a:r>
            <a:r>
              <a:rPr lang="en-IN" sz="2600" baseline="30000" dirty="0">
                <a:solidFill>
                  <a:srgbClr val="002060"/>
                </a:solidFill>
                <a:latin typeface="Times New Roman" panose="02020603050405020304" pitchFamily="18" charset="0"/>
                <a:cs typeface="Times New Roman" panose="02020603050405020304" pitchFamily="18" charset="0"/>
              </a:rPr>
              <a:t>2</a:t>
            </a:r>
            <a:r>
              <a:rPr lang="en-IN" sz="2600" dirty="0">
                <a:solidFill>
                  <a:srgbClr val="002060"/>
                </a:solidFill>
                <a:latin typeface="Times New Roman" panose="02020603050405020304" pitchFamily="18" charset="0"/>
                <a:cs typeface="Times New Roman" panose="02020603050405020304" pitchFamily="18" charset="0"/>
              </a:rPr>
              <a:t> = h𝜐 ⟶  mc</a:t>
            </a:r>
            <a:r>
              <a:rPr lang="en-IN" sz="2600" baseline="30000" dirty="0">
                <a:solidFill>
                  <a:srgbClr val="002060"/>
                </a:solidFill>
                <a:latin typeface="Times New Roman" panose="02020603050405020304" pitchFamily="18" charset="0"/>
                <a:cs typeface="Times New Roman" panose="02020603050405020304" pitchFamily="18" charset="0"/>
              </a:rPr>
              <a:t>2  </a:t>
            </a:r>
            <a:r>
              <a:rPr lang="en-IN" sz="2600" dirty="0">
                <a:solidFill>
                  <a:srgbClr val="002060"/>
                </a:solidFill>
                <a:latin typeface="Times New Roman" panose="02020603050405020304" pitchFamily="18" charset="0"/>
                <a:cs typeface="Times New Roman" panose="02020603050405020304" pitchFamily="18" charset="0"/>
              </a:rPr>
              <a:t>= </a:t>
            </a:r>
            <a:r>
              <a:rPr lang="en-IN" sz="2600" dirty="0" err="1">
                <a:solidFill>
                  <a:srgbClr val="002060"/>
                </a:solidFill>
                <a:latin typeface="Times New Roman" panose="02020603050405020304" pitchFamily="18" charset="0"/>
                <a:cs typeface="Times New Roman" panose="02020603050405020304" pitchFamily="18" charset="0"/>
              </a:rPr>
              <a:t>hc</a:t>
            </a:r>
            <a:r>
              <a:rPr lang="en-IN" sz="2600" dirty="0">
                <a:solidFill>
                  <a:srgbClr val="002060"/>
                </a:solidFill>
                <a:latin typeface="Times New Roman" panose="02020603050405020304" pitchFamily="18" charset="0"/>
                <a:cs typeface="Times New Roman" panose="02020603050405020304" pitchFamily="18" charset="0"/>
              </a:rPr>
              <a:t>/​</a:t>
            </a:r>
            <a:r>
              <a:rPr lang="el-GR" sz="2600" dirty="0">
                <a:solidFill>
                  <a:srgbClr val="002060"/>
                </a:solidFill>
                <a:latin typeface="Times New Roman" panose="02020603050405020304" pitchFamily="18" charset="0"/>
                <a:cs typeface="Times New Roman" panose="02020603050405020304" pitchFamily="18" charset="0"/>
              </a:rPr>
              <a:t>λ</a:t>
            </a:r>
            <a:r>
              <a:rPr lang="en-US" sz="2600" dirty="0">
                <a:solidFill>
                  <a:srgbClr val="002060"/>
                </a:solidFill>
                <a:latin typeface="Times New Roman" panose="02020603050405020304" pitchFamily="18" charset="0"/>
                <a:cs typeface="Times New Roman" panose="02020603050405020304" pitchFamily="18" charset="0"/>
              </a:rPr>
              <a:t> </a:t>
            </a:r>
            <a:endParaRPr lang="en-IN" sz="2600" dirty="0">
              <a:solidFill>
                <a:srgbClr val="002060"/>
              </a:solidFill>
              <a:latin typeface="Times New Roman" panose="02020603050405020304" pitchFamily="18" charset="0"/>
              <a:cs typeface="Times New Roman" panose="02020603050405020304" pitchFamily="18" charset="0"/>
            </a:endParaRPr>
          </a:p>
          <a:p>
            <a:pPr algn="ctr"/>
            <a:r>
              <a:rPr lang="en-US" sz="2600" dirty="0">
                <a:solidFill>
                  <a:srgbClr val="002060"/>
                </a:solidFill>
                <a:latin typeface="Times New Roman" panose="02020603050405020304" pitchFamily="18" charset="0"/>
                <a:cs typeface="Times New Roman" panose="02020603050405020304" pitchFamily="18" charset="0"/>
              </a:rPr>
              <a:t>        </a:t>
            </a:r>
            <a:r>
              <a:rPr lang="el-GR" sz="2600" dirty="0">
                <a:solidFill>
                  <a:srgbClr val="002060"/>
                </a:solidFill>
                <a:latin typeface="Times New Roman" panose="02020603050405020304" pitchFamily="18" charset="0"/>
                <a:cs typeface="Times New Roman" panose="02020603050405020304" pitchFamily="18" charset="0"/>
              </a:rPr>
              <a:t>λ</a:t>
            </a:r>
            <a:r>
              <a:rPr lang="en-US" sz="2600" dirty="0">
                <a:solidFill>
                  <a:srgbClr val="002060"/>
                </a:solidFill>
                <a:latin typeface="Times New Roman" panose="02020603050405020304" pitchFamily="18" charset="0"/>
                <a:cs typeface="Times New Roman" panose="02020603050405020304" pitchFamily="18" charset="0"/>
              </a:rPr>
              <a:t> </a:t>
            </a:r>
            <a:r>
              <a:rPr lang="el-GR" sz="2600" dirty="0">
                <a:solidFill>
                  <a:srgbClr val="002060"/>
                </a:solidFill>
                <a:latin typeface="Times New Roman" panose="02020603050405020304" pitchFamily="18" charset="0"/>
                <a:cs typeface="Times New Roman" panose="02020603050405020304" pitchFamily="18" charset="0"/>
              </a:rPr>
              <a:t>=</a:t>
            </a:r>
            <a:r>
              <a:rPr lang="en-US" sz="2600" dirty="0">
                <a:solidFill>
                  <a:srgbClr val="002060"/>
                </a:solidFill>
                <a:latin typeface="Times New Roman" panose="02020603050405020304" pitchFamily="18" charset="0"/>
                <a:cs typeface="Times New Roman" panose="02020603050405020304" pitchFamily="18" charset="0"/>
              </a:rPr>
              <a:t> </a:t>
            </a:r>
            <a:r>
              <a:rPr lang="en-IN" sz="2600" dirty="0">
                <a:solidFill>
                  <a:srgbClr val="002060"/>
                </a:solidFill>
                <a:latin typeface="Times New Roman" panose="02020603050405020304" pitchFamily="18" charset="0"/>
                <a:cs typeface="Times New Roman" panose="02020603050405020304" pitchFamily="18" charset="0"/>
              </a:rPr>
              <a:t>h/mc </a:t>
            </a:r>
            <a:r>
              <a:rPr lang="en-US" sz="2600" dirty="0">
                <a:solidFill>
                  <a:srgbClr val="002060"/>
                </a:solidFill>
                <a:latin typeface="Times New Roman" panose="02020603050405020304" pitchFamily="18" charset="0"/>
                <a:cs typeface="Times New Roman" panose="02020603050405020304" pitchFamily="18" charset="0"/>
              </a:rPr>
              <a:t>= </a:t>
            </a:r>
            <a:r>
              <a:rPr lang="en-IN" sz="2600" dirty="0">
                <a:solidFill>
                  <a:srgbClr val="002060"/>
                </a:solidFill>
                <a:latin typeface="Times New Roman" panose="02020603050405020304" pitchFamily="18" charset="0"/>
                <a:cs typeface="Times New Roman" panose="02020603050405020304" pitchFamily="18" charset="0"/>
              </a:rPr>
              <a:t>h/p </a:t>
            </a:r>
          </a:p>
        </p:txBody>
      </p:sp>
      <p:sp>
        <p:nvSpPr>
          <p:cNvPr id="9" name="TextBox 8">
            <a:extLst>
              <a:ext uri="{FF2B5EF4-FFF2-40B4-BE49-F238E27FC236}">
                <a16:creationId xmlns:a16="http://schemas.microsoft.com/office/drawing/2014/main" xmlns="" id="{CE9E2E61-FD49-7737-71C0-4AA28EFF89C0}"/>
              </a:ext>
            </a:extLst>
          </p:cNvPr>
          <p:cNvSpPr txBox="1"/>
          <p:nvPr/>
        </p:nvSpPr>
        <p:spPr>
          <a:xfrm>
            <a:off x="107089" y="5069397"/>
            <a:ext cx="11977814" cy="1692771"/>
          </a:xfrm>
          <a:prstGeom prst="rect">
            <a:avLst/>
          </a:prstGeom>
          <a:solidFill>
            <a:schemeClr val="bg1"/>
          </a:solidFill>
          <a:ln w="28575">
            <a:solidFill>
              <a:srgbClr val="002060"/>
            </a:solidFill>
          </a:ln>
        </p:spPr>
        <p:txBody>
          <a:bodyPr wrap="square">
            <a:spAutoFit/>
          </a:bodyPr>
          <a:lstStyle/>
          <a:p>
            <a:r>
              <a:rPr lang="en-IN" sz="2600" dirty="0">
                <a:solidFill>
                  <a:srgbClr val="002060"/>
                </a:solidFill>
                <a:latin typeface="Times New Roman" panose="02020603050405020304" pitchFamily="18" charset="0"/>
                <a:cs typeface="Times New Roman" panose="02020603050405020304" pitchFamily="18" charset="0"/>
              </a:rPr>
              <a:t>If ‘E’ is the KE of the electron, </a:t>
            </a:r>
            <a:r>
              <a:rPr lang="el-GR" sz="2600" dirty="0">
                <a:solidFill>
                  <a:srgbClr val="002060"/>
                </a:solidFill>
                <a:latin typeface="Times New Roman" panose="02020603050405020304" pitchFamily="18" charset="0"/>
                <a:cs typeface="Times New Roman" panose="02020603050405020304" pitchFamily="18" charset="0"/>
              </a:rPr>
              <a:t>λ</a:t>
            </a:r>
            <a:r>
              <a:rPr lang="en-US" sz="2600" dirty="0">
                <a:solidFill>
                  <a:srgbClr val="002060"/>
                </a:solidFill>
                <a:latin typeface="Times New Roman" panose="02020603050405020304" pitchFamily="18" charset="0"/>
                <a:cs typeface="Times New Roman" panose="02020603050405020304" pitchFamily="18" charset="0"/>
              </a:rPr>
              <a:t> = </a:t>
            </a:r>
            <a:r>
              <a:rPr lang="en-IN" sz="2600" dirty="0">
                <a:solidFill>
                  <a:srgbClr val="002060"/>
                </a:solidFill>
                <a:latin typeface="Times New Roman" panose="02020603050405020304" pitchFamily="18" charset="0"/>
                <a:cs typeface="Times New Roman" panose="02020603050405020304" pitchFamily="18" charset="0"/>
              </a:rPr>
              <a:t>h/√2mE;  </a:t>
            </a:r>
          </a:p>
          <a:p>
            <a:r>
              <a:rPr lang="en-IN" sz="2600" dirty="0">
                <a:solidFill>
                  <a:srgbClr val="002060"/>
                </a:solidFill>
                <a:latin typeface="Times New Roman" panose="02020603050405020304" pitchFamily="18" charset="0"/>
                <a:cs typeface="Times New Roman" panose="02020603050405020304" pitchFamily="18" charset="0"/>
              </a:rPr>
              <a:t>If  V - accelerate voltage to the electron, </a:t>
            </a:r>
            <a:r>
              <a:rPr lang="el-GR" sz="2600" dirty="0">
                <a:solidFill>
                  <a:srgbClr val="002060"/>
                </a:solidFill>
                <a:latin typeface="Times New Roman" panose="02020603050405020304" pitchFamily="18" charset="0"/>
                <a:cs typeface="Times New Roman" panose="02020603050405020304" pitchFamily="18" charset="0"/>
              </a:rPr>
              <a:t>λ</a:t>
            </a:r>
            <a:r>
              <a:rPr lang="en-US" sz="2600" dirty="0">
                <a:solidFill>
                  <a:srgbClr val="002060"/>
                </a:solidFill>
                <a:latin typeface="Times New Roman" panose="02020603050405020304" pitchFamily="18" charset="0"/>
                <a:cs typeface="Times New Roman" panose="02020603050405020304" pitchFamily="18" charset="0"/>
              </a:rPr>
              <a:t> </a:t>
            </a:r>
            <a:r>
              <a:rPr lang="en-IN" sz="2600" dirty="0">
                <a:solidFill>
                  <a:srgbClr val="002060"/>
                </a:solidFill>
                <a:latin typeface="Times New Roman" panose="02020603050405020304" pitchFamily="18" charset="0"/>
                <a:cs typeface="Times New Roman" panose="02020603050405020304" pitchFamily="18" charset="0"/>
              </a:rPr>
              <a:t>= h/√2meV = 12.24/√ V </a:t>
            </a:r>
            <a:r>
              <a:rPr lang="en-IN" sz="2600" dirty="0" err="1">
                <a:solidFill>
                  <a:srgbClr val="002060"/>
                </a:solidFill>
                <a:latin typeface="Times New Roman" panose="02020603050405020304" pitchFamily="18" charset="0"/>
                <a:cs typeface="Times New Roman" panose="02020603050405020304" pitchFamily="18" charset="0"/>
              </a:rPr>
              <a:t>Å</a:t>
            </a:r>
            <a:r>
              <a:rPr lang="en-IN" sz="2600" dirty="0">
                <a:solidFill>
                  <a:srgbClr val="002060"/>
                </a:solidFill>
                <a:latin typeface="Times New Roman" panose="02020603050405020304" pitchFamily="18" charset="0"/>
                <a:cs typeface="Times New Roman" panose="02020603050405020304" pitchFamily="18" charset="0"/>
              </a:rPr>
              <a:t>.  </a:t>
            </a:r>
          </a:p>
          <a:p>
            <a:r>
              <a:rPr lang="en-IN" sz="2600" dirty="0">
                <a:solidFill>
                  <a:srgbClr val="002060"/>
                </a:solidFill>
                <a:latin typeface="Times New Roman" panose="02020603050405020304" pitchFamily="18" charset="0"/>
                <a:cs typeface="Times New Roman" panose="02020603050405020304" pitchFamily="18" charset="0"/>
              </a:rPr>
              <a:t>Where, </a:t>
            </a:r>
            <a:r>
              <a:rPr lang="el-GR" sz="2600" dirty="0">
                <a:solidFill>
                  <a:srgbClr val="002060"/>
                </a:solidFill>
                <a:latin typeface="Times New Roman" panose="02020603050405020304" pitchFamily="18" charset="0"/>
                <a:cs typeface="Times New Roman" panose="02020603050405020304" pitchFamily="18" charset="0"/>
              </a:rPr>
              <a:t>λ = </a:t>
            </a:r>
            <a:r>
              <a:rPr lang="en-IN" sz="2600" dirty="0">
                <a:solidFill>
                  <a:srgbClr val="002060"/>
                </a:solidFill>
                <a:latin typeface="Times New Roman" panose="02020603050405020304" pitchFamily="18" charset="0"/>
                <a:cs typeface="Times New Roman" panose="02020603050405020304" pitchFamily="18" charset="0"/>
              </a:rPr>
              <a:t>de Broglie wavelength, h- Planck’s constant, P- momentum, e -charge of the electron, m – mass of the electron. </a:t>
            </a:r>
          </a:p>
        </p:txBody>
      </p:sp>
    </p:spTree>
    <p:extLst>
      <p:ext uri="{BB962C8B-B14F-4D97-AF65-F5344CB8AC3E}">
        <p14:creationId xmlns:p14="http://schemas.microsoft.com/office/powerpoint/2010/main" val="12813923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FE80E59A-D753-87DB-49B7-86A35A898915}"/>
              </a:ext>
            </a:extLst>
          </p:cNvPr>
          <p:cNvSpPr txBox="1"/>
          <p:nvPr/>
        </p:nvSpPr>
        <p:spPr>
          <a:xfrm>
            <a:off x="151370" y="151179"/>
            <a:ext cx="11889259" cy="523220"/>
          </a:xfrm>
          <a:prstGeom prst="rect">
            <a:avLst/>
          </a:prstGeom>
          <a:solidFill>
            <a:schemeClr val="bg1"/>
          </a:solidFill>
          <a:ln w="28575">
            <a:solidFill>
              <a:srgbClr val="002060"/>
            </a:solidFill>
          </a:ln>
        </p:spPr>
        <p:txBody>
          <a:bodyPr wrap="square">
            <a:spAutoFit/>
          </a:bodyPr>
          <a:lstStyle/>
          <a:p>
            <a:pPr algn="ctr"/>
            <a:r>
              <a:rPr lang="en-IN" sz="2800" b="1" i="0" u="none" strike="noStrike" dirty="0">
                <a:solidFill>
                  <a:srgbClr val="C00000"/>
                </a:solidFill>
                <a:effectLst/>
                <a:latin typeface="Times New Roman" panose="02020603050405020304" pitchFamily="18" charset="0"/>
                <a:cs typeface="Times New Roman" panose="02020603050405020304" pitchFamily="18" charset="0"/>
              </a:rPr>
              <a:t>Heisenberg Uncertainty Principle</a:t>
            </a:r>
            <a:r>
              <a:rPr lang="en-IN" sz="2800" b="0" i="0" u="none" strike="noStrike" dirty="0">
                <a:solidFill>
                  <a:srgbClr val="C00000"/>
                </a:solidFill>
                <a:effectLst/>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xmlns="" id="{8175688C-45CA-FC38-F694-43346F7853F3}"/>
              </a:ext>
            </a:extLst>
          </p:cNvPr>
          <p:cNvSpPr txBox="1"/>
          <p:nvPr/>
        </p:nvSpPr>
        <p:spPr>
          <a:xfrm>
            <a:off x="151370" y="747751"/>
            <a:ext cx="11889259" cy="2246769"/>
          </a:xfrm>
          <a:prstGeom prst="rect">
            <a:avLst/>
          </a:prstGeom>
          <a:solidFill>
            <a:schemeClr val="bg1"/>
          </a:solidFill>
          <a:ln w="28575">
            <a:solidFill>
              <a:srgbClr val="002060"/>
            </a:solidFill>
          </a:ln>
        </p:spPr>
        <p:txBody>
          <a:bodyPr wrap="square">
            <a:spAutoFit/>
          </a:bodyPr>
          <a:lstStyle/>
          <a:p>
            <a:pPr algn="l"/>
            <a:r>
              <a:rPr lang="en-IN" sz="2800" i="0" u="none" strike="noStrike" dirty="0">
                <a:solidFill>
                  <a:srgbClr val="002060"/>
                </a:solidFill>
                <a:effectLst/>
                <a:latin typeface="Times New Roman" panose="02020603050405020304" pitchFamily="18" charset="0"/>
                <a:cs typeface="Times New Roman" panose="02020603050405020304" pitchFamily="18" charset="0"/>
              </a:rPr>
              <a:t>Heisenberg Uncertainty Principle states that it is impossible to simultaneously measure the exact position and exact momentum of a particle with infinite precision. </a:t>
            </a:r>
          </a:p>
          <a:p>
            <a:pPr algn="ctr"/>
            <a:r>
              <a:rPr lang="el-GR" sz="2800" b="0" i="0" u="none" strike="noStrike" dirty="0">
                <a:solidFill>
                  <a:srgbClr val="002060"/>
                </a:solidFill>
                <a:effectLst/>
                <a:latin typeface="Times New Roman" panose="02020603050405020304" pitchFamily="18" charset="0"/>
                <a:cs typeface="Times New Roman" panose="02020603050405020304" pitchFamily="18" charset="0"/>
              </a:rPr>
              <a:t>Δ</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x </a:t>
            </a:r>
            <a:r>
              <a:rPr lang="el-GR" sz="2800" b="0" i="0" u="none" strike="noStrike" dirty="0">
                <a:solidFill>
                  <a:srgbClr val="002060"/>
                </a:solidFill>
                <a:effectLst/>
                <a:latin typeface="Times New Roman" panose="02020603050405020304" pitchFamily="18" charset="0"/>
                <a:cs typeface="Times New Roman" panose="02020603050405020304" pitchFamily="18" charset="0"/>
              </a:rPr>
              <a:t>Δ</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p ≥ h/4</a:t>
            </a:r>
            <a:r>
              <a:rPr lang="el-GR" sz="2800" b="0" i="0" u="none" strike="noStrike" dirty="0">
                <a:solidFill>
                  <a:srgbClr val="002060"/>
                </a:solidFill>
                <a:effectLst/>
                <a:latin typeface="Times New Roman" panose="02020603050405020304" pitchFamily="18" charset="0"/>
                <a:cs typeface="Times New Roman" panose="02020603050405020304" pitchFamily="18" charset="0"/>
              </a:rPr>
              <a:t>π</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a:t>
            </a:r>
          </a:p>
          <a:p>
            <a:pPr algn="ctr"/>
            <a:r>
              <a:rPr lang="en-IN" sz="2800" b="0" i="0" u="none" strike="noStrike" dirty="0">
                <a:solidFill>
                  <a:srgbClr val="002060"/>
                </a:solidFill>
                <a:effectLst/>
                <a:latin typeface="Times New Roman" panose="02020603050405020304" pitchFamily="18" charset="0"/>
                <a:cs typeface="Times New Roman" panose="02020603050405020304" pitchFamily="18" charset="0"/>
              </a:rPr>
              <a:t>Where, </a:t>
            </a:r>
            <a:r>
              <a:rPr lang="el-GR" sz="2800" b="0" i="0" u="none" strike="noStrike" dirty="0">
                <a:solidFill>
                  <a:srgbClr val="002060"/>
                </a:solidFill>
                <a:effectLst/>
                <a:latin typeface="Times New Roman" panose="02020603050405020304" pitchFamily="18" charset="0"/>
                <a:cs typeface="Times New Roman" panose="02020603050405020304" pitchFamily="18" charset="0"/>
              </a:rPr>
              <a:t>Δ</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x = uncertainty in position, and </a:t>
            </a:r>
            <a:r>
              <a:rPr lang="el-GR" sz="2800" b="0" i="0" u="none" strike="noStrike" dirty="0">
                <a:solidFill>
                  <a:srgbClr val="002060"/>
                </a:solidFill>
                <a:effectLst/>
                <a:latin typeface="Times New Roman" panose="02020603050405020304" pitchFamily="18" charset="0"/>
                <a:cs typeface="Times New Roman" panose="02020603050405020304" pitchFamily="18" charset="0"/>
              </a:rPr>
              <a:t>Δ</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p = uncertainty in momentum</a:t>
            </a:r>
            <a:endParaRPr lang="en-IN" sz="2800" b="1" i="0" u="none" strike="noStrike" dirty="0">
              <a:solidFill>
                <a:srgbClr val="002060"/>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4A7F0E18-BA0C-977C-174A-3AB2F8465494}"/>
              </a:ext>
            </a:extLst>
          </p:cNvPr>
          <p:cNvSpPr txBox="1"/>
          <p:nvPr/>
        </p:nvSpPr>
        <p:spPr>
          <a:xfrm>
            <a:off x="151369" y="4933080"/>
            <a:ext cx="11889259" cy="1815882"/>
          </a:xfrm>
          <a:prstGeom prst="rect">
            <a:avLst/>
          </a:prstGeom>
          <a:solidFill>
            <a:schemeClr val="bg1"/>
          </a:solidFill>
          <a:ln w="28575">
            <a:solidFill>
              <a:srgbClr val="002060"/>
            </a:solidFill>
          </a:ln>
        </p:spPr>
        <p:txBody>
          <a:bodyPr wrap="square">
            <a:spAutoFit/>
          </a:bodyPr>
          <a:lstStyle/>
          <a:p>
            <a:pPr algn="l"/>
            <a:r>
              <a:rPr lang="en-IN" sz="2800" i="0" u="none" strike="noStrike" dirty="0">
                <a:solidFill>
                  <a:srgbClr val="002060"/>
                </a:solidFill>
                <a:effectLst/>
                <a:latin typeface="Times New Roman" panose="02020603050405020304" pitchFamily="18" charset="0"/>
                <a:cs typeface="Times New Roman" panose="02020603050405020304" pitchFamily="18" charset="0"/>
              </a:rPr>
              <a:t>The principle applies to other pairs of conjugate variables, such as:  </a:t>
            </a:r>
          </a:p>
          <a:p>
            <a:pPr algn="ctr"/>
            <a:r>
              <a:rPr lang="el-GR" sz="2800" i="0" u="none" strike="noStrike" dirty="0">
                <a:solidFill>
                  <a:srgbClr val="002060"/>
                </a:solidFill>
                <a:effectLst/>
                <a:latin typeface="Times New Roman" panose="02020603050405020304" pitchFamily="18" charset="0"/>
                <a:cs typeface="Times New Roman" panose="02020603050405020304" pitchFamily="18" charset="0"/>
              </a:rPr>
              <a:t>Δ</a:t>
            </a:r>
            <a:r>
              <a:rPr lang="en-IN" sz="2800" i="0" u="none" strike="noStrike" dirty="0">
                <a:solidFill>
                  <a:srgbClr val="002060"/>
                </a:solidFill>
                <a:effectLst/>
                <a:latin typeface="Times New Roman" panose="02020603050405020304" pitchFamily="18" charset="0"/>
                <a:cs typeface="Times New Roman" panose="02020603050405020304" pitchFamily="18" charset="0"/>
              </a:rPr>
              <a:t>E⋅</a:t>
            </a:r>
            <a:r>
              <a:rPr lang="el-GR" sz="2800" i="0" u="none" strike="noStrike" dirty="0">
                <a:solidFill>
                  <a:srgbClr val="002060"/>
                </a:solidFill>
                <a:effectLst/>
                <a:latin typeface="Times New Roman" panose="02020603050405020304" pitchFamily="18" charset="0"/>
                <a:cs typeface="Times New Roman" panose="02020603050405020304" pitchFamily="18" charset="0"/>
              </a:rPr>
              <a:t>Δ</a:t>
            </a:r>
            <a:r>
              <a:rPr lang="en-IN" sz="2800" i="0" u="none" strike="noStrike" dirty="0">
                <a:solidFill>
                  <a:srgbClr val="002060"/>
                </a:solidFill>
                <a:effectLst/>
                <a:latin typeface="Times New Roman" panose="02020603050405020304" pitchFamily="18" charset="0"/>
                <a:cs typeface="Times New Roman" panose="02020603050405020304" pitchFamily="18" charset="0"/>
              </a:rPr>
              <a:t>t ≥ h/4</a:t>
            </a:r>
            <a:r>
              <a:rPr lang="el-GR" sz="2800" i="0" u="none" strike="noStrike" dirty="0">
                <a:solidFill>
                  <a:srgbClr val="002060"/>
                </a:solidFill>
                <a:effectLst/>
                <a:latin typeface="Times New Roman" panose="02020603050405020304" pitchFamily="18" charset="0"/>
                <a:cs typeface="Times New Roman" panose="02020603050405020304" pitchFamily="18" charset="0"/>
              </a:rPr>
              <a:t>π</a:t>
            </a:r>
            <a:r>
              <a:rPr lang="en-US" sz="2800" i="0" u="none" strike="noStrike" dirty="0">
                <a:solidFill>
                  <a:srgbClr val="002060"/>
                </a:solidFill>
                <a:effectLst/>
                <a:latin typeface="Times New Roman" panose="02020603050405020304" pitchFamily="18" charset="0"/>
                <a:cs typeface="Times New Roman" panose="02020603050405020304" pitchFamily="18" charset="0"/>
              </a:rPr>
              <a:t>, </a:t>
            </a:r>
            <a:r>
              <a:rPr lang="en-IN" sz="2800" i="0" u="none" strike="noStrike" dirty="0">
                <a:solidFill>
                  <a:srgbClr val="002060"/>
                </a:solidFill>
                <a:effectLst/>
                <a:latin typeface="Times New Roman" panose="02020603050405020304" pitchFamily="18" charset="0"/>
                <a:cs typeface="Times New Roman" panose="02020603050405020304" pitchFamily="18" charset="0"/>
              </a:rPr>
              <a:t>​</a:t>
            </a:r>
            <a:r>
              <a:rPr lang="el-GR" sz="2800" i="0" u="none" strike="noStrike" dirty="0">
                <a:solidFill>
                  <a:srgbClr val="002060"/>
                </a:solidFill>
                <a:effectLst/>
                <a:latin typeface="Times New Roman" panose="02020603050405020304" pitchFamily="18" charset="0"/>
                <a:cs typeface="Times New Roman" panose="02020603050405020304" pitchFamily="18" charset="0"/>
              </a:rPr>
              <a:t> </a:t>
            </a:r>
            <a:r>
              <a:rPr lang="en-US" sz="2800" i="0" u="none" strike="noStrike" dirty="0">
                <a:solidFill>
                  <a:srgbClr val="002060"/>
                </a:solidFill>
                <a:effectLst/>
                <a:latin typeface="Times New Roman" panose="02020603050405020304" pitchFamily="18" charset="0"/>
                <a:cs typeface="Times New Roman" panose="02020603050405020304" pitchFamily="18" charset="0"/>
              </a:rPr>
              <a:t>and  </a:t>
            </a:r>
            <a:r>
              <a:rPr lang="el-GR" sz="2800" i="0" u="none" strike="noStrike" dirty="0">
                <a:solidFill>
                  <a:srgbClr val="002060"/>
                </a:solidFill>
                <a:effectLst/>
                <a:latin typeface="Times New Roman" panose="02020603050405020304" pitchFamily="18" charset="0"/>
                <a:cs typeface="Times New Roman" panose="02020603050405020304" pitchFamily="18" charset="0"/>
              </a:rPr>
              <a:t>Δ</a:t>
            </a:r>
            <a:r>
              <a:rPr lang="en-IN" sz="2800" dirty="0">
                <a:solidFill>
                  <a:srgbClr val="002060"/>
                </a:solidFill>
                <a:latin typeface="Times New Roman" panose="02020603050405020304" pitchFamily="18" charset="0"/>
                <a:cs typeface="Times New Roman" panose="02020603050405020304" pitchFamily="18" charset="0"/>
              </a:rPr>
              <a:t>J</a:t>
            </a:r>
            <a:r>
              <a:rPr lang="en-IN" sz="2800" i="0" u="none" strike="noStrike" dirty="0">
                <a:solidFill>
                  <a:srgbClr val="002060"/>
                </a:solidFill>
                <a:effectLst/>
                <a:latin typeface="Times New Roman" panose="02020603050405020304" pitchFamily="18" charset="0"/>
                <a:cs typeface="Times New Roman" panose="02020603050405020304" pitchFamily="18" charset="0"/>
              </a:rPr>
              <a:t>⋅</a:t>
            </a:r>
            <a:r>
              <a:rPr lang="el-GR" sz="2800" i="0" u="none" strike="noStrike" dirty="0">
                <a:solidFill>
                  <a:srgbClr val="002060"/>
                </a:solidFill>
                <a:effectLst/>
                <a:latin typeface="Times New Roman" panose="02020603050405020304" pitchFamily="18" charset="0"/>
                <a:cs typeface="Times New Roman" panose="02020603050405020304" pitchFamily="18" charset="0"/>
              </a:rPr>
              <a:t>Δ</a:t>
            </a:r>
            <a:r>
              <a:rPr lang="en-IN" sz="2800" dirty="0">
                <a:solidFill>
                  <a:srgbClr val="002060"/>
                </a:solidFill>
                <a:latin typeface="Times New Roman" panose="02020603050405020304" pitchFamily="18" charset="0"/>
                <a:cs typeface="Times New Roman" panose="02020603050405020304" pitchFamily="18" charset="0"/>
              </a:rPr>
              <a:t>𝛉</a:t>
            </a:r>
            <a:r>
              <a:rPr lang="en-IN" sz="2800" i="0" u="none" strike="noStrike" dirty="0">
                <a:solidFill>
                  <a:srgbClr val="002060"/>
                </a:solidFill>
                <a:effectLst/>
                <a:latin typeface="Times New Roman" panose="02020603050405020304" pitchFamily="18" charset="0"/>
                <a:cs typeface="Times New Roman" panose="02020603050405020304" pitchFamily="18" charset="0"/>
              </a:rPr>
              <a:t> ≥ h/4</a:t>
            </a:r>
            <a:r>
              <a:rPr lang="el-GR" sz="2800" i="0" u="none" strike="noStrike" dirty="0">
                <a:solidFill>
                  <a:srgbClr val="002060"/>
                </a:solidFill>
                <a:effectLst/>
                <a:latin typeface="Times New Roman" panose="02020603050405020304" pitchFamily="18" charset="0"/>
                <a:cs typeface="Times New Roman" panose="02020603050405020304" pitchFamily="18" charset="0"/>
              </a:rPr>
              <a:t>π</a:t>
            </a:r>
            <a:endParaRPr lang="en-US" sz="2800" i="0" u="none" strike="noStrike" dirty="0">
              <a:solidFill>
                <a:srgbClr val="002060"/>
              </a:solidFill>
              <a:effectLst/>
              <a:latin typeface="Times New Roman" panose="02020603050405020304" pitchFamily="18" charset="0"/>
              <a:cs typeface="Times New Roman" panose="02020603050405020304" pitchFamily="18" charset="0"/>
            </a:endParaRPr>
          </a:p>
          <a:p>
            <a:r>
              <a:rPr lang="en-IN" sz="2800" b="0" i="0" u="none" strike="noStrike" dirty="0">
                <a:solidFill>
                  <a:srgbClr val="002060"/>
                </a:solidFill>
                <a:effectLst/>
                <a:latin typeface="Times New Roman" panose="02020603050405020304" pitchFamily="18" charset="0"/>
                <a:cs typeface="Times New Roman" panose="02020603050405020304" pitchFamily="18" charset="0"/>
              </a:rPr>
              <a:t>Where, </a:t>
            </a:r>
            <a:r>
              <a:rPr lang="el-GR" sz="2800" b="0" i="0" u="none" strike="noStrike" dirty="0">
                <a:solidFill>
                  <a:srgbClr val="002060"/>
                </a:solidFill>
                <a:effectLst/>
                <a:latin typeface="Times New Roman" panose="02020603050405020304" pitchFamily="18" charset="0"/>
                <a:cs typeface="Times New Roman" panose="02020603050405020304" pitchFamily="18" charset="0"/>
              </a:rPr>
              <a:t>Δ</a:t>
            </a:r>
            <a:r>
              <a:rPr lang="en-IN" sz="2800" dirty="0">
                <a:solidFill>
                  <a:srgbClr val="002060"/>
                </a:solidFill>
                <a:latin typeface="Times New Roman" panose="02020603050405020304" pitchFamily="18" charset="0"/>
                <a:cs typeface="Times New Roman" panose="02020603050405020304" pitchFamily="18" charset="0"/>
              </a:rPr>
              <a:t>𝛉 </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uncertainty in angular position, </a:t>
            </a:r>
            <a:r>
              <a:rPr lang="el-GR" sz="2800" b="0" i="0" u="none" strike="noStrike" dirty="0">
                <a:solidFill>
                  <a:srgbClr val="002060"/>
                </a:solidFill>
                <a:effectLst/>
                <a:latin typeface="Times New Roman" panose="02020603050405020304" pitchFamily="18" charset="0"/>
                <a:cs typeface="Times New Roman" panose="02020603050405020304" pitchFamily="18" charset="0"/>
              </a:rPr>
              <a:t>Δ</a:t>
            </a:r>
            <a:r>
              <a:rPr lang="en-IN" sz="2800" dirty="0">
                <a:solidFill>
                  <a:srgbClr val="002060"/>
                </a:solidFill>
                <a:latin typeface="Times New Roman" panose="02020603050405020304" pitchFamily="18" charset="0"/>
                <a:cs typeface="Times New Roman" panose="02020603050405020304" pitchFamily="18" charset="0"/>
              </a:rPr>
              <a:t>J</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 uncertainty in angular momentum, </a:t>
            </a:r>
            <a:r>
              <a:rPr lang="el-GR" sz="2800" b="0" i="0" u="none" strike="noStrike" dirty="0">
                <a:solidFill>
                  <a:srgbClr val="002060"/>
                </a:solidFill>
                <a:effectLst/>
                <a:latin typeface="Times New Roman" panose="02020603050405020304" pitchFamily="18" charset="0"/>
                <a:cs typeface="Times New Roman" panose="02020603050405020304" pitchFamily="18" charset="0"/>
              </a:rPr>
              <a:t>Δ</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E = uncertainty in Energy, and </a:t>
            </a:r>
            <a:r>
              <a:rPr lang="el-GR" sz="2800" b="0" i="0" u="none" strike="noStrike" dirty="0">
                <a:solidFill>
                  <a:srgbClr val="002060"/>
                </a:solidFill>
                <a:effectLst/>
                <a:latin typeface="Times New Roman" panose="02020603050405020304" pitchFamily="18" charset="0"/>
                <a:cs typeface="Times New Roman" panose="02020603050405020304" pitchFamily="18" charset="0"/>
              </a:rPr>
              <a:t>Δ</a:t>
            </a:r>
            <a:r>
              <a:rPr lang="en-IN" sz="2800" dirty="0">
                <a:solidFill>
                  <a:srgbClr val="002060"/>
                </a:solidFill>
                <a:latin typeface="Times New Roman" panose="02020603050405020304" pitchFamily="18" charset="0"/>
                <a:cs typeface="Times New Roman" panose="02020603050405020304" pitchFamily="18" charset="0"/>
              </a:rPr>
              <a:t>t</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 uncertainty in time </a:t>
            </a:r>
          </a:p>
        </p:txBody>
      </p:sp>
      <p:sp>
        <p:nvSpPr>
          <p:cNvPr id="10" name="TextBox 9">
            <a:extLst>
              <a:ext uri="{FF2B5EF4-FFF2-40B4-BE49-F238E27FC236}">
                <a16:creationId xmlns:a16="http://schemas.microsoft.com/office/drawing/2014/main" xmlns="" id="{4F63550B-1639-1846-4BF1-93FC8C3263A0}"/>
              </a:ext>
            </a:extLst>
          </p:cNvPr>
          <p:cNvSpPr txBox="1"/>
          <p:nvPr/>
        </p:nvSpPr>
        <p:spPr>
          <a:xfrm>
            <a:off x="151369" y="3068662"/>
            <a:ext cx="11889259" cy="1815882"/>
          </a:xfrm>
          <a:prstGeom prst="rect">
            <a:avLst/>
          </a:prstGeom>
          <a:solidFill>
            <a:schemeClr val="bg1"/>
          </a:solidFill>
          <a:ln w="28575">
            <a:solidFill>
              <a:schemeClr val="tx1"/>
            </a:solidFill>
          </a:ln>
        </p:spPr>
        <p:txBody>
          <a:bodyPr wrap="square">
            <a:spAutoFit/>
          </a:bodyPr>
          <a:lstStyle/>
          <a:p>
            <a:pPr algn="ctr"/>
            <a:r>
              <a:rPr lang="en-IN" sz="2800" b="1" i="0" u="none" strike="noStrike" dirty="0">
                <a:solidFill>
                  <a:srgbClr val="C00000"/>
                </a:solidFill>
                <a:effectLst/>
                <a:latin typeface="Times New Roman" panose="02020603050405020304" pitchFamily="18" charset="0"/>
                <a:cs typeface="Times New Roman" panose="02020603050405020304" pitchFamily="18" charset="0"/>
              </a:rPr>
              <a:t>Physical Meaning </a:t>
            </a:r>
          </a:p>
          <a:p>
            <a:pPr algn="l"/>
            <a:r>
              <a:rPr lang="en-IN" sz="2800" b="0" i="0" u="none" strike="noStrike" dirty="0">
                <a:solidFill>
                  <a:srgbClr val="002060"/>
                </a:solidFill>
                <a:effectLst/>
                <a:latin typeface="Times New Roman" panose="02020603050405020304" pitchFamily="18" charset="0"/>
                <a:cs typeface="Times New Roman" panose="02020603050405020304" pitchFamily="18" charset="0"/>
              </a:rPr>
              <a:t>If we try to localize a particle precisely (</a:t>
            </a:r>
            <a:r>
              <a:rPr lang="el-GR" sz="2800" b="0" i="0" u="none" strike="noStrike" dirty="0">
                <a:solidFill>
                  <a:srgbClr val="002060"/>
                </a:solidFill>
                <a:effectLst/>
                <a:latin typeface="Times New Roman" panose="02020603050405020304" pitchFamily="18" charset="0"/>
                <a:cs typeface="Times New Roman" panose="02020603050405020304" pitchFamily="18" charset="0"/>
              </a:rPr>
              <a:t>Δ</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x→0), its momentum becomes highly uncertain (</a:t>
            </a:r>
            <a:r>
              <a:rPr lang="el-GR" sz="2800" b="0" i="0" u="none" strike="noStrike" dirty="0">
                <a:solidFill>
                  <a:srgbClr val="002060"/>
                </a:solidFill>
                <a:effectLst/>
                <a:latin typeface="Times New Roman" panose="02020603050405020304" pitchFamily="18" charset="0"/>
                <a:cs typeface="Times New Roman" panose="02020603050405020304" pitchFamily="18" charset="0"/>
              </a:rPr>
              <a:t>Δ</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p→∞).</a:t>
            </a:r>
            <a:r>
              <a:rPr lang="en-IN" sz="2800" dirty="0">
                <a:solidFill>
                  <a:srgbClr val="002060"/>
                </a:solidFill>
                <a:latin typeface="Times New Roman" panose="02020603050405020304" pitchFamily="18" charset="0"/>
                <a:cs typeface="Times New Roman" panose="02020603050405020304" pitchFamily="18" charset="0"/>
              </a:rPr>
              <a:t>  </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Conversely, if momentum is known exactly, the particle’s position becomes completely uncertain. </a:t>
            </a:r>
            <a:endParaRPr lang="en-IN" sz="2800" i="0" u="none" strike="noStrike" dirty="0">
              <a:solidFill>
                <a:srgbClr val="00206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16394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5F8D9099-E5D6-7242-5E84-FBAF55738962}"/>
              </a:ext>
            </a:extLst>
          </p:cNvPr>
          <p:cNvSpPr txBox="1"/>
          <p:nvPr/>
        </p:nvSpPr>
        <p:spPr>
          <a:xfrm>
            <a:off x="96794" y="194271"/>
            <a:ext cx="11998411" cy="1815882"/>
          </a:xfrm>
          <a:prstGeom prst="rect">
            <a:avLst/>
          </a:prstGeom>
          <a:solidFill>
            <a:schemeClr val="bg1"/>
          </a:solidFill>
          <a:ln w="28575">
            <a:solidFill>
              <a:srgbClr val="002060"/>
            </a:solidFill>
          </a:ln>
        </p:spPr>
        <p:txBody>
          <a:bodyPr wrap="square">
            <a:spAutoFit/>
          </a:bodyPr>
          <a:lstStyle/>
          <a:p>
            <a:pPr algn="l"/>
            <a:r>
              <a:rPr lang="en-IN" sz="2800" b="1" i="0" u="none" strike="noStrike" dirty="0">
                <a:solidFill>
                  <a:srgbClr val="C00000"/>
                </a:solidFill>
                <a:effectLst/>
                <a:latin typeface="Times New Roman" panose="02020603050405020304" pitchFamily="18" charset="0"/>
                <a:cs typeface="Times New Roman" panose="02020603050405020304" pitchFamily="18" charset="0"/>
              </a:rPr>
              <a:t>Wave Function (</a:t>
            </a:r>
            <a:r>
              <a:rPr lang="el-GR" sz="2800" b="1" i="0" u="none" strike="noStrike" dirty="0">
                <a:solidFill>
                  <a:srgbClr val="C00000"/>
                </a:solidFill>
                <a:effectLst/>
                <a:latin typeface="Times New Roman" panose="02020603050405020304" pitchFamily="18" charset="0"/>
                <a:cs typeface="Times New Roman" panose="02020603050405020304" pitchFamily="18" charset="0"/>
              </a:rPr>
              <a:t>ψ)</a:t>
            </a:r>
            <a:r>
              <a:rPr lang="en-US" sz="2800" b="1" i="0" u="none" strike="noStrike" dirty="0">
                <a:solidFill>
                  <a:srgbClr val="C00000"/>
                </a:solidFill>
                <a:effectLst/>
                <a:latin typeface="Times New Roman" panose="02020603050405020304" pitchFamily="18" charset="0"/>
                <a:cs typeface="Times New Roman" panose="02020603050405020304" pitchFamily="18" charset="0"/>
              </a:rPr>
              <a:t>:</a:t>
            </a:r>
            <a:r>
              <a:rPr lang="en-US" sz="2800" b="1" dirty="0">
                <a:solidFill>
                  <a:srgbClr val="C00000"/>
                </a:solidFill>
                <a:latin typeface="Times New Roman" panose="02020603050405020304" pitchFamily="18" charset="0"/>
                <a:cs typeface="Times New Roman" panose="02020603050405020304" pitchFamily="18" charset="0"/>
              </a:rPr>
              <a:t> </a:t>
            </a:r>
          </a:p>
          <a:p>
            <a:pPr algn="l"/>
            <a:r>
              <a:rPr lang="en-IN" sz="2800" b="0" i="0" u="none" strike="noStrike" dirty="0">
                <a:solidFill>
                  <a:srgbClr val="002060"/>
                </a:solidFill>
                <a:effectLst/>
                <a:latin typeface="Times New Roman" panose="02020603050405020304" pitchFamily="18" charset="0"/>
                <a:cs typeface="Times New Roman" panose="02020603050405020304" pitchFamily="18" charset="0"/>
              </a:rPr>
              <a:t>In quantum mechanics, the </a:t>
            </a:r>
            <a:r>
              <a:rPr lang="en-IN" sz="2800" b="1" i="0" u="none" strike="noStrike" dirty="0">
                <a:solidFill>
                  <a:srgbClr val="002060"/>
                </a:solidFill>
                <a:effectLst/>
                <a:latin typeface="Times New Roman" panose="02020603050405020304" pitchFamily="18" charset="0"/>
                <a:cs typeface="Times New Roman" panose="02020603050405020304" pitchFamily="18" charset="0"/>
              </a:rPr>
              <a:t>wave function</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a:t>
            </a:r>
            <a:r>
              <a:rPr lang="el-GR" sz="2800" b="0" i="0" u="none" strike="noStrike" dirty="0">
                <a:solidFill>
                  <a:srgbClr val="002060"/>
                </a:solidFill>
                <a:effectLst/>
                <a:latin typeface="Times New Roman" panose="02020603050405020304" pitchFamily="18" charset="0"/>
                <a:cs typeface="Times New Roman" panose="02020603050405020304" pitchFamily="18" charset="0"/>
              </a:rPr>
              <a:t>ψ(</a:t>
            </a:r>
            <a:r>
              <a:rPr lang="en-IN" sz="2800" b="0" i="0" u="none" strike="noStrike" dirty="0" err="1">
                <a:solidFill>
                  <a:srgbClr val="002060"/>
                </a:solidFill>
                <a:effectLst/>
                <a:latin typeface="Times New Roman" panose="02020603050405020304" pitchFamily="18" charset="0"/>
                <a:cs typeface="Times New Roman" panose="02020603050405020304" pitchFamily="18" charset="0"/>
              </a:rPr>
              <a:t>x,t</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is a complex-valued function that contains all possible information about the state of a quantum particle (such as an electron, photon, atom, etc.).</a:t>
            </a:r>
          </a:p>
        </p:txBody>
      </p:sp>
      <p:sp>
        <p:nvSpPr>
          <p:cNvPr id="7" name="TextBox 6">
            <a:extLst>
              <a:ext uri="{FF2B5EF4-FFF2-40B4-BE49-F238E27FC236}">
                <a16:creationId xmlns:a16="http://schemas.microsoft.com/office/drawing/2014/main" xmlns="" id="{D71DD1BF-787A-9176-A33B-1A7D75400D39}"/>
              </a:ext>
            </a:extLst>
          </p:cNvPr>
          <p:cNvSpPr txBox="1"/>
          <p:nvPr/>
        </p:nvSpPr>
        <p:spPr>
          <a:xfrm>
            <a:off x="96794" y="2167741"/>
            <a:ext cx="11998411" cy="4401205"/>
          </a:xfrm>
          <a:prstGeom prst="rect">
            <a:avLst/>
          </a:prstGeom>
          <a:solidFill>
            <a:schemeClr val="bg1"/>
          </a:solidFill>
          <a:ln w="28575">
            <a:solidFill>
              <a:srgbClr val="002060"/>
            </a:solidFill>
          </a:ln>
        </p:spPr>
        <p:txBody>
          <a:bodyPr wrap="square">
            <a:spAutoFit/>
          </a:bodyPr>
          <a:lstStyle/>
          <a:p>
            <a:r>
              <a:rPr lang="en-IN" sz="2800" b="1" i="0" u="none" strike="noStrike" dirty="0">
                <a:solidFill>
                  <a:srgbClr val="C00000"/>
                </a:solidFill>
                <a:effectLst/>
                <a:latin typeface="Times New Roman" panose="02020603050405020304" pitchFamily="18" charset="0"/>
                <a:cs typeface="Times New Roman" panose="02020603050405020304" pitchFamily="18" charset="0"/>
              </a:rPr>
              <a:t>Physical Significance:</a:t>
            </a:r>
          </a:p>
          <a:p>
            <a:pPr algn="l">
              <a:buFont typeface="+mj-lt"/>
              <a:buAutoNum type="arabicPeriod"/>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 The wave function itself has no direct physical meaning, since it is generally complex.</a:t>
            </a:r>
          </a:p>
          <a:p>
            <a:pPr algn="l">
              <a:buFont typeface="+mj-lt"/>
              <a:buAutoNum type="arabicPeriod"/>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 The </a:t>
            </a:r>
            <a:r>
              <a:rPr lang="en-IN" sz="2800" i="0" u="none" strike="noStrike" dirty="0">
                <a:solidFill>
                  <a:srgbClr val="002060"/>
                </a:solidFill>
                <a:effectLst/>
                <a:latin typeface="Times New Roman" panose="02020603050405020304" pitchFamily="18" charset="0"/>
                <a:cs typeface="Times New Roman" panose="02020603050405020304" pitchFamily="18" charset="0"/>
              </a:rPr>
              <a:t>square modulus </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of the wave function gives the probability density</a:t>
            </a:r>
          </a:p>
          <a:p>
            <a:pPr algn="ctr"/>
            <a:r>
              <a:rPr lang="en-IN" sz="2800" b="0" i="0" u="none" strike="noStrike" dirty="0">
                <a:solidFill>
                  <a:srgbClr val="002060"/>
                </a:solidFill>
                <a:effectLst/>
                <a:latin typeface="Times New Roman" panose="02020603050405020304" pitchFamily="18" charset="0"/>
                <a:cs typeface="Times New Roman" panose="02020603050405020304" pitchFamily="18" charset="0"/>
              </a:rPr>
              <a:t>P(</a:t>
            </a:r>
            <a:r>
              <a:rPr lang="en-IN" sz="2800" b="0" i="0" u="none" strike="noStrike" dirty="0" err="1">
                <a:solidFill>
                  <a:srgbClr val="002060"/>
                </a:solidFill>
                <a:effectLst/>
                <a:latin typeface="Times New Roman" panose="02020603050405020304" pitchFamily="18" charset="0"/>
                <a:cs typeface="Times New Roman" panose="02020603050405020304" pitchFamily="18" charset="0"/>
              </a:rPr>
              <a:t>x,t</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 ∣</a:t>
            </a:r>
            <a:r>
              <a:rPr lang="el-GR" sz="2800" b="0" i="0" u="none" strike="noStrike" dirty="0">
                <a:solidFill>
                  <a:srgbClr val="002060"/>
                </a:solidFill>
                <a:effectLst/>
                <a:latin typeface="Times New Roman" panose="02020603050405020304" pitchFamily="18" charset="0"/>
                <a:cs typeface="Times New Roman" panose="02020603050405020304" pitchFamily="18" charset="0"/>
              </a:rPr>
              <a:t>ψ(</a:t>
            </a:r>
            <a:r>
              <a:rPr lang="en-IN" sz="2800" b="0" i="0" u="none" strike="noStrike" dirty="0" err="1">
                <a:solidFill>
                  <a:srgbClr val="002060"/>
                </a:solidFill>
                <a:effectLst/>
                <a:latin typeface="Times New Roman" panose="02020603050405020304" pitchFamily="18" charset="0"/>
                <a:cs typeface="Times New Roman" panose="02020603050405020304" pitchFamily="18" charset="0"/>
              </a:rPr>
              <a:t>x,t</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a:t>
            </a:r>
            <a:r>
              <a:rPr lang="en-IN" sz="2800" b="0" i="0" u="none" strike="noStrike" baseline="30000" dirty="0">
                <a:solidFill>
                  <a:srgbClr val="002060"/>
                </a:solidFill>
                <a:effectLst/>
                <a:latin typeface="Times New Roman" panose="02020603050405020304" pitchFamily="18" charset="0"/>
                <a:cs typeface="Times New Roman" panose="02020603050405020304" pitchFamily="18" charset="0"/>
              </a:rPr>
              <a:t>2</a:t>
            </a:r>
          </a:p>
          <a:p>
            <a:pPr algn="l"/>
            <a:r>
              <a:rPr lang="en-IN" sz="2800" dirty="0">
                <a:solidFill>
                  <a:srgbClr val="002060"/>
                </a:solidFill>
                <a:latin typeface="Times New Roman" panose="02020603050405020304" pitchFamily="18" charset="0"/>
                <a:cs typeface="Times New Roman" panose="02020603050405020304" pitchFamily="18" charset="0"/>
              </a:rPr>
              <a:t>Where, </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P(</a:t>
            </a:r>
            <a:r>
              <a:rPr lang="en-IN" sz="2800" b="0" i="0" u="none" strike="noStrike" dirty="0" err="1">
                <a:solidFill>
                  <a:srgbClr val="002060"/>
                </a:solidFill>
                <a:effectLst/>
                <a:latin typeface="Times New Roman" panose="02020603050405020304" pitchFamily="18" charset="0"/>
                <a:cs typeface="Times New Roman" panose="02020603050405020304" pitchFamily="18" charset="0"/>
              </a:rPr>
              <a:t>x,t</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dx is a probability of finding the particle between x and </a:t>
            </a:r>
            <a:r>
              <a:rPr lang="en-IN" sz="2800" b="0" i="0" u="none" strike="noStrike" dirty="0" err="1">
                <a:solidFill>
                  <a:srgbClr val="002060"/>
                </a:solidFill>
                <a:effectLst/>
                <a:latin typeface="Times New Roman" panose="02020603050405020304" pitchFamily="18" charset="0"/>
                <a:cs typeface="Times New Roman" panose="02020603050405020304" pitchFamily="18" charset="0"/>
              </a:rPr>
              <a:t>x+dx</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at time t.</a:t>
            </a:r>
            <a:r>
              <a:rPr lang="en-IN" sz="2800" dirty="0">
                <a:solidFill>
                  <a:srgbClr val="002060"/>
                </a:solidFill>
                <a:latin typeface="Times New Roman" panose="02020603050405020304" pitchFamily="18" charset="0"/>
                <a:cs typeface="Times New Roman" panose="02020603050405020304" pitchFamily="18" charset="0"/>
              </a:rPr>
              <a:t> </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For a 3D system: P(</a:t>
            </a:r>
            <a:r>
              <a:rPr lang="en-IN" sz="2800" b="0" i="0" u="none" strike="noStrike" dirty="0" err="1">
                <a:solidFill>
                  <a:srgbClr val="002060"/>
                </a:solidFill>
                <a:effectLst/>
                <a:latin typeface="Times New Roman" panose="02020603050405020304" pitchFamily="18" charset="0"/>
                <a:cs typeface="Times New Roman" panose="02020603050405020304" pitchFamily="18" charset="0"/>
              </a:rPr>
              <a:t>r⃗,t</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a:t>
            </a:r>
            <a:r>
              <a:rPr lang="el-GR" sz="2800" b="0" i="0" u="none" strike="noStrike" dirty="0">
                <a:solidFill>
                  <a:srgbClr val="002060"/>
                </a:solidFill>
                <a:effectLst/>
                <a:latin typeface="Times New Roman" panose="02020603050405020304" pitchFamily="18" charset="0"/>
                <a:cs typeface="Times New Roman" panose="02020603050405020304" pitchFamily="18" charset="0"/>
              </a:rPr>
              <a:t>ψ(</a:t>
            </a:r>
            <a:r>
              <a:rPr lang="en-IN" sz="2800" b="0" i="0" u="none" strike="noStrike" dirty="0" err="1">
                <a:solidFill>
                  <a:srgbClr val="002060"/>
                </a:solidFill>
                <a:effectLst/>
                <a:latin typeface="Times New Roman" panose="02020603050405020304" pitchFamily="18" charset="0"/>
                <a:cs typeface="Times New Roman" panose="02020603050405020304" pitchFamily="18" charset="0"/>
              </a:rPr>
              <a:t>r⃗,t</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a:t>
            </a:r>
            <a:r>
              <a:rPr lang="en-IN" sz="2800" b="0" i="0" u="none" strike="noStrike" baseline="30000" dirty="0">
                <a:solidFill>
                  <a:srgbClr val="002060"/>
                </a:solidFill>
                <a:effectLst/>
                <a:latin typeface="Times New Roman" panose="02020603050405020304" pitchFamily="18" charset="0"/>
                <a:cs typeface="Times New Roman" panose="02020603050405020304" pitchFamily="18" charset="0"/>
              </a:rPr>
              <a:t>2</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gives the probability density in space.</a:t>
            </a:r>
          </a:p>
          <a:p>
            <a:r>
              <a:rPr lang="en-IN" sz="2800" i="0" u="none" strike="noStrike" dirty="0">
                <a:solidFill>
                  <a:srgbClr val="002060"/>
                </a:solidFill>
                <a:effectLst/>
                <a:latin typeface="Times New Roman" panose="02020603050405020304" pitchFamily="18" charset="0"/>
                <a:cs typeface="Times New Roman" panose="02020603050405020304" pitchFamily="18" charset="0"/>
              </a:rPr>
              <a:t>3. </a:t>
            </a:r>
            <a:r>
              <a:rPr lang="en-IN" sz="2800" dirty="0">
                <a:solidFill>
                  <a:srgbClr val="002060"/>
                </a:solidFill>
                <a:latin typeface="Times New Roman" panose="02020603050405020304" pitchFamily="18" charset="0"/>
                <a:cs typeface="Times New Roman" panose="02020603050405020304" pitchFamily="18" charset="0"/>
              </a:rPr>
              <a:t>T</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he existence of the particle, the wave function must satisfy the normalization condition, meaning the total probability of finding the particle in all space equals one.</a:t>
            </a:r>
            <a:r>
              <a:rPr lang="en-US" sz="2800" dirty="0">
                <a:solidFill>
                  <a:srgbClr val="002060"/>
                </a:solidFill>
                <a:latin typeface="Times New Roman" panose="02020603050405020304" pitchFamily="18" charset="0"/>
                <a:cs typeface="Times New Roman" panose="02020603050405020304" pitchFamily="18" charset="0"/>
              </a:rPr>
              <a:t>  </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a:t>
            </a:r>
            <a:r>
              <a:rPr lang="en-IN" sz="2800" b="0" i="0" u="none" strike="noStrike" baseline="-25000" dirty="0">
                <a:solidFill>
                  <a:srgbClr val="002060"/>
                </a:solidFill>
                <a:effectLst/>
                <a:latin typeface="Times New Roman" panose="02020603050405020304" pitchFamily="18" charset="0"/>
                <a:cs typeface="Times New Roman" panose="02020603050405020304" pitchFamily="18" charset="0"/>
              </a:rPr>
              <a:t>−∞</a:t>
            </a:r>
            <a:r>
              <a:rPr lang="en-IN" sz="2800" b="0" i="0" u="none" strike="noStrike" baseline="30000" dirty="0">
                <a:solidFill>
                  <a:srgbClr val="002060"/>
                </a:solidFill>
                <a:effectLst/>
                <a:latin typeface="Times New Roman" panose="02020603050405020304" pitchFamily="18" charset="0"/>
                <a:cs typeface="Times New Roman" panose="02020603050405020304" pitchFamily="18" charset="0"/>
              </a:rPr>
              <a:t>+∞  </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a:t>
            </a:r>
            <a:r>
              <a:rPr lang="el-GR" sz="2800" b="0" i="0" u="none" strike="noStrike" dirty="0">
                <a:solidFill>
                  <a:srgbClr val="002060"/>
                </a:solidFill>
                <a:effectLst/>
                <a:latin typeface="Times New Roman" panose="02020603050405020304" pitchFamily="18" charset="0"/>
                <a:cs typeface="Times New Roman" panose="02020603050405020304" pitchFamily="18" charset="0"/>
              </a:rPr>
              <a:t>ψ(</a:t>
            </a:r>
            <a:r>
              <a:rPr lang="en-IN" sz="2800" b="0" i="0" u="none" strike="noStrike" dirty="0" err="1">
                <a:solidFill>
                  <a:srgbClr val="002060"/>
                </a:solidFill>
                <a:effectLst/>
                <a:latin typeface="Times New Roman" panose="02020603050405020304" pitchFamily="18" charset="0"/>
                <a:cs typeface="Times New Roman" panose="02020603050405020304" pitchFamily="18" charset="0"/>
              </a:rPr>
              <a:t>x,t</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a:t>
            </a:r>
            <a:r>
              <a:rPr lang="en-IN" sz="2800" b="0" i="0" u="none" strike="noStrike" baseline="30000" dirty="0">
                <a:solidFill>
                  <a:srgbClr val="002060"/>
                </a:solidFill>
                <a:effectLst/>
                <a:latin typeface="Times New Roman" panose="02020603050405020304" pitchFamily="18" charset="0"/>
                <a:cs typeface="Times New Roman" panose="02020603050405020304" pitchFamily="18" charset="0"/>
              </a:rPr>
              <a:t>2</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dx = 1</a:t>
            </a:r>
          </a:p>
        </p:txBody>
      </p:sp>
    </p:spTree>
    <p:extLst>
      <p:ext uri="{BB962C8B-B14F-4D97-AF65-F5344CB8AC3E}">
        <p14:creationId xmlns:p14="http://schemas.microsoft.com/office/powerpoint/2010/main" val="307601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ABA28A4B-E249-CE93-18D8-10EDA072BDA6}"/>
              </a:ext>
            </a:extLst>
          </p:cNvPr>
          <p:cNvSpPr txBox="1"/>
          <p:nvPr/>
        </p:nvSpPr>
        <p:spPr>
          <a:xfrm>
            <a:off x="210064" y="717713"/>
            <a:ext cx="11887201" cy="1938992"/>
          </a:xfrm>
          <a:prstGeom prst="rect">
            <a:avLst/>
          </a:prstGeom>
          <a:solidFill>
            <a:schemeClr val="bg1"/>
          </a:solidFill>
          <a:ln w="28575">
            <a:solidFill>
              <a:srgbClr val="002060"/>
            </a:solidFill>
          </a:ln>
        </p:spPr>
        <p:txBody>
          <a:bodyPr wrap="square">
            <a:spAutoFit/>
          </a:bodyPr>
          <a:lstStyle/>
          <a:p>
            <a:pPr algn="l"/>
            <a:r>
              <a:rPr lang="en-IN" sz="2400" b="1" i="0" u="none" strike="noStrike" dirty="0">
                <a:solidFill>
                  <a:srgbClr val="002060"/>
                </a:solidFill>
                <a:effectLst/>
                <a:latin typeface="Times New Roman" panose="02020603050405020304" pitchFamily="18" charset="0"/>
                <a:cs typeface="Times New Roman" panose="02020603050405020304" pitchFamily="18" charset="0"/>
              </a:rPr>
              <a:t>Postulate 1: </a:t>
            </a:r>
            <a:r>
              <a:rPr lang="en-IN" sz="2400" b="1" i="0" u="none" strike="noStrike" dirty="0">
                <a:solidFill>
                  <a:srgbClr val="C00000"/>
                </a:solidFill>
                <a:effectLst/>
                <a:latin typeface="Times New Roman" panose="02020603050405020304" pitchFamily="18" charset="0"/>
                <a:cs typeface="Times New Roman" panose="02020603050405020304" pitchFamily="18" charset="0"/>
              </a:rPr>
              <a:t>State of a system</a:t>
            </a:r>
          </a:p>
          <a:p>
            <a:pPr algn="l"/>
            <a:r>
              <a:rPr lang="en-IN" sz="2400" b="0" i="0" u="none" strike="noStrike" dirty="0">
                <a:solidFill>
                  <a:srgbClr val="002060"/>
                </a:solidFill>
                <a:effectLst/>
                <a:latin typeface="Times New Roman" panose="02020603050405020304" pitchFamily="18" charset="0"/>
                <a:cs typeface="Times New Roman" panose="02020603050405020304" pitchFamily="18" charset="0"/>
              </a:rPr>
              <a:t>The complete state of a quantum system is described by a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wave function</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ψ(</a:t>
            </a:r>
            <a:r>
              <a:rPr lang="en-IN" sz="2400" b="0" i="0" u="none" strike="noStrike" dirty="0" err="1">
                <a:solidFill>
                  <a:srgbClr val="002060"/>
                </a:solidFill>
                <a:effectLst/>
                <a:latin typeface="Times New Roman" panose="02020603050405020304" pitchFamily="18" charset="0"/>
                <a:cs typeface="Times New Roman" panose="02020603050405020304" pitchFamily="18" charset="0"/>
              </a:rPr>
              <a:t>x,t</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a:t>
            </a:r>
            <a:r>
              <a:rPr lang="en-IN" sz="2400" dirty="0">
                <a:solidFill>
                  <a:srgbClr val="002060"/>
                </a:solidFill>
                <a:latin typeface="Times New Roman" panose="02020603050405020304" pitchFamily="18" charset="0"/>
                <a:cs typeface="Times New Roman" panose="02020603050405020304" pitchFamily="18" charset="0"/>
              </a:rPr>
              <a:t> </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This function contains all the measurable information about the system. The probability of finding the particle between xx and </a:t>
            </a:r>
            <a:r>
              <a:rPr lang="en-IN" sz="2400" b="0" i="0" u="none" strike="noStrike" dirty="0" err="1">
                <a:solidFill>
                  <a:srgbClr val="002060"/>
                </a:solidFill>
                <a:effectLst/>
                <a:latin typeface="Times New Roman" panose="02020603050405020304" pitchFamily="18" charset="0"/>
                <a:cs typeface="Times New Roman" panose="02020603050405020304" pitchFamily="18" charset="0"/>
              </a:rPr>
              <a:t>x+dx</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is given by: P(x)dx = ∣</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ψ(</a:t>
            </a:r>
            <a:r>
              <a:rPr lang="en-IN" sz="2400" b="0" i="0" u="none" strike="noStrike" dirty="0" err="1">
                <a:solidFill>
                  <a:srgbClr val="002060"/>
                </a:solidFill>
                <a:effectLst/>
                <a:latin typeface="Times New Roman" panose="02020603050405020304" pitchFamily="18" charset="0"/>
                <a:cs typeface="Times New Roman" panose="02020603050405020304" pitchFamily="18" charset="0"/>
              </a:rPr>
              <a:t>x,t</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a:t>
            </a:r>
            <a:r>
              <a:rPr lang="en-IN" sz="2400" b="0" i="0" u="none" strike="noStrike" baseline="30000" dirty="0">
                <a:solidFill>
                  <a:srgbClr val="002060"/>
                </a:solidFill>
                <a:effectLst/>
                <a:latin typeface="Times New Roman" panose="02020603050405020304" pitchFamily="18" charset="0"/>
                <a:cs typeface="Times New Roman" panose="02020603050405020304" pitchFamily="18" charset="0"/>
              </a:rPr>
              <a:t>2 </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dx</a:t>
            </a:r>
          </a:p>
          <a:p>
            <a:pPr algn="l"/>
            <a:r>
              <a:rPr lang="en-IN" sz="2400" b="0" i="0" u="none" strike="noStrike" dirty="0">
                <a:solidFill>
                  <a:srgbClr val="002060"/>
                </a:solidFill>
                <a:effectLst/>
                <a:latin typeface="Times New Roman" panose="02020603050405020304" pitchFamily="18" charset="0"/>
                <a:cs typeface="Times New Roman" panose="02020603050405020304" pitchFamily="18" charset="0"/>
              </a:rPr>
              <a:t>The wave function must be </a:t>
            </a:r>
            <a:r>
              <a:rPr lang="en-IN" sz="2400" i="0" u="none" strike="noStrike" dirty="0">
                <a:solidFill>
                  <a:srgbClr val="002060"/>
                </a:solidFill>
                <a:effectLst/>
                <a:latin typeface="Times New Roman" panose="02020603050405020304" pitchFamily="18" charset="0"/>
                <a:cs typeface="Times New Roman" panose="02020603050405020304" pitchFamily="18" charset="0"/>
              </a:rPr>
              <a:t>normalized: </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a:t>
            </a:r>
            <a:r>
              <a:rPr lang="en-IN" sz="2400" b="0" i="0" u="none" strike="noStrike" baseline="30000" dirty="0">
                <a:solidFill>
                  <a:srgbClr val="002060"/>
                </a:solidFill>
                <a:effectLst/>
                <a:latin typeface="Times New Roman" panose="02020603050405020304" pitchFamily="18" charset="0"/>
                <a:cs typeface="Times New Roman" panose="02020603050405020304" pitchFamily="18" charset="0"/>
              </a:rPr>
              <a:t> +∞ </a:t>
            </a:r>
            <a:r>
              <a:rPr lang="en-IN" sz="2400" b="0" i="0" u="none" strike="noStrike" baseline="-25000" dirty="0">
                <a:solidFill>
                  <a:srgbClr val="002060"/>
                </a:solidFill>
                <a:effectLst/>
                <a:latin typeface="Times New Roman" panose="02020603050405020304" pitchFamily="18" charset="0"/>
                <a:cs typeface="Times New Roman" panose="02020603050405020304" pitchFamily="18" charset="0"/>
              </a:rPr>
              <a:t>−∞</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ψ(</a:t>
            </a:r>
            <a:r>
              <a:rPr lang="en-IN" sz="2400" b="0" i="0" u="none" strike="noStrike" dirty="0" err="1">
                <a:solidFill>
                  <a:srgbClr val="002060"/>
                </a:solidFill>
                <a:effectLst/>
                <a:latin typeface="Times New Roman" panose="02020603050405020304" pitchFamily="18" charset="0"/>
                <a:cs typeface="Times New Roman" panose="02020603050405020304" pitchFamily="18" charset="0"/>
              </a:rPr>
              <a:t>x,t</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a:t>
            </a:r>
            <a:r>
              <a:rPr lang="en-IN" sz="2400" b="0" i="0" u="none" strike="noStrike" baseline="30000" dirty="0">
                <a:solidFill>
                  <a:srgbClr val="002060"/>
                </a:solidFill>
                <a:effectLst/>
                <a:latin typeface="Times New Roman" panose="02020603050405020304" pitchFamily="18" charset="0"/>
                <a:cs typeface="Times New Roman" panose="02020603050405020304" pitchFamily="18" charset="0"/>
              </a:rPr>
              <a:t>2</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dx = 1 </a:t>
            </a:r>
          </a:p>
        </p:txBody>
      </p:sp>
      <p:sp>
        <p:nvSpPr>
          <p:cNvPr id="6" name="TextBox 5">
            <a:extLst>
              <a:ext uri="{FF2B5EF4-FFF2-40B4-BE49-F238E27FC236}">
                <a16:creationId xmlns:a16="http://schemas.microsoft.com/office/drawing/2014/main" xmlns="" id="{8D39B759-2089-CB62-4B29-6F36CB731463}"/>
              </a:ext>
            </a:extLst>
          </p:cNvPr>
          <p:cNvSpPr txBox="1"/>
          <p:nvPr/>
        </p:nvSpPr>
        <p:spPr>
          <a:xfrm>
            <a:off x="210064" y="2742196"/>
            <a:ext cx="11887201" cy="1569660"/>
          </a:xfrm>
          <a:prstGeom prst="rect">
            <a:avLst/>
          </a:prstGeom>
          <a:solidFill>
            <a:schemeClr val="bg1"/>
          </a:solidFill>
          <a:ln w="28575">
            <a:solidFill>
              <a:srgbClr val="002060"/>
            </a:solidFill>
          </a:ln>
        </p:spPr>
        <p:txBody>
          <a:bodyPr wrap="square">
            <a:spAutoFit/>
          </a:bodyPr>
          <a:lstStyle/>
          <a:p>
            <a:pPr algn="l"/>
            <a:r>
              <a:rPr lang="en-IN" sz="2400" b="1" i="0" u="none" strike="noStrike" dirty="0">
                <a:solidFill>
                  <a:srgbClr val="002060"/>
                </a:solidFill>
                <a:effectLst/>
                <a:latin typeface="Times New Roman" panose="02020603050405020304" pitchFamily="18" charset="0"/>
                <a:cs typeface="Times New Roman" panose="02020603050405020304" pitchFamily="18" charset="0"/>
              </a:rPr>
              <a:t>Postulate 2: </a:t>
            </a:r>
            <a:r>
              <a:rPr lang="en-IN" sz="2400" b="1" i="0" u="none" strike="noStrike" dirty="0">
                <a:solidFill>
                  <a:srgbClr val="C00000"/>
                </a:solidFill>
                <a:effectLst/>
                <a:latin typeface="Times New Roman" panose="02020603050405020304" pitchFamily="18" charset="0"/>
                <a:cs typeface="Times New Roman" panose="02020603050405020304" pitchFamily="18" charset="0"/>
              </a:rPr>
              <a:t>Observables and Operators</a:t>
            </a:r>
          </a:p>
          <a:p>
            <a:pPr algn="l"/>
            <a:r>
              <a:rPr lang="en-IN" sz="2400" b="0" i="0" u="none" strike="noStrike" dirty="0">
                <a:solidFill>
                  <a:srgbClr val="002060"/>
                </a:solidFill>
                <a:effectLst/>
                <a:latin typeface="Times New Roman" panose="02020603050405020304" pitchFamily="18" charset="0"/>
                <a:cs typeface="Times New Roman" panose="02020603050405020304" pitchFamily="18" charset="0"/>
              </a:rPr>
              <a:t>Every measurable physical quantity (observable) is represented by a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linear Hermitian operator</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Examples: Position operator: x^ = x; Momentum operator: p^=−</a:t>
            </a:r>
            <a:r>
              <a:rPr lang="en-IN" sz="2400" b="0" i="0" u="none" strike="noStrike" dirty="0" err="1">
                <a:solidFill>
                  <a:srgbClr val="002060"/>
                </a:solidFill>
                <a:effectLst/>
                <a:latin typeface="Times New Roman" panose="02020603050405020304" pitchFamily="18" charset="0"/>
                <a:cs typeface="Times New Roman" panose="02020603050405020304" pitchFamily="18" charset="0"/>
              </a:rPr>
              <a:t>iℏ</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∂/∂x;  </a:t>
            </a:r>
            <a:r>
              <a:rPr lang="en-IN" sz="2400" dirty="0">
                <a:solidFill>
                  <a:srgbClr val="002060"/>
                </a:solidFill>
                <a:latin typeface="Times New Roman" panose="02020603050405020304" pitchFamily="18" charset="0"/>
                <a:cs typeface="Times New Roman" panose="02020603050405020304" pitchFamily="18" charset="0"/>
              </a:rPr>
              <a:t>and </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Energy (Hamiltonian): H^ = −ℏ</a:t>
            </a:r>
            <a:r>
              <a:rPr lang="en-IN" sz="2400" b="0" i="0" u="none" strike="noStrike" baseline="30000" dirty="0">
                <a:solidFill>
                  <a:srgbClr val="002060"/>
                </a:solidFill>
                <a:effectLst/>
                <a:latin typeface="Times New Roman" panose="02020603050405020304" pitchFamily="18" charset="0"/>
                <a:cs typeface="Times New Roman" panose="02020603050405020304" pitchFamily="18" charset="0"/>
              </a:rPr>
              <a:t>2</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/2m∇</a:t>
            </a:r>
            <a:r>
              <a:rPr lang="en-IN" sz="2400" b="0" i="0" u="none" strike="noStrike" baseline="30000" dirty="0">
                <a:solidFill>
                  <a:srgbClr val="002060"/>
                </a:solidFill>
                <a:effectLst/>
                <a:latin typeface="Times New Roman" panose="02020603050405020304" pitchFamily="18" charset="0"/>
                <a:cs typeface="Times New Roman" panose="02020603050405020304" pitchFamily="18" charset="0"/>
              </a:rPr>
              <a:t>2 </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V(x). </a:t>
            </a:r>
          </a:p>
        </p:txBody>
      </p:sp>
      <p:sp>
        <p:nvSpPr>
          <p:cNvPr id="8" name="TextBox 7">
            <a:extLst>
              <a:ext uri="{FF2B5EF4-FFF2-40B4-BE49-F238E27FC236}">
                <a16:creationId xmlns:a16="http://schemas.microsoft.com/office/drawing/2014/main" xmlns="" id="{F24D6A7B-3D08-028F-9B78-DEAC3DBA6B59}"/>
              </a:ext>
            </a:extLst>
          </p:cNvPr>
          <p:cNvSpPr txBox="1"/>
          <p:nvPr/>
        </p:nvSpPr>
        <p:spPr>
          <a:xfrm>
            <a:off x="210064" y="102944"/>
            <a:ext cx="11887200" cy="523220"/>
          </a:xfrm>
          <a:prstGeom prst="rect">
            <a:avLst/>
          </a:prstGeom>
          <a:solidFill>
            <a:schemeClr val="bg1"/>
          </a:solidFill>
          <a:ln w="28575">
            <a:solidFill>
              <a:srgbClr val="002060"/>
            </a:solidFill>
          </a:ln>
        </p:spPr>
        <p:txBody>
          <a:bodyPr wrap="square">
            <a:spAutoFit/>
          </a:bodyPr>
          <a:lstStyle/>
          <a:p>
            <a:pPr algn="ctr"/>
            <a:r>
              <a:rPr lang="en-IN" sz="2800" b="1" i="0" u="none" strike="noStrike" dirty="0">
                <a:solidFill>
                  <a:srgbClr val="C00000"/>
                </a:solidFill>
                <a:effectLst/>
                <a:latin typeface="Times New Roman" panose="02020603050405020304" pitchFamily="18" charset="0"/>
                <a:cs typeface="Times New Roman" panose="02020603050405020304" pitchFamily="18" charset="0"/>
              </a:rPr>
              <a:t>Postulates of Quantum Mechanics </a:t>
            </a:r>
          </a:p>
        </p:txBody>
      </p:sp>
      <p:sp>
        <p:nvSpPr>
          <p:cNvPr id="9" name="TextBox 8">
            <a:extLst>
              <a:ext uri="{FF2B5EF4-FFF2-40B4-BE49-F238E27FC236}">
                <a16:creationId xmlns:a16="http://schemas.microsoft.com/office/drawing/2014/main" xmlns="" id="{68DC171D-A98F-CEB7-01E0-CE4689A726D9}"/>
              </a:ext>
            </a:extLst>
          </p:cNvPr>
          <p:cNvSpPr txBox="1"/>
          <p:nvPr/>
        </p:nvSpPr>
        <p:spPr>
          <a:xfrm>
            <a:off x="210064" y="4397347"/>
            <a:ext cx="11887200" cy="2308324"/>
          </a:xfrm>
          <a:prstGeom prst="rect">
            <a:avLst/>
          </a:prstGeom>
          <a:solidFill>
            <a:schemeClr val="bg1"/>
          </a:solidFill>
          <a:ln w="28575">
            <a:solidFill>
              <a:srgbClr val="002060"/>
            </a:solidFill>
          </a:ln>
        </p:spPr>
        <p:txBody>
          <a:bodyPr wrap="square">
            <a:spAutoFit/>
          </a:bodyPr>
          <a:lstStyle/>
          <a:p>
            <a:pPr algn="l"/>
            <a:r>
              <a:rPr lang="en-IN" sz="2400" b="1" i="0" u="none" strike="noStrike" dirty="0">
                <a:solidFill>
                  <a:srgbClr val="002060"/>
                </a:solidFill>
                <a:effectLst/>
                <a:latin typeface="Times New Roman" panose="02020603050405020304" pitchFamily="18" charset="0"/>
                <a:cs typeface="Times New Roman" panose="02020603050405020304" pitchFamily="18" charset="0"/>
              </a:rPr>
              <a:t>Postulate 3: </a:t>
            </a:r>
            <a:r>
              <a:rPr lang="en-IN" sz="2400" b="1" i="0" u="none" strike="noStrike" dirty="0">
                <a:solidFill>
                  <a:srgbClr val="C00000"/>
                </a:solidFill>
                <a:effectLst/>
                <a:latin typeface="Times New Roman" panose="02020603050405020304" pitchFamily="18" charset="0"/>
                <a:cs typeface="Times New Roman" panose="02020603050405020304" pitchFamily="18" charset="0"/>
              </a:rPr>
              <a:t>Measurement and Eigenvalues</a:t>
            </a:r>
          </a:p>
          <a:p>
            <a:pPr algn="l"/>
            <a:r>
              <a:rPr lang="en-IN" sz="2400" b="0" i="0" u="none" strike="noStrike" dirty="0">
                <a:solidFill>
                  <a:srgbClr val="002060"/>
                </a:solidFill>
                <a:effectLst/>
                <a:latin typeface="Times New Roman" panose="02020603050405020304" pitchFamily="18" charset="0"/>
                <a:cs typeface="Times New Roman" panose="02020603050405020304" pitchFamily="18" charset="0"/>
              </a:rPr>
              <a:t>Measurement of an observable always gives one of the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eigenvalues</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of the corresponding operator. If: A^</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ψ</a:t>
            </a:r>
            <a:r>
              <a:rPr lang="en-US" sz="2400" b="0" i="0" u="none" strike="noStrike" dirty="0">
                <a:solidFill>
                  <a:srgbClr val="002060"/>
                </a:solidFill>
                <a:effectLst/>
                <a:latin typeface="Times New Roman" panose="02020603050405020304" pitchFamily="18" charset="0"/>
                <a:cs typeface="Times New Roman" panose="02020603050405020304" pitchFamily="18" charset="0"/>
              </a:rPr>
              <a:t> </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a:t>
            </a:r>
            <a:r>
              <a:rPr lang="en-US" sz="2400" b="0" i="0" u="none" strike="noStrike" dirty="0">
                <a:solidFill>
                  <a:srgbClr val="002060"/>
                </a:solidFill>
                <a:effectLst/>
                <a:latin typeface="Times New Roman" panose="02020603050405020304" pitchFamily="18" charset="0"/>
                <a:cs typeface="Times New Roman" panose="02020603050405020304" pitchFamily="18" charset="0"/>
              </a:rPr>
              <a:t> </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a</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ψ</a:t>
            </a:r>
            <a:r>
              <a:rPr lang="en-US" sz="2400" b="0" i="0" u="none" strike="noStrike" dirty="0">
                <a:solidFill>
                  <a:srgbClr val="002060"/>
                </a:solidFill>
                <a:effectLst/>
                <a:latin typeface="Times New Roman" panose="02020603050405020304" pitchFamily="18" charset="0"/>
                <a:cs typeface="Times New Roman" panose="02020603050405020304" pitchFamily="18" charset="0"/>
              </a:rPr>
              <a:t> </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then a is an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eigenvalue</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and </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ψ </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is the corresponding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eigenfunction</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Example: For a free particle, the momentum operator acting on a plane wave </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ψ</a:t>
            </a:r>
            <a:r>
              <a:rPr lang="en-US" sz="2400" b="0" i="0" u="none" strike="noStrike" dirty="0">
                <a:solidFill>
                  <a:srgbClr val="002060"/>
                </a:solidFill>
                <a:effectLst/>
                <a:latin typeface="Times New Roman" panose="02020603050405020304" pitchFamily="18" charset="0"/>
                <a:cs typeface="Times New Roman" panose="02020603050405020304" pitchFamily="18" charset="0"/>
              </a:rPr>
              <a:t> </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a:t>
            </a:r>
            <a:r>
              <a:rPr lang="en-US" sz="2400" b="0" i="0" u="none" strike="noStrike" dirty="0">
                <a:solidFill>
                  <a:srgbClr val="002060"/>
                </a:solidFill>
                <a:effectLst/>
                <a:latin typeface="Times New Roman" panose="02020603050405020304" pitchFamily="18" charset="0"/>
                <a:cs typeface="Times New Roman" panose="02020603050405020304" pitchFamily="18" charset="0"/>
              </a:rPr>
              <a:t> </a:t>
            </a:r>
            <a:r>
              <a:rPr lang="en-IN" sz="2400" b="0" i="0" u="none" strike="noStrike" dirty="0" err="1">
                <a:solidFill>
                  <a:srgbClr val="002060"/>
                </a:solidFill>
                <a:effectLst/>
                <a:latin typeface="Times New Roman" panose="02020603050405020304" pitchFamily="18" charset="0"/>
                <a:cs typeface="Times New Roman" panose="02020603050405020304" pitchFamily="18" charset="0"/>
              </a:rPr>
              <a:t>e</a:t>
            </a:r>
            <a:r>
              <a:rPr lang="en-IN" sz="2400" b="0" i="0" u="none" strike="noStrike" baseline="30000" dirty="0" err="1">
                <a:solidFill>
                  <a:srgbClr val="002060"/>
                </a:solidFill>
                <a:effectLst/>
                <a:latin typeface="Times New Roman" panose="02020603050405020304" pitchFamily="18" charset="0"/>
                <a:cs typeface="Times New Roman" panose="02020603050405020304" pitchFamily="18" charset="0"/>
              </a:rPr>
              <a:t>ikx</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gives: </a:t>
            </a:r>
          </a:p>
          <a:p>
            <a:pPr algn="ctr"/>
            <a:r>
              <a:rPr lang="en-IN" sz="2400" b="0" i="0" u="none" strike="noStrike" dirty="0">
                <a:solidFill>
                  <a:srgbClr val="002060"/>
                </a:solidFill>
                <a:effectLst/>
                <a:latin typeface="Times New Roman" panose="02020603050405020304" pitchFamily="18" charset="0"/>
                <a:cs typeface="Times New Roman" panose="02020603050405020304" pitchFamily="18" charset="0"/>
              </a:rPr>
              <a:t>p^</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ψ</a:t>
            </a:r>
            <a:r>
              <a:rPr lang="en-US" sz="2400" b="0" i="0" u="none" strike="noStrike" dirty="0">
                <a:solidFill>
                  <a:srgbClr val="002060"/>
                </a:solidFill>
                <a:effectLst/>
                <a:latin typeface="Times New Roman" panose="02020603050405020304" pitchFamily="18" charset="0"/>
                <a:cs typeface="Times New Roman" panose="02020603050405020304" pitchFamily="18" charset="0"/>
              </a:rPr>
              <a:t> </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a:t>
            </a:r>
            <a:r>
              <a:rPr lang="en-US" sz="2400" b="0" i="0" u="none" strike="noStrike" dirty="0">
                <a:solidFill>
                  <a:srgbClr val="002060"/>
                </a:solidFill>
                <a:effectLst/>
                <a:latin typeface="Times New Roman" panose="02020603050405020304" pitchFamily="18" charset="0"/>
                <a:cs typeface="Times New Roman" panose="02020603050405020304" pitchFamily="18" charset="0"/>
              </a:rPr>
              <a:t> </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a:t>
            </a:r>
            <a:r>
              <a:rPr lang="en-US" sz="2400" b="0" i="0" u="none" strike="noStrike" dirty="0">
                <a:solidFill>
                  <a:srgbClr val="002060"/>
                </a:solidFill>
                <a:effectLst/>
                <a:latin typeface="Times New Roman" panose="02020603050405020304" pitchFamily="18" charset="0"/>
                <a:cs typeface="Times New Roman" panose="02020603050405020304" pitchFamily="18" charset="0"/>
              </a:rPr>
              <a:t> </a:t>
            </a:r>
            <a:r>
              <a:rPr lang="en-IN" sz="2400" b="0" i="0" u="none" strike="noStrike" dirty="0" err="1">
                <a:solidFill>
                  <a:srgbClr val="002060"/>
                </a:solidFill>
                <a:effectLst/>
                <a:latin typeface="Times New Roman" panose="02020603050405020304" pitchFamily="18" charset="0"/>
                <a:cs typeface="Times New Roman" panose="02020603050405020304" pitchFamily="18" charset="0"/>
              </a:rPr>
              <a:t>iℏ</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∂/∂x(</a:t>
            </a:r>
            <a:r>
              <a:rPr lang="en-IN" sz="2400" b="0" i="0" u="none" strike="noStrike" dirty="0" err="1">
                <a:solidFill>
                  <a:srgbClr val="002060"/>
                </a:solidFill>
                <a:effectLst/>
                <a:latin typeface="Times New Roman" panose="02020603050405020304" pitchFamily="18" charset="0"/>
                <a:cs typeface="Times New Roman" panose="02020603050405020304" pitchFamily="18" charset="0"/>
              </a:rPr>
              <a:t>e</a:t>
            </a:r>
            <a:r>
              <a:rPr lang="en-IN" sz="2400" b="0" i="0" u="none" strike="noStrike" baseline="30000" dirty="0" err="1">
                <a:solidFill>
                  <a:srgbClr val="002060"/>
                </a:solidFill>
                <a:effectLst/>
                <a:latin typeface="Times New Roman" panose="02020603050405020304" pitchFamily="18" charset="0"/>
                <a:cs typeface="Times New Roman" panose="02020603050405020304" pitchFamily="18" charset="0"/>
              </a:rPr>
              <a:t>ikx</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 </a:t>
            </a:r>
            <a:r>
              <a:rPr lang="en-IN" sz="2400" b="0" i="0" u="none" strike="noStrike" dirty="0" err="1">
                <a:solidFill>
                  <a:srgbClr val="002060"/>
                </a:solidFill>
                <a:effectLst/>
                <a:latin typeface="Times New Roman" panose="02020603050405020304" pitchFamily="18" charset="0"/>
                <a:cs typeface="Times New Roman" panose="02020603050405020304" pitchFamily="18" charset="0"/>
              </a:rPr>
              <a:t>ℏk</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ψ</a:t>
            </a:r>
            <a:r>
              <a:rPr lang="en-US" sz="2400" dirty="0">
                <a:solidFill>
                  <a:srgbClr val="002060"/>
                </a:solidFill>
                <a:latin typeface="Times New Roman" panose="02020603050405020304" pitchFamily="18" charset="0"/>
                <a:cs typeface="Times New Roman" panose="02020603050405020304" pitchFamily="18" charset="0"/>
              </a:rPr>
              <a:t> </a:t>
            </a:r>
          </a:p>
          <a:p>
            <a:pPr algn="ctr"/>
            <a:r>
              <a:rPr lang="en-IN" sz="2400" b="0" i="0" u="none" strike="noStrike" dirty="0">
                <a:solidFill>
                  <a:srgbClr val="002060"/>
                </a:solidFill>
                <a:effectLst/>
                <a:latin typeface="Times New Roman" panose="02020603050405020304" pitchFamily="18" charset="0"/>
                <a:cs typeface="Times New Roman" panose="02020603050405020304" pitchFamily="18" charset="0"/>
              </a:rPr>
              <a:t>Here, </a:t>
            </a:r>
            <a:r>
              <a:rPr lang="en-IN" sz="2400" b="0" i="0" u="none" strike="noStrike" dirty="0" err="1">
                <a:solidFill>
                  <a:srgbClr val="002060"/>
                </a:solidFill>
                <a:effectLst/>
                <a:latin typeface="Times New Roman" panose="02020603050405020304" pitchFamily="18" charset="0"/>
                <a:cs typeface="Times New Roman" panose="02020603050405020304" pitchFamily="18" charset="0"/>
              </a:rPr>
              <a:t>ℏk</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is the eigenvalue (momentum)</a:t>
            </a:r>
          </a:p>
        </p:txBody>
      </p:sp>
    </p:spTree>
    <p:extLst>
      <p:ext uri="{BB962C8B-B14F-4D97-AF65-F5344CB8AC3E}">
        <p14:creationId xmlns:p14="http://schemas.microsoft.com/office/powerpoint/2010/main" val="4187643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D95FDFA-7FDA-31C7-8B77-9E42FB8DA055}"/>
              </a:ext>
            </a:extLst>
          </p:cNvPr>
          <p:cNvSpPr txBox="1"/>
          <p:nvPr/>
        </p:nvSpPr>
        <p:spPr>
          <a:xfrm>
            <a:off x="94250" y="158212"/>
            <a:ext cx="12003500" cy="1569660"/>
          </a:xfrm>
          <a:prstGeom prst="rect">
            <a:avLst/>
          </a:prstGeom>
          <a:solidFill>
            <a:schemeClr val="bg1"/>
          </a:solidFill>
          <a:ln w="28575">
            <a:solidFill>
              <a:srgbClr val="002060"/>
            </a:solidFill>
          </a:ln>
        </p:spPr>
        <p:txBody>
          <a:bodyPr wrap="square">
            <a:spAutoFit/>
          </a:bodyPr>
          <a:lstStyle/>
          <a:p>
            <a:pPr algn="l"/>
            <a:r>
              <a:rPr lang="en-IN" sz="2400" b="1" i="0" u="none" strike="noStrike" dirty="0">
                <a:solidFill>
                  <a:srgbClr val="002060"/>
                </a:solidFill>
                <a:effectLst/>
                <a:latin typeface="Times New Roman" panose="02020603050405020304" pitchFamily="18" charset="0"/>
                <a:cs typeface="Times New Roman" panose="02020603050405020304" pitchFamily="18" charset="0"/>
              </a:rPr>
              <a:t>Postulate 4: </a:t>
            </a:r>
            <a:r>
              <a:rPr lang="en-IN" sz="2400" b="1" i="0" u="none" strike="noStrike" dirty="0">
                <a:solidFill>
                  <a:srgbClr val="C00000"/>
                </a:solidFill>
                <a:effectLst/>
                <a:latin typeface="Times New Roman" panose="02020603050405020304" pitchFamily="18" charset="0"/>
                <a:cs typeface="Times New Roman" panose="02020603050405020304" pitchFamily="18" charset="0"/>
              </a:rPr>
              <a:t>Expectation Value </a:t>
            </a:r>
          </a:p>
          <a:p>
            <a:pPr algn="l"/>
            <a:r>
              <a:rPr lang="en-IN" sz="2400" b="0" i="0" u="none" strike="noStrike" dirty="0">
                <a:solidFill>
                  <a:srgbClr val="002060"/>
                </a:solidFill>
                <a:effectLst/>
                <a:latin typeface="Times New Roman" panose="02020603050405020304" pitchFamily="18" charset="0"/>
                <a:cs typeface="Times New Roman" panose="02020603050405020304" pitchFamily="18" charset="0"/>
              </a:rPr>
              <a:t>The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expectation value</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(average value in repeated measurements) of an observable A is: </a:t>
            </a:r>
          </a:p>
          <a:p>
            <a:pPr algn="ctr"/>
            <a:r>
              <a:rPr lang="en-IN" sz="2400" b="0" i="0" u="none" strike="noStrike" dirty="0">
                <a:solidFill>
                  <a:srgbClr val="002060"/>
                </a:solidFill>
                <a:effectLst/>
                <a:latin typeface="Times New Roman" panose="02020603050405020304" pitchFamily="18" charset="0"/>
                <a:cs typeface="Times New Roman" panose="02020603050405020304" pitchFamily="18" charset="0"/>
              </a:rPr>
              <a:t>⟨A⟩ = ∫</a:t>
            </a:r>
            <a:r>
              <a:rPr lang="en-IN" sz="2400" b="0" i="0" u="none" strike="noStrike" baseline="-25000" dirty="0">
                <a:solidFill>
                  <a:srgbClr val="002060"/>
                </a:solidFill>
                <a:effectLst/>
                <a:latin typeface="Times New Roman" panose="02020603050405020304" pitchFamily="18" charset="0"/>
                <a:cs typeface="Times New Roman" panose="02020603050405020304" pitchFamily="18" charset="0"/>
              </a:rPr>
              <a:t>−∞</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a:t>
            </a:r>
            <a:r>
              <a:rPr lang="en-IN" sz="2400" b="0" i="0" u="none" strike="noStrike" baseline="30000" dirty="0">
                <a:solidFill>
                  <a:srgbClr val="002060"/>
                </a:solidFill>
                <a:effectLst/>
                <a:latin typeface="Times New Roman" panose="02020603050405020304" pitchFamily="18" charset="0"/>
                <a:cs typeface="Times New Roman" panose="02020603050405020304" pitchFamily="18" charset="0"/>
              </a:rPr>
              <a:t>+∞  </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ψ∗(</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x, t) A^ </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ψ(</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x, t) dx </a:t>
            </a:r>
          </a:p>
          <a:p>
            <a:pPr algn="l"/>
            <a:r>
              <a:rPr lang="en-IN" sz="2400" b="0" i="0" u="none" strike="noStrike" dirty="0">
                <a:solidFill>
                  <a:srgbClr val="002060"/>
                </a:solidFill>
                <a:effectLst/>
                <a:latin typeface="Times New Roman" panose="02020603050405020304" pitchFamily="18" charset="0"/>
                <a:cs typeface="Times New Roman" panose="02020603050405020304" pitchFamily="18" charset="0"/>
              </a:rPr>
              <a:t>This connects the mathematics (operators) with physical reality (measured values).</a:t>
            </a:r>
          </a:p>
        </p:txBody>
      </p:sp>
      <p:sp>
        <p:nvSpPr>
          <p:cNvPr id="7" name="TextBox 6">
            <a:extLst>
              <a:ext uri="{FF2B5EF4-FFF2-40B4-BE49-F238E27FC236}">
                <a16:creationId xmlns:a16="http://schemas.microsoft.com/office/drawing/2014/main" xmlns="" id="{092ACCD5-742E-A50B-81B0-568D448DA513}"/>
              </a:ext>
            </a:extLst>
          </p:cNvPr>
          <p:cNvSpPr txBox="1"/>
          <p:nvPr/>
        </p:nvSpPr>
        <p:spPr>
          <a:xfrm>
            <a:off x="94250" y="1858549"/>
            <a:ext cx="12003500" cy="1569660"/>
          </a:xfrm>
          <a:prstGeom prst="rect">
            <a:avLst/>
          </a:prstGeom>
          <a:solidFill>
            <a:schemeClr val="bg1"/>
          </a:solidFill>
          <a:ln w="28575">
            <a:solidFill>
              <a:srgbClr val="002060"/>
            </a:solidFill>
          </a:ln>
        </p:spPr>
        <p:txBody>
          <a:bodyPr wrap="square">
            <a:spAutoFit/>
          </a:bodyPr>
          <a:lstStyle/>
          <a:p>
            <a:pPr algn="l"/>
            <a:r>
              <a:rPr lang="en-IN" sz="2400" b="1" i="0" u="none" strike="noStrike" dirty="0">
                <a:solidFill>
                  <a:srgbClr val="002060"/>
                </a:solidFill>
                <a:effectLst/>
                <a:latin typeface="Times New Roman" panose="02020603050405020304" pitchFamily="18" charset="0"/>
                <a:cs typeface="Times New Roman" panose="02020603050405020304" pitchFamily="18" charset="0"/>
              </a:rPr>
              <a:t>Postulate 5: </a:t>
            </a:r>
            <a:r>
              <a:rPr lang="en-IN" sz="2400" b="1" i="0" u="none" strike="noStrike" dirty="0">
                <a:solidFill>
                  <a:srgbClr val="C00000"/>
                </a:solidFill>
                <a:effectLst/>
                <a:latin typeface="Times New Roman" panose="02020603050405020304" pitchFamily="18" charset="0"/>
                <a:cs typeface="Times New Roman" panose="02020603050405020304" pitchFamily="18" charset="0"/>
              </a:rPr>
              <a:t>Time Evolution</a:t>
            </a:r>
          </a:p>
          <a:p>
            <a:pPr algn="l"/>
            <a:r>
              <a:rPr lang="en-IN" sz="2400" b="0" i="0" u="none" strike="noStrike" dirty="0">
                <a:solidFill>
                  <a:srgbClr val="002060"/>
                </a:solidFill>
                <a:effectLst/>
                <a:latin typeface="Times New Roman" panose="02020603050405020304" pitchFamily="18" charset="0"/>
                <a:cs typeface="Times New Roman" panose="02020603050405020304" pitchFamily="18" charset="0"/>
              </a:rPr>
              <a:t>The time evolution of the system is governed by the </a:t>
            </a:r>
            <a:r>
              <a:rPr lang="en-IN" sz="2400" i="0" u="none" strike="noStrike" dirty="0">
                <a:solidFill>
                  <a:srgbClr val="002060"/>
                </a:solidFill>
                <a:effectLst/>
                <a:latin typeface="Times New Roman" panose="02020603050405020304" pitchFamily="18" charset="0"/>
                <a:cs typeface="Times New Roman" panose="02020603050405020304" pitchFamily="18" charset="0"/>
              </a:rPr>
              <a:t>time-dependent Schrödinger equation:</a:t>
            </a:r>
            <a:endParaRPr lang="en-IN" sz="2400" b="0" i="0" u="none" strike="noStrike" dirty="0">
              <a:solidFill>
                <a:srgbClr val="002060"/>
              </a:solidFill>
              <a:effectLst/>
              <a:latin typeface="Times New Roman" panose="02020603050405020304" pitchFamily="18" charset="0"/>
              <a:cs typeface="Times New Roman" panose="02020603050405020304" pitchFamily="18" charset="0"/>
            </a:endParaRPr>
          </a:p>
          <a:p>
            <a:pPr algn="ctr"/>
            <a:r>
              <a:rPr lang="en-IN" sz="2400" b="0" i="0" u="none" strike="noStrike" dirty="0" err="1">
                <a:solidFill>
                  <a:srgbClr val="002060"/>
                </a:solidFill>
                <a:effectLst/>
                <a:latin typeface="Times New Roman" panose="02020603050405020304" pitchFamily="18" charset="0"/>
                <a:cs typeface="Times New Roman" panose="02020603050405020304" pitchFamily="18" charset="0"/>
              </a:rPr>
              <a:t>iℏ</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∂/∂t</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ψ(</a:t>
            </a:r>
            <a:r>
              <a:rPr lang="en-IN" sz="2400" b="0" i="0" u="none" strike="noStrike" dirty="0" err="1">
                <a:solidFill>
                  <a:srgbClr val="002060"/>
                </a:solidFill>
                <a:effectLst/>
                <a:latin typeface="Times New Roman" panose="02020603050405020304" pitchFamily="18" charset="0"/>
                <a:cs typeface="Times New Roman" panose="02020603050405020304" pitchFamily="18" charset="0"/>
              </a:rPr>
              <a:t>x,t</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 H^ </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ψ(</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x, t) </a:t>
            </a:r>
          </a:p>
          <a:p>
            <a:pPr algn="l"/>
            <a:r>
              <a:rPr lang="en-IN" sz="2400" b="0" i="0" u="none" strike="noStrike" dirty="0">
                <a:solidFill>
                  <a:srgbClr val="002060"/>
                </a:solidFill>
                <a:effectLst/>
                <a:latin typeface="Times New Roman" panose="02020603050405020304" pitchFamily="18" charset="0"/>
                <a:cs typeface="Times New Roman" panose="02020603050405020304" pitchFamily="18" charset="0"/>
              </a:rPr>
              <a:t>The Hamiltonian operator H^ determines how the wave function evolves with time.</a:t>
            </a:r>
          </a:p>
        </p:txBody>
      </p:sp>
      <p:sp>
        <p:nvSpPr>
          <p:cNvPr id="9" name="TextBox 8">
            <a:extLst>
              <a:ext uri="{FF2B5EF4-FFF2-40B4-BE49-F238E27FC236}">
                <a16:creationId xmlns:a16="http://schemas.microsoft.com/office/drawing/2014/main" xmlns="" id="{37C61D73-2D8F-2578-A442-2717E4A9FF3B}"/>
              </a:ext>
            </a:extLst>
          </p:cNvPr>
          <p:cNvSpPr txBox="1"/>
          <p:nvPr/>
        </p:nvSpPr>
        <p:spPr>
          <a:xfrm>
            <a:off x="94250" y="3587257"/>
            <a:ext cx="12003500" cy="1631216"/>
          </a:xfrm>
          <a:prstGeom prst="rect">
            <a:avLst/>
          </a:prstGeom>
          <a:solidFill>
            <a:schemeClr val="bg1"/>
          </a:solidFill>
          <a:ln w="28575">
            <a:solidFill>
              <a:srgbClr val="002060"/>
            </a:solidFill>
          </a:ln>
        </p:spPr>
        <p:txBody>
          <a:bodyPr wrap="square">
            <a:spAutoFit/>
          </a:bodyPr>
          <a:lstStyle/>
          <a:p>
            <a:pPr algn="ctr" eaLnBrk="1" hangingPunct="1">
              <a:buFontTx/>
              <a:buNone/>
            </a:pPr>
            <a:r>
              <a:rPr lang="en-US" altLang="en-US" sz="28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Schrödinger time independent wave equation</a:t>
            </a:r>
          </a:p>
          <a:p>
            <a:pPr algn="just" eaLnBrk="1" hangingPunct="1">
              <a:buFontTx/>
              <a:buNone/>
            </a:pPr>
            <a:r>
              <a:rPr lang="en-US"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Schrödinger wave equation is a basic wave equation of a fundamental quantum mechanics. Consider a particle of mass (m) , moving with velocity (v) and wavelength (</a:t>
            </a:r>
            <a:r>
              <a:rPr lang="el-GR"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λ</a:t>
            </a:r>
            <a:r>
              <a:rPr lang="en-US"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t>
            </a:r>
          </a:p>
          <a:p>
            <a:pPr eaLnBrk="1" hangingPunct="1">
              <a:buFontTx/>
              <a:buNone/>
            </a:pPr>
            <a:r>
              <a:rPr lang="en-US"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According to de Broglie</a:t>
            </a:r>
            <a:endParaRPr lang="en-US" sz="2400" dirty="0">
              <a:solidFill>
                <a:srgbClr val="002060"/>
              </a:solidFill>
            </a:endParaRPr>
          </a:p>
        </p:txBody>
      </p:sp>
      <p:graphicFrame>
        <p:nvGraphicFramePr>
          <p:cNvPr id="11" name="Object 3">
            <a:extLst>
              <a:ext uri="{FF2B5EF4-FFF2-40B4-BE49-F238E27FC236}">
                <a16:creationId xmlns:a16="http://schemas.microsoft.com/office/drawing/2014/main" xmlns="" id="{9A11A00A-CD73-E65D-34B4-6B08938ABFEB}"/>
              </a:ext>
            </a:extLst>
          </p:cNvPr>
          <p:cNvGraphicFramePr>
            <a:graphicFrameLocks noChangeAspect="1"/>
          </p:cNvGraphicFramePr>
          <p:nvPr>
            <p:extLst>
              <p:ext uri="{D42A27DB-BD31-4B8C-83A1-F6EECF244321}">
                <p14:modId xmlns:p14="http://schemas.microsoft.com/office/powerpoint/2010/main" val="3691055831"/>
              </p:ext>
            </p:extLst>
          </p:nvPr>
        </p:nvGraphicFramePr>
        <p:xfrm>
          <a:off x="6217920" y="4884044"/>
          <a:ext cx="2849880" cy="1815744"/>
        </p:xfrm>
        <a:graphic>
          <a:graphicData uri="http://schemas.openxmlformats.org/presentationml/2006/ole">
            <mc:AlternateContent xmlns:mc="http://schemas.openxmlformats.org/markup-compatibility/2006">
              <mc:Choice xmlns:v="urn:schemas-microsoft-com:vml" Requires="v">
                <p:oleObj spid="_x0000_s1026" name="Equation" r:id="rId3" imgW="24866600" imgH="19304000" progId="Equation.3">
                  <p:embed/>
                </p:oleObj>
              </mc:Choice>
              <mc:Fallback>
                <p:oleObj name="Equation" r:id="rId3" imgW="24866600" imgH="19304000" progId="Equation.3">
                  <p:embed/>
                  <p:pic>
                    <p:nvPicPr>
                      <p:cNvPr id="10" name="Object 3">
                        <a:extLst>
                          <a:ext uri="{FF2B5EF4-FFF2-40B4-BE49-F238E27FC236}">
                            <a16:creationId xmlns:a16="http://schemas.microsoft.com/office/drawing/2014/main" xmlns="" id="{D2C8B681-5B87-E9F1-CB97-6BF0B1F07A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7920" y="4884044"/>
                        <a:ext cx="2849880" cy="1815744"/>
                      </a:xfrm>
                      <a:prstGeom prst="rect">
                        <a:avLst/>
                      </a:prstGeom>
                      <a:solidFill>
                        <a:schemeClr val="bg1"/>
                      </a:solidFill>
                      <a:ln w="9525">
                        <a:solidFill>
                          <a:schemeClr val="bg1"/>
                        </a:solidFill>
                        <a:miter lim="800000"/>
                        <a:headEnd/>
                        <a:tailEnd/>
                      </a:ln>
                    </p:spPr>
                  </p:pic>
                </p:oleObj>
              </mc:Fallback>
            </mc:AlternateContent>
          </a:graphicData>
        </a:graphic>
      </p:graphicFrame>
    </p:spTree>
    <p:extLst>
      <p:ext uri="{BB962C8B-B14F-4D97-AF65-F5344CB8AC3E}">
        <p14:creationId xmlns:p14="http://schemas.microsoft.com/office/powerpoint/2010/main" val="717616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1748" name="Object 4">
            <a:extLst>
              <a:ext uri="{FF2B5EF4-FFF2-40B4-BE49-F238E27FC236}">
                <a16:creationId xmlns:a16="http://schemas.microsoft.com/office/drawing/2014/main" xmlns="" id="{242AF6A9-E170-79F6-078F-6C06FAA21C5B}"/>
              </a:ext>
            </a:extLst>
          </p:cNvPr>
          <p:cNvGraphicFramePr>
            <a:graphicFrameLocks noGrp="1" noChangeAspect="1"/>
          </p:cNvGraphicFramePr>
          <p:nvPr>
            <p:ph sz="quarter" idx="3"/>
            <p:extLst>
              <p:ext uri="{D42A27DB-BD31-4B8C-83A1-F6EECF244321}">
                <p14:modId xmlns:p14="http://schemas.microsoft.com/office/powerpoint/2010/main" val="39214034"/>
              </p:ext>
            </p:extLst>
          </p:nvPr>
        </p:nvGraphicFramePr>
        <p:xfrm>
          <a:off x="1030421" y="5127303"/>
          <a:ext cx="2722861" cy="744842"/>
        </p:xfrm>
        <a:graphic>
          <a:graphicData uri="http://schemas.openxmlformats.org/presentationml/2006/ole">
            <mc:AlternateContent xmlns:mc="http://schemas.openxmlformats.org/markup-compatibility/2006">
              <mc:Choice xmlns:v="urn:schemas-microsoft-com:vml" Requires="v">
                <p:oleObj spid="_x0000_s2050" name="Equation" r:id="rId3" imgW="31889700" imgH="9067800" progId="Equation.3">
                  <p:embed/>
                </p:oleObj>
              </mc:Choice>
              <mc:Fallback>
                <p:oleObj name="Equation" r:id="rId3" imgW="31889700" imgH="9067800" progId="Equation.3">
                  <p:embed/>
                  <p:pic>
                    <p:nvPicPr>
                      <p:cNvPr id="31748" name="Object 4">
                        <a:extLst>
                          <a:ext uri="{FF2B5EF4-FFF2-40B4-BE49-F238E27FC236}">
                            <a16:creationId xmlns:a16="http://schemas.microsoft.com/office/drawing/2014/main" xmlns="" id="{242AF6A9-E170-79F6-078F-6C06FAA21C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0421" y="5127303"/>
                        <a:ext cx="2722861" cy="744842"/>
                      </a:xfrm>
                      <a:prstGeom prst="rect">
                        <a:avLst/>
                      </a:prstGeom>
                      <a:solidFill>
                        <a:schemeClr val="bg1"/>
                      </a:solidFill>
                      <a:ln w="9525">
                        <a:solidFill>
                          <a:srgbClr val="002060"/>
                        </a:solidFill>
                        <a:miter lim="800000"/>
                        <a:headEnd/>
                        <a:tailEnd/>
                      </a:ln>
                    </p:spPr>
                  </p:pic>
                </p:oleObj>
              </mc:Fallback>
            </mc:AlternateContent>
          </a:graphicData>
        </a:graphic>
      </p:graphicFrame>
      <p:sp>
        <p:nvSpPr>
          <p:cNvPr id="3" name="TextBox 2">
            <a:extLst>
              <a:ext uri="{FF2B5EF4-FFF2-40B4-BE49-F238E27FC236}">
                <a16:creationId xmlns:a16="http://schemas.microsoft.com/office/drawing/2014/main" xmlns="" id="{F8A5504E-7DBE-C113-B2F3-2759C58F9007}"/>
              </a:ext>
            </a:extLst>
          </p:cNvPr>
          <p:cNvSpPr txBox="1"/>
          <p:nvPr/>
        </p:nvSpPr>
        <p:spPr>
          <a:xfrm>
            <a:off x="190148" y="5930789"/>
            <a:ext cx="4775878" cy="830997"/>
          </a:xfrm>
          <a:prstGeom prst="rect">
            <a:avLst/>
          </a:prstGeom>
          <a:solidFill>
            <a:schemeClr val="bg1"/>
          </a:solidFill>
          <a:ln w="28575">
            <a:solidFill>
              <a:srgbClr val="002060"/>
            </a:solidFill>
          </a:ln>
        </p:spPr>
        <p:txBody>
          <a:bodyPr wrap="square">
            <a:spAutoFit/>
          </a:bodyPr>
          <a:lstStyle/>
          <a:p>
            <a:pPr eaLnBrk="1" hangingPunct="1">
              <a:buFontTx/>
              <a:buNone/>
            </a:pPr>
            <a:r>
              <a:rPr lang="en-US"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Where, A – amplitude,  x - position co-ordinate, and </a:t>
            </a:r>
            <a:r>
              <a:rPr lang="el-GR"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λ</a:t>
            </a:r>
            <a:r>
              <a:rPr lang="en-US"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 wavelength </a:t>
            </a:r>
          </a:p>
        </p:txBody>
      </p:sp>
      <p:graphicFrame>
        <p:nvGraphicFramePr>
          <p:cNvPr id="4" name="Object 5">
            <a:extLst>
              <a:ext uri="{FF2B5EF4-FFF2-40B4-BE49-F238E27FC236}">
                <a16:creationId xmlns:a16="http://schemas.microsoft.com/office/drawing/2014/main" xmlns="" id="{6B51508F-6221-113E-9574-2AFF5D49D292}"/>
              </a:ext>
            </a:extLst>
          </p:cNvPr>
          <p:cNvGraphicFramePr>
            <a:graphicFrameLocks noChangeAspect="1"/>
          </p:cNvGraphicFramePr>
          <p:nvPr>
            <p:extLst>
              <p:ext uri="{D42A27DB-BD31-4B8C-83A1-F6EECF244321}">
                <p14:modId xmlns:p14="http://schemas.microsoft.com/office/powerpoint/2010/main" val="3132050924"/>
              </p:ext>
            </p:extLst>
          </p:nvPr>
        </p:nvGraphicFramePr>
        <p:xfrm>
          <a:off x="1030421" y="651063"/>
          <a:ext cx="2700169" cy="3067240"/>
        </p:xfrm>
        <a:graphic>
          <a:graphicData uri="http://schemas.openxmlformats.org/presentationml/2006/ole">
            <mc:AlternateContent xmlns:mc="http://schemas.openxmlformats.org/markup-compatibility/2006">
              <mc:Choice xmlns:v="urn:schemas-microsoft-com:vml" Requires="v">
                <p:oleObj spid="_x0000_s2051" name="Equation" r:id="rId5" imgW="35102800" imgH="38036500" progId="Equation.3">
                  <p:embed/>
                </p:oleObj>
              </mc:Choice>
              <mc:Fallback>
                <p:oleObj name="Equation" r:id="rId5" imgW="35102800" imgH="38036500" progId="Equation.3">
                  <p:embed/>
                  <p:pic>
                    <p:nvPicPr>
                      <p:cNvPr id="32771" name="Object 5">
                        <a:extLst>
                          <a:ext uri="{FF2B5EF4-FFF2-40B4-BE49-F238E27FC236}">
                            <a16:creationId xmlns:a16="http://schemas.microsoft.com/office/drawing/2014/main" xmlns="" id="{6732C7C8-4AAF-2C18-8FE6-859E5DB0F8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0421" y="651063"/>
                        <a:ext cx="2700169" cy="3067240"/>
                      </a:xfrm>
                      <a:prstGeom prst="rect">
                        <a:avLst/>
                      </a:prstGeom>
                      <a:solidFill>
                        <a:schemeClr val="bg1"/>
                      </a:solidFill>
                      <a:ln w="28575">
                        <a:solidFill>
                          <a:srgbClr val="002060"/>
                        </a:solidFill>
                        <a:miter lim="800000"/>
                        <a:headEnd/>
                        <a:tailEnd/>
                      </a:ln>
                    </p:spPr>
                  </p:pic>
                </p:oleObj>
              </mc:Fallback>
            </mc:AlternateContent>
          </a:graphicData>
        </a:graphic>
      </p:graphicFrame>
      <p:sp>
        <p:nvSpPr>
          <p:cNvPr id="6" name="Rectangle 2">
            <a:extLst>
              <a:ext uri="{FF2B5EF4-FFF2-40B4-BE49-F238E27FC236}">
                <a16:creationId xmlns:a16="http://schemas.microsoft.com/office/drawing/2014/main" xmlns="" id="{5E3431D8-0093-5996-0A92-9C80C615268B}"/>
              </a:ext>
            </a:extLst>
          </p:cNvPr>
          <p:cNvSpPr txBox="1">
            <a:spLocks noChangeArrowheads="1"/>
          </p:cNvSpPr>
          <p:nvPr/>
        </p:nvSpPr>
        <p:spPr bwMode="auto">
          <a:xfrm>
            <a:off x="5185186" y="111664"/>
            <a:ext cx="7005020" cy="746526"/>
          </a:xfrm>
          <a:prstGeom prst="rect">
            <a:avLst/>
          </a:prstGeom>
          <a:solidFill>
            <a:schemeClr val="bg1"/>
          </a:solidFill>
          <a:ln w="28575">
            <a:solidFill>
              <a:srgbClr val="002060"/>
            </a:solidFill>
          </a:ln>
          <a:effectLst/>
        </p:spPr>
        <p:txBody>
          <a:bodyPr/>
          <a:lstStyle>
            <a:lvl1pPr marL="342900" indent="-342900" algn="l" rtl="0" eaLnBrk="0" fontAlgn="base" hangingPunct="0">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eaLnBrk="1" hangingPunct="1">
              <a:lnSpc>
                <a:spcPct val="80000"/>
              </a:lnSpc>
              <a:buFontTx/>
              <a:buNone/>
              <a:defRPr/>
            </a:pPr>
            <a:r>
              <a:rPr lang="en-US" altLang="en-US" sz="2400" dirty="0">
                <a:solidFill>
                  <a:srgbClr val="002060"/>
                </a:solidFill>
                <a:latin typeface="Times New Roman" charset="0"/>
                <a:ea typeface="Times New Roman" charset="0"/>
                <a:cs typeface="Times New Roman" charset="0"/>
              </a:rPr>
              <a:t>Periodic changes in </a:t>
            </a:r>
            <a:r>
              <a:rPr lang="el-GR" altLang="en-US" sz="2400" dirty="0">
                <a:solidFill>
                  <a:srgbClr val="002060"/>
                </a:solidFill>
                <a:latin typeface="Times New Roman" charset="0"/>
                <a:ea typeface="Times New Roman" charset="0"/>
                <a:cs typeface="Times New Roman" charset="0"/>
              </a:rPr>
              <a:t>Ψ</a:t>
            </a:r>
            <a:r>
              <a:rPr lang="en-US" altLang="en-US" sz="2400" dirty="0">
                <a:solidFill>
                  <a:srgbClr val="002060"/>
                </a:solidFill>
                <a:latin typeface="Times New Roman" charset="0"/>
                <a:ea typeface="Times New Roman" charset="0"/>
                <a:cs typeface="Times New Roman" charset="0"/>
              </a:rPr>
              <a:t> are responsible for wave nature </a:t>
            </a:r>
          </a:p>
          <a:p>
            <a:pPr eaLnBrk="1" hangingPunct="1">
              <a:lnSpc>
                <a:spcPct val="80000"/>
              </a:lnSpc>
              <a:buFontTx/>
              <a:buNone/>
              <a:defRPr/>
            </a:pPr>
            <a:r>
              <a:rPr lang="en-US" altLang="en-US" sz="2400" dirty="0">
                <a:solidFill>
                  <a:srgbClr val="002060"/>
                </a:solidFill>
                <a:latin typeface="Times New Roman" charset="0"/>
                <a:ea typeface="Times New Roman" charset="0"/>
                <a:cs typeface="Times New Roman" charset="0"/>
              </a:rPr>
              <a:t>of a moving particle                 </a:t>
            </a:r>
          </a:p>
        </p:txBody>
      </p:sp>
      <p:graphicFrame>
        <p:nvGraphicFramePr>
          <p:cNvPr id="7" name="Object 3">
            <a:extLst>
              <a:ext uri="{FF2B5EF4-FFF2-40B4-BE49-F238E27FC236}">
                <a16:creationId xmlns:a16="http://schemas.microsoft.com/office/drawing/2014/main" xmlns="" id="{84CC9D0B-23B1-2515-E1CC-555114FD7D8B}"/>
              </a:ext>
            </a:extLst>
          </p:cNvPr>
          <p:cNvGraphicFramePr>
            <a:graphicFrameLocks noChangeAspect="1"/>
          </p:cNvGraphicFramePr>
          <p:nvPr>
            <p:extLst>
              <p:ext uri="{D42A27DB-BD31-4B8C-83A1-F6EECF244321}">
                <p14:modId xmlns:p14="http://schemas.microsoft.com/office/powerpoint/2010/main" val="857673940"/>
              </p:ext>
            </p:extLst>
          </p:nvPr>
        </p:nvGraphicFramePr>
        <p:xfrm>
          <a:off x="5212147" y="972873"/>
          <a:ext cx="2828972" cy="4674892"/>
        </p:xfrm>
        <a:graphic>
          <a:graphicData uri="http://schemas.openxmlformats.org/presentationml/2006/ole">
            <mc:AlternateContent xmlns:mc="http://schemas.openxmlformats.org/markup-compatibility/2006">
              <mc:Choice xmlns:v="urn:schemas-microsoft-com:vml" Requires="v">
                <p:oleObj spid="_x0000_s2052" name="Equation" r:id="rId7" imgW="38328600" imgH="59105800" progId="Equation.3">
                  <p:embed/>
                </p:oleObj>
              </mc:Choice>
              <mc:Fallback>
                <p:oleObj name="Equation" r:id="rId7" imgW="38328600" imgH="59105800" progId="Equation.3">
                  <p:embed/>
                  <p:pic>
                    <p:nvPicPr>
                      <p:cNvPr id="32773" name="Object 3">
                        <a:extLst>
                          <a:ext uri="{FF2B5EF4-FFF2-40B4-BE49-F238E27FC236}">
                            <a16:creationId xmlns:a16="http://schemas.microsoft.com/office/drawing/2014/main" xmlns="" id="{D961A0A7-B9A2-6134-D5DD-D1B4884D358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12147" y="972873"/>
                        <a:ext cx="2828972" cy="4674892"/>
                      </a:xfrm>
                      <a:prstGeom prst="rect">
                        <a:avLst/>
                      </a:prstGeom>
                      <a:solidFill>
                        <a:schemeClr val="bg1"/>
                      </a:solidFill>
                      <a:ln w="28575">
                        <a:solidFill>
                          <a:srgbClr val="002060"/>
                        </a:solidFill>
                        <a:miter lim="800000"/>
                        <a:headEnd/>
                        <a:tailEnd/>
                      </a:ln>
                    </p:spPr>
                  </p:pic>
                </p:oleObj>
              </mc:Fallback>
            </mc:AlternateContent>
          </a:graphicData>
        </a:graphic>
      </p:graphicFrame>
      <p:graphicFrame>
        <p:nvGraphicFramePr>
          <p:cNvPr id="8" name="Object 2">
            <a:extLst>
              <a:ext uri="{FF2B5EF4-FFF2-40B4-BE49-F238E27FC236}">
                <a16:creationId xmlns:a16="http://schemas.microsoft.com/office/drawing/2014/main" xmlns="" id="{2AF8A689-5940-95D4-4EDC-BF44B53CEB60}"/>
              </a:ext>
            </a:extLst>
          </p:cNvPr>
          <p:cNvGraphicFramePr>
            <a:graphicFrameLocks noChangeAspect="1"/>
          </p:cNvGraphicFramePr>
          <p:nvPr>
            <p:extLst>
              <p:ext uri="{D42A27DB-BD31-4B8C-83A1-F6EECF244321}">
                <p14:modId xmlns:p14="http://schemas.microsoft.com/office/powerpoint/2010/main" val="3705802880"/>
              </p:ext>
            </p:extLst>
          </p:nvPr>
        </p:nvGraphicFramePr>
        <p:xfrm>
          <a:off x="8175657" y="987871"/>
          <a:ext cx="3584543" cy="4649136"/>
        </p:xfrm>
        <a:graphic>
          <a:graphicData uri="http://schemas.openxmlformats.org/presentationml/2006/ole">
            <mc:AlternateContent xmlns:mc="http://schemas.openxmlformats.org/markup-compatibility/2006">
              <mc:Choice xmlns:v="urn:schemas-microsoft-com:vml" Requires="v">
                <p:oleObj spid="_x0000_s2053" name="Equation" r:id="rId9" imgW="39789100" imgH="50609500" progId="Equation.3">
                  <p:embed/>
                </p:oleObj>
              </mc:Choice>
              <mc:Fallback>
                <p:oleObj name="Equation" r:id="rId9" imgW="39789100" imgH="50609500" progId="Equation.3">
                  <p:embed/>
                  <p:pic>
                    <p:nvPicPr>
                      <p:cNvPr id="32775" name="Object 2">
                        <a:extLst>
                          <a:ext uri="{FF2B5EF4-FFF2-40B4-BE49-F238E27FC236}">
                            <a16:creationId xmlns:a16="http://schemas.microsoft.com/office/drawing/2014/main" xmlns="" id="{59A53837-B7B1-37DE-E763-2503F7C37ED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75657" y="987871"/>
                        <a:ext cx="3584543" cy="4649136"/>
                      </a:xfrm>
                      <a:prstGeom prst="rect">
                        <a:avLst/>
                      </a:prstGeom>
                      <a:solidFill>
                        <a:schemeClr val="bg1"/>
                      </a:solidFill>
                      <a:ln w="19050">
                        <a:solidFill>
                          <a:srgbClr val="002060"/>
                        </a:solidFill>
                        <a:miter lim="800000"/>
                        <a:headEnd/>
                        <a:tailEnd/>
                      </a:ln>
                    </p:spPr>
                  </p:pic>
                </p:oleObj>
              </mc:Fallback>
            </mc:AlternateContent>
          </a:graphicData>
        </a:graphic>
      </p:graphicFrame>
      <p:graphicFrame>
        <p:nvGraphicFramePr>
          <p:cNvPr id="10" name="Object 5">
            <a:extLst>
              <a:ext uri="{FF2B5EF4-FFF2-40B4-BE49-F238E27FC236}">
                <a16:creationId xmlns:a16="http://schemas.microsoft.com/office/drawing/2014/main" xmlns="" id="{D8D992E4-4733-58F2-4073-FCC821AD6848}"/>
              </a:ext>
            </a:extLst>
          </p:cNvPr>
          <p:cNvGraphicFramePr>
            <a:graphicFrameLocks noChangeAspect="1"/>
          </p:cNvGraphicFramePr>
          <p:nvPr>
            <p:extLst>
              <p:ext uri="{D42A27DB-BD31-4B8C-83A1-F6EECF244321}">
                <p14:modId xmlns:p14="http://schemas.microsoft.com/office/powerpoint/2010/main" val="3398176921"/>
              </p:ext>
            </p:extLst>
          </p:nvPr>
        </p:nvGraphicFramePr>
        <p:xfrm>
          <a:off x="5255024" y="6195843"/>
          <a:ext cx="3552408" cy="580403"/>
        </p:xfrm>
        <a:graphic>
          <a:graphicData uri="http://schemas.openxmlformats.org/presentationml/2006/ole">
            <mc:AlternateContent xmlns:mc="http://schemas.openxmlformats.org/markup-compatibility/2006">
              <mc:Choice xmlns:v="urn:schemas-microsoft-com:vml" Requires="v">
                <p:oleObj spid="_x0000_s2054" name="Equation" r:id="rId11" imgW="55587900" imgH="10236200" progId="Equation.3">
                  <p:embed/>
                </p:oleObj>
              </mc:Choice>
              <mc:Fallback>
                <p:oleObj name="Equation" r:id="rId11" imgW="55587900" imgH="10236200" progId="Equation.3">
                  <p:embed/>
                  <p:pic>
                    <p:nvPicPr>
                      <p:cNvPr id="32777" name="Object 5">
                        <a:extLst>
                          <a:ext uri="{FF2B5EF4-FFF2-40B4-BE49-F238E27FC236}">
                            <a16:creationId xmlns:a16="http://schemas.microsoft.com/office/drawing/2014/main" xmlns="" id="{EC5C4B5D-2358-576A-A622-3CC908446B4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55024" y="6195843"/>
                        <a:ext cx="3552408" cy="580403"/>
                      </a:xfrm>
                      <a:prstGeom prst="rect">
                        <a:avLst/>
                      </a:prstGeom>
                      <a:solidFill>
                        <a:schemeClr val="bg1"/>
                      </a:solidFill>
                      <a:ln w="28575">
                        <a:solidFill>
                          <a:srgbClr val="002060"/>
                        </a:solidFill>
                        <a:miter lim="800000"/>
                        <a:headEnd/>
                        <a:tailEnd/>
                      </a:ln>
                    </p:spPr>
                  </p:pic>
                </p:oleObj>
              </mc:Fallback>
            </mc:AlternateContent>
          </a:graphicData>
        </a:graphic>
      </p:graphicFrame>
      <p:sp>
        <p:nvSpPr>
          <p:cNvPr id="12" name="TextBox 11">
            <a:extLst>
              <a:ext uri="{FF2B5EF4-FFF2-40B4-BE49-F238E27FC236}">
                <a16:creationId xmlns:a16="http://schemas.microsoft.com/office/drawing/2014/main" xmlns="" id="{CD8BA5F8-D395-5E08-44F8-BB73AA077C68}"/>
              </a:ext>
            </a:extLst>
          </p:cNvPr>
          <p:cNvSpPr txBox="1"/>
          <p:nvPr/>
        </p:nvSpPr>
        <p:spPr>
          <a:xfrm>
            <a:off x="190148" y="100329"/>
            <a:ext cx="4640036" cy="461665"/>
          </a:xfrm>
          <a:prstGeom prst="rect">
            <a:avLst/>
          </a:prstGeom>
          <a:solidFill>
            <a:schemeClr val="bg1"/>
          </a:solidFill>
          <a:ln w="28575">
            <a:solidFill>
              <a:srgbClr val="002060"/>
            </a:solidFill>
          </a:ln>
        </p:spPr>
        <p:txBody>
          <a:bodyPr wrap="square">
            <a:spAutoFit/>
          </a:bodyPr>
          <a:lstStyle/>
          <a:p>
            <a:pPr eaLnBrk="1" hangingPunct="1">
              <a:buFontTx/>
              <a:buNone/>
            </a:pPr>
            <a:r>
              <a:rPr lang="en-US"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If E is the total energy of the system</a:t>
            </a:r>
          </a:p>
        </p:txBody>
      </p:sp>
      <p:sp>
        <p:nvSpPr>
          <p:cNvPr id="14" name="TextBox 13">
            <a:extLst>
              <a:ext uri="{FF2B5EF4-FFF2-40B4-BE49-F238E27FC236}">
                <a16:creationId xmlns:a16="http://schemas.microsoft.com/office/drawing/2014/main" xmlns="" id="{649D7266-D8E1-71D8-5E45-DB61F1B069CE}"/>
              </a:ext>
            </a:extLst>
          </p:cNvPr>
          <p:cNvSpPr txBox="1"/>
          <p:nvPr/>
        </p:nvSpPr>
        <p:spPr>
          <a:xfrm>
            <a:off x="151124" y="3839790"/>
            <a:ext cx="4775877" cy="1200329"/>
          </a:xfrm>
          <a:prstGeom prst="rect">
            <a:avLst/>
          </a:prstGeom>
          <a:solidFill>
            <a:schemeClr val="bg1"/>
          </a:solidFill>
          <a:ln w="28575">
            <a:solidFill>
              <a:srgbClr val="002060"/>
            </a:solidFill>
          </a:ln>
        </p:spPr>
        <p:txBody>
          <a:bodyPr wrap="square">
            <a:spAutoFit/>
          </a:bodyPr>
          <a:lstStyle/>
          <a:p>
            <a:pPr eaLnBrk="1" hangingPunct="1">
              <a:buFontTx/>
              <a:buNone/>
            </a:pPr>
            <a:r>
              <a:rPr lang="en-US"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The displacement of de Broglie wave associated with a moving particle along x-direction is given by </a:t>
            </a:r>
          </a:p>
        </p:txBody>
      </p:sp>
      <p:sp>
        <p:nvSpPr>
          <p:cNvPr id="16" name="TextBox 15">
            <a:extLst>
              <a:ext uri="{FF2B5EF4-FFF2-40B4-BE49-F238E27FC236}">
                <a16:creationId xmlns:a16="http://schemas.microsoft.com/office/drawing/2014/main" xmlns="" id="{97665DEE-E058-3E01-69EB-E2C97945920A}"/>
              </a:ext>
            </a:extLst>
          </p:cNvPr>
          <p:cNvSpPr txBox="1"/>
          <p:nvPr/>
        </p:nvSpPr>
        <p:spPr>
          <a:xfrm>
            <a:off x="5216924" y="5741616"/>
            <a:ext cx="6784928" cy="400110"/>
          </a:xfrm>
          <a:prstGeom prst="rect">
            <a:avLst/>
          </a:prstGeom>
          <a:solidFill>
            <a:schemeClr val="bg1"/>
          </a:solidFill>
          <a:ln w="28575">
            <a:solidFill>
              <a:srgbClr val="002060"/>
            </a:solidFill>
          </a:ln>
        </p:spPr>
        <p:txBody>
          <a:bodyPr wrap="square">
            <a:spAutoFit/>
          </a:bodyPr>
          <a:lstStyle/>
          <a:p>
            <a:pPr eaLnBrk="1" hangingPunct="1">
              <a:buFontTx/>
              <a:buNone/>
            </a:pPr>
            <a:r>
              <a:rPr lang="en-US" altLang="en-US" sz="20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In three dimensions, it is given by </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xmlns="" id="{9F266D4B-F9D5-5D35-D8B7-2084D8CF0E7F}"/>
              </a:ext>
            </a:extLst>
          </p:cNvPr>
          <p:cNvSpPr txBox="1">
            <a:spLocks noChangeArrowheads="1"/>
          </p:cNvSpPr>
          <p:nvPr/>
        </p:nvSpPr>
        <p:spPr bwMode="auto">
          <a:xfrm>
            <a:off x="120127" y="146473"/>
            <a:ext cx="11951745" cy="1262197"/>
          </a:xfrm>
          <a:prstGeom prst="rect">
            <a:avLst/>
          </a:prstGeom>
          <a:solidFill>
            <a:schemeClr val="bg1"/>
          </a:solidFill>
          <a:ln w="28575">
            <a:solidFill>
              <a:srgbClr val="002060"/>
            </a:solidFill>
          </a:ln>
          <a:effectLst/>
        </p:spPr>
        <p:txBody>
          <a:bodyPr/>
          <a:lstStyle>
            <a:lvl1pPr marL="342900" indent="-342900" algn="l" rtl="0" eaLnBrk="0" fontAlgn="base" hangingPunct="0">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eaLnBrk="1" hangingPunct="1">
              <a:spcBef>
                <a:spcPts val="0"/>
              </a:spcBef>
              <a:buFontTx/>
              <a:buNone/>
              <a:defRPr/>
            </a:pPr>
            <a:r>
              <a:rPr lang="en-US" altLang="en-US" sz="2800" b="1" dirty="0">
                <a:solidFill>
                  <a:srgbClr val="C00000"/>
                </a:solidFill>
                <a:latin typeface="Times New Roman" panose="02020603050405020304" pitchFamily="18" charset="0"/>
                <a:ea typeface="Times New Roman" charset="0"/>
                <a:cs typeface="Times New Roman" panose="02020603050405020304" pitchFamily="18" charset="0"/>
              </a:rPr>
              <a:t>Particle in a one-dimensional potential well (or) box </a:t>
            </a:r>
          </a:p>
          <a:p>
            <a:pPr marL="0" indent="0" eaLnBrk="1" hangingPunct="1">
              <a:spcBef>
                <a:spcPts val="0"/>
              </a:spcBef>
              <a:buFontTx/>
              <a:buNone/>
              <a:defRPr/>
            </a:pPr>
            <a:r>
              <a:rPr lang="en-US" altLang="en-US" sz="2400" dirty="0">
                <a:solidFill>
                  <a:srgbClr val="002060"/>
                </a:solidFill>
                <a:latin typeface="Times New Roman" panose="02020603050405020304" pitchFamily="18" charset="0"/>
                <a:ea typeface="Times New Roman" charset="0"/>
                <a:cs typeface="Times New Roman" panose="02020603050405020304" pitchFamily="18" charset="0"/>
              </a:rPr>
              <a:t>Consider an electron of mass ‘m’ in an infinitely deep one-dimensional potential box with a width of a ‘L’ units in which potential is zero.</a:t>
            </a:r>
          </a:p>
          <a:p>
            <a:pPr eaLnBrk="1" hangingPunct="1">
              <a:buFontTx/>
              <a:buNone/>
              <a:defRPr/>
            </a:pPr>
            <a:endParaRPr lang="en-US" altLang="en-US" sz="2800" dirty="0">
              <a:solidFill>
                <a:srgbClr val="002060"/>
              </a:solidFill>
              <a:latin typeface="Times New Roman" panose="02020603050405020304" pitchFamily="18" charset="0"/>
              <a:ea typeface="Times New Roman" charset="0"/>
              <a:cs typeface="Times New Roman" panose="02020603050405020304" pitchFamily="18" charset="0"/>
            </a:endParaRPr>
          </a:p>
        </p:txBody>
      </p:sp>
      <p:pic>
        <p:nvPicPr>
          <p:cNvPr id="4" name="Picture 3">
            <a:extLst>
              <a:ext uri="{FF2B5EF4-FFF2-40B4-BE49-F238E27FC236}">
                <a16:creationId xmlns:a16="http://schemas.microsoft.com/office/drawing/2014/main" xmlns="" id="{F7DA7FB5-AD52-4EDC-20BB-A2CDA9BA8161}"/>
              </a:ext>
            </a:extLst>
          </p:cNvPr>
          <p:cNvPicPr>
            <a:picLocks noChangeAspect="1"/>
          </p:cNvPicPr>
          <p:nvPr/>
        </p:nvPicPr>
        <p:blipFill>
          <a:blip r:embed="rId2"/>
          <a:stretch>
            <a:fillRect/>
          </a:stretch>
        </p:blipFill>
        <p:spPr>
          <a:xfrm>
            <a:off x="120128" y="1508168"/>
            <a:ext cx="11951744" cy="5137653"/>
          </a:xfrm>
          <a:prstGeom prst="rect">
            <a:avLst/>
          </a:prstGeom>
          <a:ln w="28575">
            <a:solidFill>
              <a:srgbClr val="002060"/>
            </a:solidFill>
          </a:ln>
        </p:spPr>
      </p:pic>
    </p:spTree>
    <p:extLst>
      <p:ext uri="{BB962C8B-B14F-4D97-AF65-F5344CB8AC3E}">
        <p14:creationId xmlns:p14="http://schemas.microsoft.com/office/powerpoint/2010/main" val="3453459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3">
            <a:extLst>
              <a:ext uri="{FF2B5EF4-FFF2-40B4-BE49-F238E27FC236}">
                <a16:creationId xmlns:a16="http://schemas.microsoft.com/office/drawing/2014/main" xmlns="" id="{CA4AA877-E388-2FB8-8FAB-9A8B98BE97D4}"/>
              </a:ext>
            </a:extLst>
          </p:cNvPr>
          <p:cNvSpPr>
            <a:spLocks noGrp="1" noChangeArrowheads="1"/>
          </p:cNvSpPr>
          <p:nvPr>
            <p:ph type="body" sz="half" idx="1"/>
          </p:nvPr>
        </p:nvSpPr>
        <p:spPr>
          <a:xfrm>
            <a:off x="113550" y="101604"/>
            <a:ext cx="11911914" cy="869949"/>
          </a:xfrm>
          <a:solidFill>
            <a:schemeClr val="bg1"/>
          </a:solidFill>
          <a:ln w="19050">
            <a:solidFill>
              <a:schemeClr val="tx2"/>
            </a:solidFill>
          </a:ln>
        </p:spPr>
        <p:txBody>
          <a:bodyPr>
            <a:noAutofit/>
          </a:bodyPr>
          <a:lstStyle/>
          <a:p>
            <a:pPr algn="just">
              <a:buNone/>
              <a:defRPr/>
            </a:pPr>
            <a:r>
              <a:rPr lang="en-US" altLang="en-US" sz="2400" dirty="0">
                <a:solidFill>
                  <a:srgbClr val="002060"/>
                </a:solidFill>
                <a:latin typeface="Times New Roman" charset="0"/>
                <a:ea typeface="Times New Roman" charset="0"/>
                <a:cs typeface="Times New Roman" charset="0"/>
              </a:rPr>
              <a:t>	</a:t>
            </a:r>
            <a:r>
              <a:rPr lang="en-US" altLang="en-US" dirty="0">
                <a:solidFill>
                  <a:srgbClr val="002060"/>
                </a:solidFill>
                <a:latin typeface="Times New Roman" charset="0"/>
                <a:ea typeface="Times New Roman" charset="0"/>
                <a:cs typeface="Times New Roman" charset="0"/>
              </a:rPr>
              <a:t>The motion of the electron in one dimensional box can be described by the Schrödinger's equation.</a:t>
            </a:r>
          </a:p>
          <a:p>
            <a:pPr algn="just" eaLnBrk="1" hangingPunct="1">
              <a:buFontTx/>
              <a:buNone/>
              <a:defRPr/>
            </a:pPr>
            <a:endParaRPr lang="en-US" altLang="en-US" sz="2400" dirty="0">
              <a:solidFill>
                <a:schemeClr val="accent5">
                  <a:lumMod val="10000"/>
                </a:schemeClr>
              </a:solidFill>
              <a:latin typeface="Times New Roman" charset="0"/>
              <a:ea typeface="Times New Roman" charset="0"/>
              <a:cs typeface="Times New Roman" charset="0"/>
            </a:endParaRPr>
          </a:p>
        </p:txBody>
      </p:sp>
      <p:graphicFrame>
        <p:nvGraphicFramePr>
          <p:cNvPr id="34818" name="Object 7">
            <a:extLst>
              <a:ext uri="{FF2B5EF4-FFF2-40B4-BE49-F238E27FC236}">
                <a16:creationId xmlns:a16="http://schemas.microsoft.com/office/drawing/2014/main" xmlns="" id="{0CCFC5EE-9BC8-4522-727C-AFD4783DDA1A}"/>
              </a:ext>
            </a:extLst>
          </p:cNvPr>
          <p:cNvGraphicFramePr>
            <a:graphicFrameLocks noGrp="1" noChangeAspect="1"/>
          </p:cNvGraphicFramePr>
          <p:nvPr>
            <p:ph sz="quarter" idx="3"/>
            <p:extLst>
              <p:ext uri="{D42A27DB-BD31-4B8C-83A1-F6EECF244321}">
                <p14:modId xmlns:p14="http://schemas.microsoft.com/office/powerpoint/2010/main" val="3291755949"/>
              </p:ext>
            </p:extLst>
          </p:nvPr>
        </p:nvGraphicFramePr>
        <p:xfrm>
          <a:off x="150339" y="1028703"/>
          <a:ext cx="3747616" cy="1050732"/>
        </p:xfrm>
        <a:graphic>
          <a:graphicData uri="http://schemas.openxmlformats.org/presentationml/2006/ole">
            <mc:AlternateContent xmlns:mc="http://schemas.openxmlformats.org/markup-compatibility/2006">
              <mc:Choice xmlns:v="urn:schemas-microsoft-com:vml" Requires="v">
                <p:oleObj spid="_x0000_s3074" name="Equation" r:id="rId3" imgW="33934400" imgH="9652000" progId="Equation.3">
                  <p:embed/>
                </p:oleObj>
              </mc:Choice>
              <mc:Fallback>
                <p:oleObj name="Equation" r:id="rId3" imgW="33934400" imgH="9652000" progId="Equation.3">
                  <p:embed/>
                  <p:pic>
                    <p:nvPicPr>
                      <p:cNvPr id="34818" name="Object 7">
                        <a:extLst>
                          <a:ext uri="{FF2B5EF4-FFF2-40B4-BE49-F238E27FC236}">
                            <a16:creationId xmlns:a16="http://schemas.microsoft.com/office/drawing/2014/main" xmlns="" id="{0CCFC5EE-9BC8-4522-727C-AFD4783DDA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339" y="1028703"/>
                        <a:ext cx="3747616" cy="1050732"/>
                      </a:xfrm>
                      <a:prstGeom prst="rect">
                        <a:avLst/>
                      </a:prstGeom>
                      <a:solidFill>
                        <a:schemeClr val="bg1"/>
                      </a:solidFill>
                      <a:ln w="28575">
                        <a:solidFill>
                          <a:schemeClr val="tx2"/>
                        </a:solidFill>
                        <a:miter lim="800000"/>
                        <a:headEnd/>
                        <a:tailEnd/>
                      </a:ln>
                    </p:spPr>
                  </p:pic>
                </p:oleObj>
              </mc:Fallback>
            </mc:AlternateContent>
          </a:graphicData>
        </a:graphic>
      </p:graphicFrame>
      <p:sp>
        <p:nvSpPr>
          <p:cNvPr id="80907" name="Text Box 11">
            <a:extLst>
              <a:ext uri="{FF2B5EF4-FFF2-40B4-BE49-F238E27FC236}">
                <a16:creationId xmlns:a16="http://schemas.microsoft.com/office/drawing/2014/main" xmlns="" id="{A87B6B47-9424-7F52-D1EC-D6072E882697}"/>
              </a:ext>
            </a:extLst>
          </p:cNvPr>
          <p:cNvSpPr txBox="1">
            <a:spLocks noChangeArrowheads="1"/>
          </p:cNvSpPr>
          <p:nvPr/>
        </p:nvSpPr>
        <p:spPr bwMode="auto">
          <a:xfrm>
            <a:off x="130025" y="2161817"/>
            <a:ext cx="3749674" cy="523220"/>
          </a:xfrm>
          <a:prstGeom prst="rect">
            <a:avLst/>
          </a:prstGeom>
          <a:solidFill>
            <a:schemeClr val="bg1"/>
          </a:solidFill>
          <a:ln w="19050">
            <a:solidFill>
              <a:schemeClr val="tx2"/>
            </a:solidFill>
          </a:ln>
          <a:effectLst/>
        </p:spPr>
        <p:txBody>
          <a:bodyPr wrap="square">
            <a:spAutoFit/>
          </a:bodyPr>
          <a:lstStyle/>
          <a:p>
            <a:pPr>
              <a:defRPr/>
            </a:pPr>
            <a:r>
              <a:rPr lang="en-US" altLang="en-US" sz="2800" dirty="0">
                <a:solidFill>
                  <a:schemeClr val="accent5">
                    <a:lumMod val="10000"/>
                  </a:schemeClr>
                </a:solidFill>
                <a:latin typeface="Arial" charset="0"/>
                <a:cs typeface="Arial" charset="0"/>
              </a:rPr>
              <a:t> </a:t>
            </a:r>
            <a:r>
              <a:rPr lang="en-US" altLang="en-US" sz="2000" dirty="0">
                <a:solidFill>
                  <a:schemeClr val="accent5">
                    <a:lumMod val="10000"/>
                  </a:schemeClr>
                </a:solidFill>
                <a:latin typeface="Times New Roman" charset="0"/>
                <a:ea typeface="Times New Roman" charset="0"/>
                <a:cs typeface="Times New Roman" charset="0"/>
              </a:rPr>
              <a:t>Inside the box the potential V =0</a:t>
            </a:r>
          </a:p>
        </p:txBody>
      </p:sp>
      <p:graphicFrame>
        <p:nvGraphicFramePr>
          <p:cNvPr id="34820" name="Object 12">
            <a:extLst>
              <a:ext uri="{FF2B5EF4-FFF2-40B4-BE49-F238E27FC236}">
                <a16:creationId xmlns:a16="http://schemas.microsoft.com/office/drawing/2014/main" xmlns="" id="{DFAEE649-E745-A1E3-6D86-2CD4A94E0A55}"/>
              </a:ext>
            </a:extLst>
          </p:cNvPr>
          <p:cNvGraphicFramePr>
            <a:graphicFrameLocks noChangeAspect="1"/>
          </p:cNvGraphicFramePr>
          <p:nvPr>
            <p:extLst>
              <p:ext uri="{D42A27DB-BD31-4B8C-83A1-F6EECF244321}">
                <p14:modId xmlns:p14="http://schemas.microsoft.com/office/powerpoint/2010/main" val="268722464"/>
              </p:ext>
            </p:extLst>
          </p:nvPr>
        </p:nvGraphicFramePr>
        <p:xfrm>
          <a:off x="148281" y="2792819"/>
          <a:ext cx="3749675" cy="1414462"/>
        </p:xfrm>
        <a:graphic>
          <a:graphicData uri="http://schemas.openxmlformats.org/presentationml/2006/ole">
            <mc:AlternateContent xmlns:mc="http://schemas.openxmlformats.org/markup-compatibility/2006">
              <mc:Choice xmlns:v="urn:schemas-microsoft-com:vml" Requires="v">
                <p:oleObj spid="_x0000_s3075" name="Equation" r:id="rId5" imgW="52666900" imgH="19304000" progId="Equation.3">
                  <p:embed/>
                </p:oleObj>
              </mc:Choice>
              <mc:Fallback>
                <p:oleObj name="Equation" r:id="rId5" imgW="52666900" imgH="19304000" progId="Equation.3">
                  <p:embed/>
                  <p:pic>
                    <p:nvPicPr>
                      <p:cNvPr id="34820" name="Object 12">
                        <a:extLst>
                          <a:ext uri="{FF2B5EF4-FFF2-40B4-BE49-F238E27FC236}">
                            <a16:creationId xmlns:a16="http://schemas.microsoft.com/office/drawing/2014/main" xmlns="" id="{DFAEE649-E745-A1E3-6D86-2CD4A94E0A5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281" y="2792819"/>
                        <a:ext cx="3749675" cy="1414462"/>
                      </a:xfrm>
                      <a:prstGeom prst="rect">
                        <a:avLst/>
                      </a:prstGeom>
                      <a:solidFill>
                        <a:schemeClr val="bg1"/>
                      </a:solidFill>
                      <a:ln w="28575">
                        <a:solidFill>
                          <a:schemeClr val="tx2"/>
                        </a:solidFill>
                        <a:miter lim="800000"/>
                        <a:headEnd/>
                        <a:tailEnd/>
                      </a:ln>
                    </p:spPr>
                  </p:pic>
                </p:oleObj>
              </mc:Fallback>
            </mc:AlternateContent>
          </a:graphicData>
        </a:graphic>
      </p:graphicFrame>
      <p:graphicFrame>
        <p:nvGraphicFramePr>
          <p:cNvPr id="34821" name="Object 16">
            <a:extLst>
              <a:ext uri="{FF2B5EF4-FFF2-40B4-BE49-F238E27FC236}">
                <a16:creationId xmlns:a16="http://schemas.microsoft.com/office/drawing/2014/main" xmlns="" id="{24D9C045-6FC6-2AA6-6218-6DE8AFCB663A}"/>
              </a:ext>
            </a:extLst>
          </p:cNvPr>
          <p:cNvGraphicFramePr>
            <a:graphicFrameLocks noGrp="1" noChangeAspect="1"/>
          </p:cNvGraphicFramePr>
          <p:nvPr>
            <p:ph sz="quarter" idx="2"/>
            <p:extLst>
              <p:ext uri="{D42A27DB-BD31-4B8C-83A1-F6EECF244321}">
                <p14:modId xmlns:p14="http://schemas.microsoft.com/office/powerpoint/2010/main" val="2127807574"/>
              </p:ext>
            </p:extLst>
          </p:nvPr>
        </p:nvGraphicFramePr>
        <p:xfrm>
          <a:off x="182411" y="5049836"/>
          <a:ext cx="3697288" cy="393700"/>
        </p:xfrm>
        <a:graphic>
          <a:graphicData uri="http://schemas.openxmlformats.org/presentationml/2006/ole">
            <mc:AlternateContent xmlns:mc="http://schemas.openxmlformats.org/markup-compatibility/2006">
              <mc:Choice xmlns:v="urn:schemas-microsoft-com:vml" Requires="v">
                <p:oleObj spid="_x0000_s3076" name="Equation" r:id="rId7" imgW="36283900" imgH="4686300" progId="Equation.3">
                  <p:embed/>
                </p:oleObj>
              </mc:Choice>
              <mc:Fallback>
                <p:oleObj name="Equation" r:id="rId7" imgW="36283900" imgH="4686300" progId="Equation.3">
                  <p:embed/>
                  <p:pic>
                    <p:nvPicPr>
                      <p:cNvPr id="34821" name="Object 16">
                        <a:extLst>
                          <a:ext uri="{FF2B5EF4-FFF2-40B4-BE49-F238E27FC236}">
                            <a16:creationId xmlns:a16="http://schemas.microsoft.com/office/drawing/2014/main" xmlns="" id="{24D9C045-6FC6-2AA6-6218-6DE8AFCB663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411" y="5049836"/>
                        <a:ext cx="3697288" cy="393700"/>
                      </a:xfrm>
                      <a:prstGeom prst="rect">
                        <a:avLst/>
                      </a:prstGeom>
                      <a:solidFill>
                        <a:schemeClr val="bg1"/>
                      </a:solidFill>
                      <a:ln w="9525">
                        <a:solidFill>
                          <a:schemeClr val="tx2"/>
                        </a:solidFill>
                        <a:miter lim="800000"/>
                        <a:headEnd/>
                        <a:tailEnd/>
                      </a:ln>
                    </p:spPr>
                  </p:pic>
                </p:oleObj>
              </mc:Fallback>
            </mc:AlternateContent>
          </a:graphicData>
        </a:graphic>
      </p:graphicFrame>
      <p:sp>
        <p:nvSpPr>
          <p:cNvPr id="80915" name="Rectangle 19">
            <a:extLst>
              <a:ext uri="{FF2B5EF4-FFF2-40B4-BE49-F238E27FC236}">
                <a16:creationId xmlns:a16="http://schemas.microsoft.com/office/drawing/2014/main" xmlns="" id="{5D8A3BE4-76D9-DE6D-D97C-DE59EECACBCB}"/>
              </a:ext>
            </a:extLst>
          </p:cNvPr>
          <p:cNvSpPr>
            <a:spLocks noChangeArrowheads="1"/>
          </p:cNvSpPr>
          <p:nvPr/>
        </p:nvSpPr>
        <p:spPr bwMode="auto">
          <a:xfrm>
            <a:off x="166536" y="4274944"/>
            <a:ext cx="3713163" cy="708025"/>
          </a:xfrm>
          <a:prstGeom prst="rect">
            <a:avLst/>
          </a:prstGeom>
          <a:solidFill>
            <a:schemeClr val="bg1"/>
          </a:solidFill>
          <a:ln w="19050">
            <a:solidFill>
              <a:schemeClr val="tx2"/>
            </a:solidFill>
          </a:ln>
          <a:effectLst/>
        </p:spPr>
        <p:txBody>
          <a:bodyPr>
            <a:spAutoFit/>
          </a:bodyPr>
          <a:lstStyle/>
          <a:p>
            <a:pPr>
              <a:defRPr/>
            </a:pPr>
            <a:r>
              <a:rPr lang="en-US" altLang="en-US" sz="2000" dirty="0">
                <a:solidFill>
                  <a:srgbClr val="002060"/>
                </a:solidFill>
                <a:latin typeface="Times New Roman" charset="0"/>
                <a:ea typeface="Times New Roman" charset="0"/>
                <a:cs typeface="Times New Roman" charset="0"/>
              </a:rPr>
              <a:t>The solution to above equation  can be written as</a:t>
            </a:r>
          </a:p>
        </p:txBody>
      </p:sp>
      <p:sp>
        <p:nvSpPr>
          <p:cNvPr id="8" name="Text Box 18">
            <a:extLst>
              <a:ext uri="{FF2B5EF4-FFF2-40B4-BE49-F238E27FC236}">
                <a16:creationId xmlns:a16="http://schemas.microsoft.com/office/drawing/2014/main" xmlns="" id="{26EDEF18-ADB4-76E4-F629-24686569979F}"/>
              </a:ext>
            </a:extLst>
          </p:cNvPr>
          <p:cNvSpPr txBox="1">
            <a:spLocks noChangeArrowheads="1"/>
          </p:cNvSpPr>
          <p:nvPr/>
        </p:nvSpPr>
        <p:spPr bwMode="auto">
          <a:xfrm>
            <a:off x="182412" y="5511199"/>
            <a:ext cx="3747616" cy="1323439"/>
          </a:xfrm>
          <a:prstGeom prst="rect">
            <a:avLst/>
          </a:prstGeom>
          <a:solidFill>
            <a:schemeClr val="bg1"/>
          </a:solidFill>
          <a:ln w="19050">
            <a:solidFill>
              <a:schemeClr val="tx2"/>
            </a:solidFill>
          </a:ln>
          <a:effectLst/>
        </p:spPr>
        <p:txBody>
          <a:bodyPr wrap="square">
            <a:spAutoFit/>
          </a:bodyPr>
          <a:lstStyle/>
          <a:p>
            <a:pPr>
              <a:defRPr/>
            </a:pPr>
            <a:r>
              <a:rPr lang="en-US" altLang="en-US" sz="2000" dirty="0">
                <a:solidFill>
                  <a:srgbClr val="002060"/>
                </a:solidFill>
                <a:latin typeface="Times New Roman" charset="0"/>
                <a:ea typeface="Times New Roman" charset="0"/>
                <a:cs typeface="Times New Roman" charset="0"/>
              </a:rPr>
              <a:t>Where, A, B and K are unknown constants and to calculate them, it is necessary to apply boundary conditions.</a:t>
            </a:r>
          </a:p>
        </p:txBody>
      </p:sp>
      <p:graphicFrame>
        <p:nvGraphicFramePr>
          <p:cNvPr id="3" name="Object 7">
            <a:extLst>
              <a:ext uri="{FF2B5EF4-FFF2-40B4-BE49-F238E27FC236}">
                <a16:creationId xmlns:a16="http://schemas.microsoft.com/office/drawing/2014/main" xmlns="" id="{6AD63B1A-BCEA-5997-9C88-9DA2A1B54640}"/>
              </a:ext>
            </a:extLst>
          </p:cNvPr>
          <p:cNvGraphicFramePr>
            <a:graphicFrameLocks noChangeAspect="1"/>
          </p:cNvGraphicFramePr>
          <p:nvPr>
            <p:extLst>
              <p:ext uri="{D42A27DB-BD31-4B8C-83A1-F6EECF244321}">
                <p14:modId xmlns:p14="http://schemas.microsoft.com/office/powerpoint/2010/main" val="1840927242"/>
              </p:ext>
            </p:extLst>
          </p:nvPr>
        </p:nvGraphicFramePr>
        <p:xfrm>
          <a:off x="6809864" y="5897554"/>
          <a:ext cx="2904220" cy="911683"/>
        </p:xfrm>
        <a:graphic>
          <a:graphicData uri="http://schemas.openxmlformats.org/presentationml/2006/ole">
            <mc:AlternateContent xmlns:mc="http://schemas.openxmlformats.org/markup-compatibility/2006">
              <mc:Choice xmlns:v="urn:schemas-microsoft-com:vml" Requires="v">
                <p:oleObj spid="_x0000_s3077" name="Equation" r:id="rId9" imgW="27203400" imgH="9067800" progId="Equation.3">
                  <p:embed/>
                </p:oleObj>
              </mc:Choice>
              <mc:Fallback>
                <p:oleObj name="Equation" r:id="rId9" imgW="27203400" imgH="9067800" progId="Equation.3">
                  <p:embed/>
                  <p:pic>
                    <p:nvPicPr>
                      <p:cNvPr id="35845" name="Object 7">
                        <a:extLst>
                          <a:ext uri="{FF2B5EF4-FFF2-40B4-BE49-F238E27FC236}">
                            <a16:creationId xmlns:a16="http://schemas.microsoft.com/office/drawing/2014/main" xmlns="" id="{E27D3382-C382-658B-56B9-659849A73A4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09864" y="5897554"/>
                        <a:ext cx="2904220" cy="911683"/>
                      </a:xfrm>
                      <a:prstGeom prst="rect">
                        <a:avLst/>
                      </a:prstGeom>
                      <a:solidFill>
                        <a:schemeClr val="bg1"/>
                      </a:solidFill>
                      <a:ln w="9525">
                        <a:solidFill>
                          <a:schemeClr val="tx2"/>
                        </a:solidFill>
                        <a:miter lim="800000"/>
                        <a:headEnd/>
                        <a:tailEnd/>
                      </a:ln>
                    </p:spPr>
                  </p:pic>
                </p:oleObj>
              </mc:Fallback>
            </mc:AlternateContent>
          </a:graphicData>
        </a:graphic>
      </p:graphicFrame>
      <p:sp>
        <p:nvSpPr>
          <p:cNvPr id="5" name="TextBox 4">
            <a:extLst>
              <a:ext uri="{FF2B5EF4-FFF2-40B4-BE49-F238E27FC236}">
                <a16:creationId xmlns:a16="http://schemas.microsoft.com/office/drawing/2014/main" xmlns="" id="{F74B9CF0-7DED-C3A9-8243-822EC105490B}"/>
              </a:ext>
            </a:extLst>
          </p:cNvPr>
          <p:cNvSpPr txBox="1"/>
          <p:nvPr/>
        </p:nvSpPr>
        <p:spPr>
          <a:xfrm>
            <a:off x="3988630" y="1003303"/>
            <a:ext cx="8036834" cy="4819781"/>
          </a:xfrm>
          <a:prstGeom prst="rect">
            <a:avLst/>
          </a:prstGeom>
          <a:solidFill>
            <a:schemeClr val="bg1"/>
          </a:solidFill>
          <a:ln w="19050">
            <a:solidFill>
              <a:schemeClr val="tx2"/>
            </a:solidFill>
          </a:ln>
        </p:spPr>
        <p:txBody>
          <a:bodyPr wrap="square">
            <a:spAutoFit/>
          </a:bodyPr>
          <a:lstStyle/>
          <a:p>
            <a:pPr marL="0" indent="0">
              <a:lnSpc>
                <a:spcPct val="80000"/>
              </a:lnSpc>
              <a:buNone/>
              <a:defRPr/>
            </a:pPr>
            <a:r>
              <a:rPr lang="en-US" altLang="en-US" sz="2400" dirty="0">
                <a:solidFill>
                  <a:srgbClr val="002060"/>
                </a:solidFill>
                <a:latin typeface="Times New Roman" charset="0"/>
                <a:ea typeface="Times New Roman" charset="0"/>
                <a:cs typeface="Times New Roman" charset="0"/>
              </a:rPr>
              <a:t>At,  X = 0, </a:t>
            </a:r>
            <a:r>
              <a:rPr lang="en-US" altLang="en-US" sz="2400" dirty="0">
                <a:solidFill>
                  <a:srgbClr val="002060"/>
                </a:solidFill>
                <a:latin typeface="Times New Roman" panose="02020603050405020304" pitchFamily="18" charset="0"/>
                <a:cs typeface="Times New Roman" panose="02020603050405020304" pitchFamily="18" charset="0"/>
              </a:rPr>
              <a:t>V(x) = ∞,  </a:t>
            </a:r>
            <a:r>
              <a:rPr lang="en-US" altLang="en-US" sz="2400" dirty="0">
                <a:solidFill>
                  <a:srgbClr val="002060"/>
                </a:solidFill>
                <a:latin typeface="Times New Roman" charset="0"/>
                <a:ea typeface="Times New Roman" charset="0"/>
                <a:cs typeface="Times New Roman" charset="0"/>
              </a:rPr>
              <a:t>the electron wave function </a:t>
            </a:r>
            <a:r>
              <a:rPr lang="el-GR" altLang="en-US" sz="2400" dirty="0">
                <a:solidFill>
                  <a:srgbClr val="002060"/>
                </a:solidFill>
                <a:latin typeface="Times New Roman" charset="0"/>
                <a:ea typeface="Times New Roman" charset="0"/>
                <a:cs typeface="Times New Roman" charset="0"/>
              </a:rPr>
              <a:t>Ψ</a:t>
            </a:r>
            <a:r>
              <a:rPr lang="en-US" altLang="en-US" sz="2400" dirty="0">
                <a:solidFill>
                  <a:srgbClr val="002060"/>
                </a:solidFill>
                <a:latin typeface="Times New Roman" charset="0"/>
                <a:ea typeface="Times New Roman" charset="0"/>
                <a:cs typeface="Times New Roman" charset="0"/>
              </a:rPr>
              <a:t>(x) = 0 -- (1)</a:t>
            </a:r>
          </a:p>
          <a:p>
            <a:pPr>
              <a:lnSpc>
                <a:spcPct val="80000"/>
              </a:lnSpc>
              <a:buNone/>
              <a:defRPr/>
            </a:pPr>
            <a:r>
              <a:rPr lang="en-US" altLang="en-US" sz="2400" dirty="0">
                <a:solidFill>
                  <a:srgbClr val="002060"/>
                </a:solidFill>
                <a:latin typeface="Times New Roman" charset="0"/>
                <a:ea typeface="Times New Roman" charset="0"/>
                <a:cs typeface="Times New Roman" charset="0"/>
              </a:rPr>
              <a:t>       X = L, </a:t>
            </a:r>
            <a:r>
              <a:rPr lang="en-US" altLang="en-US" sz="2400" dirty="0">
                <a:solidFill>
                  <a:srgbClr val="002060"/>
                </a:solidFill>
                <a:latin typeface="Times New Roman" panose="02020603050405020304" pitchFamily="18" charset="0"/>
                <a:cs typeface="Times New Roman" panose="02020603050405020304" pitchFamily="18" charset="0"/>
              </a:rPr>
              <a:t>V(x) = ∞,  </a:t>
            </a:r>
            <a:r>
              <a:rPr lang="en-US" altLang="en-US" sz="2400" dirty="0">
                <a:solidFill>
                  <a:srgbClr val="002060"/>
                </a:solidFill>
                <a:latin typeface="Times New Roman" charset="0"/>
                <a:ea typeface="Times New Roman" charset="0"/>
                <a:cs typeface="Times New Roman" charset="0"/>
              </a:rPr>
              <a:t>the electron wave function </a:t>
            </a:r>
            <a:r>
              <a:rPr lang="el-GR" altLang="en-US" sz="2400" dirty="0">
                <a:solidFill>
                  <a:srgbClr val="002060"/>
                </a:solidFill>
                <a:latin typeface="Times New Roman" charset="0"/>
                <a:ea typeface="Times New Roman" charset="0"/>
                <a:cs typeface="Times New Roman" charset="0"/>
              </a:rPr>
              <a:t>Ψ</a:t>
            </a:r>
            <a:r>
              <a:rPr lang="en-US" altLang="en-US" sz="2400" dirty="0">
                <a:solidFill>
                  <a:srgbClr val="002060"/>
                </a:solidFill>
                <a:latin typeface="Times New Roman" charset="0"/>
                <a:ea typeface="Times New Roman" charset="0"/>
                <a:cs typeface="Times New Roman" charset="0"/>
              </a:rPr>
              <a:t>(x) = 0 -- (2)</a:t>
            </a:r>
          </a:p>
          <a:p>
            <a:pPr marL="0" indent="0" algn="ctr">
              <a:lnSpc>
                <a:spcPct val="80000"/>
              </a:lnSpc>
              <a:buNone/>
              <a:defRPr/>
            </a:pPr>
            <a:endParaRPr lang="en-US" altLang="en-US" sz="2400" dirty="0">
              <a:solidFill>
                <a:srgbClr val="002060"/>
              </a:solidFill>
              <a:latin typeface="Times New Roman" charset="0"/>
              <a:ea typeface="Times New Roman" charset="0"/>
              <a:cs typeface="Times New Roman" charset="0"/>
            </a:endParaRPr>
          </a:p>
          <a:p>
            <a:pPr marL="0" indent="0" algn="ctr">
              <a:lnSpc>
                <a:spcPct val="80000"/>
              </a:lnSpc>
              <a:buNone/>
              <a:defRPr/>
            </a:pPr>
            <a:r>
              <a:rPr lang="en-US" altLang="en-US" sz="2400" dirty="0">
                <a:solidFill>
                  <a:srgbClr val="002060"/>
                </a:solidFill>
                <a:latin typeface="Times New Roman" charset="0"/>
                <a:ea typeface="Times New Roman" charset="0"/>
                <a:cs typeface="Times New Roman" charset="0"/>
              </a:rPr>
              <a:t>Applying 1</a:t>
            </a:r>
            <a:r>
              <a:rPr lang="en-US" altLang="en-US" sz="2400" baseline="30000" dirty="0">
                <a:solidFill>
                  <a:srgbClr val="002060"/>
                </a:solidFill>
                <a:latin typeface="Times New Roman" charset="0"/>
                <a:ea typeface="Times New Roman" charset="0"/>
                <a:cs typeface="Times New Roman" charset="0"/>
              </a:rPr>
              <a:t>st</a:t>
            </a:r>
            <a:r>
              <a:rPr lang="en-US" altLang="en-US" sz="2400" dirty="0">
                <a:solidFill>
                  <a:srgbClr val="002060"/>
                </a:solidFill>
                <a:latin typeface="Times New Roman" charset="0"/>
                <a:ea typeface="Times New Roman" charset="0"/>
                <a:cs typeface="Times New Roman" charset="0"/>
              </a:rPr>
              <a:t> boundary conditions to solution  </a:t>
            </a:r>
          </a:p>
          <a:p>
            <a:pPr marL="0" indent="0" algn="ctr">
              <a:lnSpc>
                <a:spcPct val="80000"/>
              </a:lnSpc>
              <a:buNone/>
              <a:defRPr/>
            </a:pPr>
            <a:r>
              <a:rPr lang="en-US" altLang="en-US" sz="2400" dirty="0">
                <a:solidFill>
                  <a:srgbClr val="002060"/>
                </a:solidFill>
                <a:latin typeface="Times New Roman" charset="0"/>
                <a:ea typeface="Times New Roman" charset="0"/>
                <a:cs typeface="Times New Roman" charset="0"/>
              </a:rPr>
              <a:t>0 = A Sin k(0) + B Cos k(0)	</a:t>
            </a:r>
          </a:p>
          <a:p>
            <a:pPr marL="0" indent="0" algn="ctr">
              <a:lnSpc>
                <a:spcPct val="80000"/>
              </a:lnSpc>
              <a:buNone/>
              <a:defRPr/>
            </a:pPr>
            <a:r>
              <a:rPr lang="en-US" altLang="en-US" sz="2400" dirty="0">
                <a:solidFill>
                  <a:srgbClr val="002060"/>
                </a:solidFill>
                <a:latin typeface="Times New Roman" charset="0"/>
                <a:ea typeface="Times New Roman" charset="0"/>
                <a:cs typeface="Times New Roman" charset="0"/>
              </a:rPr>
              <a:t>B = 0</a:t>
            </a:r>
          </a:p>
          <a:p>
            <a:pPr marL="0" indent="0" algn="ctr">
              <a:lnSpc>
                <a:spcPct val="80000"/>
              </a:lnSpc>
              <a:buNone/>
              <a:defRPr/>
            </a:pPr>
            <a:endParaRPr lang="en-US" altLang="en-US" sz="2400" dirty="0">
              <a:solidFill>
                <a:srgbClr val="002060"/>
              </a:solidFill>
              <a:latin typeface="Times New Roman" charset="0"/>
              <a:ea typeface="Times New Roman" charset="0"/>
              <a:cs typeface="Times New Roman" charset="0"/>
            </a:endParaRPr>
          </a:p>
          <a:p>
            <a:pPr marL="0" indent="0" algn="ctr">
              <a:lnSpc>
                <a:spcPct val="80000"/>
              </a:lnSpc>
              <a:buNone/>
              <a:defRPr/>
            </a:pPr>
            <a:r>
              <a:rPr lang="en-US" altLang="en-US" sz="2400" dirty="0">
                <a:solidFill>
                  <a:srgbClr val="002060"/>
                </a:solidFill>
                <a:latin typeface="Times New Roman" charset="0"/>
                <a:ea typeface="Times New Roman" charset="0"/>
                <a:cs typeface="Times New Roman" charset="0"/>
              </a:rPr>
              <a:t>Substitute B value solution, </a:t>
            </a:r>
            <a:r>
              <a:rPr lang="el-GR" altLang="en-US" sz="2400" dirty="0">
                <a:solidFill>
                  <a:srgbClr val="002060"/>
                </a:solidFill>
                <a:latin typeface="Times New Roman" charset="0"/>
                <a:ea typeface="Times New Roman" charset="0"/>
                <a:cs typeface="Times New Roman" charset="0"/>
              </a:rPr>
              <a:t>Ψ</a:t>
            </a:r>
            <a:r>
              <a:rPr lang="en-US" altLang="en-US" sz="2400" dirty="0">
                <a:solidFill>
                  <a:srgbClr val="002060"/>
                </a:solidFill>
                <a:latin typeface="Times New Roman" charset="0"/>
                <a:ea typeface="Times New Roman" charset="0"/>
                <a:cs typeface="Times New Roman" charset="0"/>
              </a:rPr>
              <a:t>(x) = A Sin </a:t>
            </a:r>
            <a:r>
              <a:rPr lang="en-US" altLang="en-US" sz="2400" dirty="0" err="1">
                <a:solidFill>
                  <a:srgbClr val="002060"/>
                </a:solidFill>
                <a:latin typeface="Times New Roman" charset="0"/>
                <a:ea typeface="Times New Roman" charset="0"/>
                <a:cs typeface="Times New Roman" charset="0"/>
              </a:rPr>
              <a:t>kx</a:t>
            </a:r>
            <a:endParaRPr lang="en-US" altLang="en-US" sz="2400" dirty="0">
              <a:solidFill>
                <a:srgbClr val="002060"/>
              </a:solidFill>
              <a:latin typeface="Times New Roman" charset="0"/>
              <a:ea typeface="Times New Roman" charset="0"/>
              <a:cs typeface="Times New Roman" charset="0"/>
            </a:endParaRPr>
          </a:p>
          <a:p>
            <a:pPr marL="0" indent="0" algn="ctr">
              <a:lnSpc>
                <a:spcPct val="80000"/>
              </a:lnSpc>
              <a:buNone/>
              <a:defRPr/>
            </a:pPr>
            <a:r>
              <a:rPr lang="en-US"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Applying second boundary condition</a:t>
            </a:r>
          </a:p>
          <a:p>
            <a:pPr marL="0" indent="0" algn="ctr">
              <a:lnSpc>
                <a:spcPct val="80000"/>
              </a:lnSpc>
              <a:buNone/>
              <a:defRPr/>
            </a:pPr>
            <a:r>
              <a:rPr lang="en-US" altLang="en-US" sz="2400" dirty="0">
                <a:solidFill>
                  <a:srgbClr val="002060"/>
                </a:solidFill>
                <a:latin typeface="Times New Roman" charset="0"/>
                <a:ea typeface="Times New Roman" charset="0"/>
                <a:cs typeface="Times New Roman" charset="0"/>
              </a:rPr>
              <a:t>0 = A Sin k(L) + (0) Cos k(L)</a:t>
            </a:r>
          </a:p>
          <a:p>
            <a:pPr marL="0" indent="0" algn="ctr">
              <a:lnSpc>
                <a:spcPct val="80000"/>
              </a:lnSpc>
              <a:buNone/>
              <a:defRPr/>
            </a:pPr>
            <a:r>
              <a:rPr lang="en-US" altLang="en-US" sz="2400" dirty="0">
                <a:solidFill>
                  <a:srgbClr val="002060"/>
                </a:solidFill>
                <a:latin typeface="Times New Roman" charset="0"/>
                <a:ea typeface="Times New Roman" charset="0"/>
                <a:cs typeface="Times New Roman" charset="0"/>
              </a:rPr>
              <a:t>0 = A Sin k(L)</a:t>
            </a:r>
          </a:p>
          <a:p>
            <a:pPr marL="0" indent="0" algn="ctr">
              <a:lnSpc>
                <a:spcPct val="80000"/>
              </a:lnSpc>
              <a:buNone/>
              <a:defRPr/>
            </a:pPr>
            <a:r>
              <a:rPr lang="en-US" altLang="en-US" sz="2400" dirty="0">
                <a:solidFill>
                  <a:srgbClr val="002060"/>
                </a:solidFill>
                <a:latin typeface="Times New Roman" charset="0"/>
                <a:ea typeface="Times New Roman" charset="0"/>
                <a:cs typeface="Times New Roman" charset="0"/>
              </a:rPr>
              <a:t>0 = Sin k(L)</a:t>
            </a:r>
          </a:p>
          <a:p>
            <a:pPr marL="0" indent="0" algn="ctr">
              <a:lnSpc>
                <a:spcPct val="80000"/>
              </a:lnSpc>
              <a:buNone/>
              <a:defRPr/>
            </a:pPr>
            <a:r>
              <a:rPr lang="en-US" altLang="en-US" sz="2400" dirty="0" err="1">
                <a:solidFill>
                  <a:srgbClr val="002060"/>
                </a:solidFill>
                <a:latin typeface="Times New Roman" charset="0"/>
                <a:ea typeface="Times New Roman" charset="0"/>
                <a:cs typeface="Times New Roman" charset="0"/>
              </a:rPr>
              <a:t>kL</a:t>
            </a:r>
            <a:r>
              <a:rPr lang="en-US" altLang="en-US" sz="2400" dirty="0">
                <a:solidFill>
                  <a:srgbClr val="002060"/>
                </a:solidFill>
                <a:latin typeface="Times New Roman" charset="0"/>
                <a:ea typeface="Times New Roman" charset="0"/>
                <a:cs typeface="Times New Roman" charset="0"/>
              </a:rPr>
              <a:t> = n𝜋</a:t>
            </a:r>
          </a:p>
          <a:p>
            <a:pPr marL="0" indent="0" algn="ctr">
              <a:lnSpc>
                <a:spcPct val="80000"/>
              </a:lnSpc>
              <a:buNone/>
              <a:defRPr/>
            </a:pPr>
            <a:r>
              <a:rPr lang="en-US" altLang="en-US" sz="2400" dirty="0">
                <a:solidFill>
                  <a:srgbClr val="002060"/>
                </a:solidFill>
                <a:latin typeface="Times New Roman" charset="0"/>
                <a:ea typeface="Times New Roman" charset="0"/>
                <a:cs typeface="Times New Roman" charset="0"/>
              </a:rPr>
              <a:t>k = n𝜋/L</a:t>
            </a:r>
          </a:p>
          <a:p>
            <a:pPr marL="0" indent="0" algn="ctr">
              <a:lnSpc>
                <a:spcPct val="80000"/>
              </a:lnSpc>
              <a:buNone/>
              <a:defRPr/>
            </a:pPr>
            <a:endParaRPr lang="en-US" altLang="en-US" sz="2400" dirty="0">
              <a:solidFill>
                <a:srgbClr val="002060"/>
              </a:solidFill>
              <a:latin typeface="Times New Roman" charset="0"/>
              <a:ea typeface="Times New Roman" charset="0"/>
              <a:cs typeface="Times New Roman" charset="0"/>
            </a:endParaRPr>
          </a:p>
          <a:p>
            <a:pPr marL="0" indent="0" algn="ctr">
              <a:lnSpc>
                <a:spcPct val="80000"/>
              </a:lnSpc>
              <a:buNone/>
              <a:defRPr/>
            </a:pPr>
            <a:r>
              <a:rPr lang="en-US"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Substitute B and k value in solution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1" name="Object 6">
            <a:extLst>
              <a:ext uri="{FF2B5EF4-FFF2-40B4-BE49-F238E27FC236}">
                <a16:creationId xmlns:a16="http://schemas.microsoft.com/office/drawing/2014/main" xmlns="" id="{7E81CE4B-D0E5-6B81-F3C1-FF5AAEEECD02}"/>
              </a:ext>
            </a:extLst>
          </p:cNvPr>
          <p:cNvGraphicFramePr>
            <a:graphicFrameLocks noGrp="1" noChangeAspect="1"/>
          </p:cNvGraphicFramePr>
          <p:nvPr>
            <p:ph sz="half" idx="1"/>
            <p:extLst>
              <p:ext uri="{D42A27DB-BD31-4B8C-83A1-F6EECF244321}">
                <p14:modId xmlns:p14="http://schemas.microsoft.com/office/powerpoint/2010/main" val="1019855746"/>
              </p:ext>
            </p:extLst>
          </p:nvPr>
        </p:nvGraphicFramePr>
        <p:xfrm>
          <a:off x="169551" y="1423303"/>
          <a:ext cx="3727622" cy="5256728"/>
        </p:xfrm>
        <a:graphic>
          <a:graphicData uri="http://schemas.openxmlformats.org/presentationml/2006/ole">
            <mc:AlternateContent xmlns:mc="http://schemas.openxmlformats.org/markup-compatibility/2006">
              <mc:Choice xmlns:v="urn:schemas-microsoft-com:vml" Requires="v">
                <p:oleObj spid="_x0000_s4098" name="Equation" r:id="rId3" imgW="37744400" imgH="58508900" progId="Equation.3">
                  <p:embed/>
                </p:oleObj>
              </mc:Choice>
              <mc:Fallback>
                <p:oleObj name="Equation" r:id="rId3" imgW="37744400" imgH="58508900" progId="Equation.3">
                  <p:embed/>
                  <p:pic>
                    <p:nvPicPr>
                      <p:cNvPr id="35841" name="Object 6">
                        <a:extLst>
                          <a:ext uri="{FF2B5EF4-FFF2-40B4-BE49-F238E27FC236}">
                            <a16:creationId xmlns:a16="http://schemas.microsoft.com/office/drawing/2014/main" xmlns="" id="{7E81CE4B-D0E5-6B81-F3C1-FF5AAEEECD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551" y="1423303"/>
                        <a:ext cx="3727622" cy="5256728"/>
                      </a:xfrm>
                      <a:prstGeom prst="rect">
                        <a:avLst/>
                      </a:prstGeom>
                      <a:solidFill>
                        <a:schemeClr val="bg1"/>
                      </a:solidFill>
                      <a:ln w="28575">
                        <a:solidFill>
                          <a:schemeClr val="tx2"/>
                        </a:solidFill>
                        <a:miter lim="800000"/>
                        <a:headEnd/>
                        <a:tailEnd/>
                      </a:ln>
                    </p:spPr>
                  </p:pic>
                </p:oleObj>
              </mc:Fallback>
            </mc:AlternateContent>
          </a:graphicData>
        </a:graphic>
      </p:graphicFrame>
      <p:sp>
        <p:nvSpPr>
          <p:cNvPr id="7" name="Text Box 22">
            <a:extLst>
              <a:ext uri="{FF2B5EF4-FFF2-40B4-BE49-F238E27FC236}">
                <a16:creationId xmlns:a16="http://schemas.microsoft.com/office/drawing/2014/main" xmlns="" id="{6B3F42C7-C409-F299-3FBF-C5E2619260C8}"/>
              </a:ext>
            </a:extLst>
          </p:cNvPr>
          <p:cNvSpPr txBox="1">
            <a:spLocks noChangeArrowheads="1"/>
          </p:cNvSpPr>
          <p:nvPr/>
        </p:nvSpPr>
        <p:spPr bwMode="auto">
          <a:xfrm>
            <a:off x="4078910" y="153682"/>
            <a:ext cx="2507241" cy="830997"/>
          </a:xfrm>
          <a:prstGeom prst="rect">
            <a:avLst/>
          </a:prstGeom>
          <a:solidFill>
            <a:schemeClr val="bg1"/>
          </a:solidFill>
          <a:ln w="12700" cap="sq">
            <a:solidFill>
              <a:schemeClr val="tx2"/>
            </a:solidFill>
            <a:miter lim="800000"/>
            <a:headEnd type="none" w="sm" len="sm"/>
            <a:tailEnd type="none" w="sm" len="sm"/>
          </a:ln>
        </p:spPr>
        <p:txBody>
          <a:bodyPr wrap="square">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The normalized wave function is </a:t>
            </a:r>
            <a:endParaRPr lang="en-IN"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endParaRPr>
          </a:p>
        </p:txBody>
      </p:sp>
      <p:graphicFrame>
        <p:nvGraphicFramePr>
          <p:cNvPr id="8" name="Object 10">
            <a:extLst>
              <a:ext uri="{FF2B5EF4-FFF2-40B4-BE49-F238E27FC236}">
                <a16:creationId xmlns:a16="http://schemas.microsoft.com/office/drawing/2014/main" xmlns="" id="{5B4A5014-C405-32FA-037C-3CCEBA1E911F}"/>
              </a:ext>
            </a:extLst>
          </p:cNvPr>
          <p:cNvGraphicFramePr>
            <a:graphicFrameLocks noChangeAspect="1"/>
          </p:cNvGraphicFramePr>
          <p:nvPr>
            <p:extLst>
              <p:ext uri="{D42A27DB-BD31-4B8C-83A1-F6EECF244321}">
                <p14:modId xmlns:p14="http://schemas.microsoft.com/office/powerpoint/2010/main" val="246661802"/>
              </p:ext>
            </p:extLst>
          </p:nvPr>
        </p:nvGraphicFramePr>
        <p:xfrm>
          <a:off x="4078910" y="1073401"/>
          <a:ext cx="2507241" cy="3465000"/>
        </p:xfrm>
        <a:graphic>
          <a:graphicData uri="http://schemas.openxmlformats.org/presentationml/2006/ole">
            <mc:AlternateContent xmlns:mc="http://schemas.openxmlformats.org/markup-compatibility/2006">
              <mc:Choice xmlns:v="urn:schemas-microsoft-com:vml" Requires="v">
                <p:oleObj spid="_x0000_s4099" name="Equation" r:id="rId5" imgW="35394900" imgH="53251100" progId="Equation.3">
                  <p:embed/>
                </p:oleObj>
              </mc:Choice>
              <mc:Fallback>
                <p:oleObj name="Equation" r:id="rId5" imgW="35394900" imgH="53251100" progId="Equation.3">
                  <p:embed/>
                  <p:pic>
                    <p:nvPicPr>
                      <p:cNvPr id="36865" name="Object 10">
                        <a:extLst>
                          <a:ext uri="{FF2B5EF4-FFF2-40B4-BE49-F238E27FC236}">
                            <a16:creationId xmlns:a16="http://schemas.microsoft.com/office/drawing/2014/main" xmlns="" id="{5D28715B-33C4-E4BF-241C-8BC9FE99275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8910" y="1073401"/>
                        <a:ext cx="2507241" cy="3465000"/>
                      </a:xfrm>
                      <a:prstGeom prst="rect">
                        <a:avLst/>
                      </a:prstGeom>
                      <a:solidFill>
                        <a:schemeClr val="bg1"/>
                      </a:solidFill>
                      <a:ln w="28575">
                        <a:solidFill>
                          <a:schemeClr val="tx2"/>
                        </a:solidFill>
                        <a:miter lim="800000"/>
                        <a:headEnd/>
                        <a:tailEnd/>
                      </a:ln>
                    </p:spPr>
                  </p:pic>
                </p:oleObj>
              </mc:Fallback>
            </mc:AlternateContent>
          </a:graphicData>
        </a:graphic>
      </p:graphicFrame>
      <p:sp>
        <p:nvSpPr>
          <p:cNvPr id="9" name="Text Box 11">
            <a:extLst>
              <a:ext uri="{FF2B5EF4-FFF2-40B4-BE49-F238E27FC236}">
                <a16:creationId xmlns:a16="http://schemas.microsoft.com/office/drawing/2014/main" xmlns="" id="{6ABAEB3B-F767-4FD8-DC8F-B498B1008C60}"/>
              </a:ext>
            </a:extLst>
          </p:cNvPr>
          <p:cNvSpPr txBox="1">
            <a:spLocks noChangeArrowheads="1"/>
          </p:cNvSpPr>
          <p:nvPr/>
        </p:nvSpPr>
        <p:spPr bwMode="auto">
          <a:xfrm>
            <a:off x="4078910" y="4645868"/>
            <a:ext cx="3363978" cy="1200329"/>
          </a:xfrm>
          <a:prstGeom prst="rect">
            <a:avLst/>
          </a:prstGeom>
          <a:solidFill>
            <a:schemeClr val="bg1"/>
          </a:solidFill>
          <a:ln w="28575" cap="sq">
            <a:solidFill>
              <a:schemeClr val="tx2"/>
            </a:solidFill>
            <a:miter lim="800000"/>
            <a:headEnd type="none" w="sm" len="sm"/>
            <a:tailEnd type="none" w="sm" len="sm"/>
          </a:ln>
        </p:spPr>
        <p:txBody>
          <a:bodyPr wrap="square">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Normalized wave function in three dimensions is given by</a:t>
            </a:r>
            <a:endParaRPr lang="en-IN"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endParaRPr>
          </a:p>
        </p:txBody>
      </p:sp>
      <p:graphicFrame>
        <p:nvGraphicFramePr>
          <p:cNvPr id="10" name="Object 8">
            <a:extLst>
              <a:ext uri="{FF2B5EF4-FFF2-40B4-BE49-F238E27FC236}">
                <a16:creationId xmlns:a16="http://schemas.microsoft.com/office/drawing/2014/main" xmlns="" id="{333A50B0-5FCA-37C1-114D-94EF616E2DEE}"/>
              </a:ext>
            </a:extLst>
          </p:cNvPr>
          <p:cNvGraphicFramePr>
            <a:graphicFrameLocks noGrp="1" noChangeAspect="1"/>
          </p:cNvGraphicFramePr>
          <p:nvPr>
            <p:ph sz="half" idx="2"/>
            <p:extLst>
              <p:ext uri="{D42A27DB-BD31-4B8C-83A1-F6EECF244321}">
                <p14:modId xmlns:p14="http://schemas.microsoft.com/office/powerpoint/2010/main" val="310390597"/>
              </p:ext>
            </p:extLst>
          </p:nvPr>
        </p:nvGraphicFramePr>
        <p:xfrm>
          <a:off x="4078910" y="5953664"/>
          <a:ext cx="5275155" cy="841043"/>
        </p:xfrm>
        <a:graphic>
          <a:graphicData uri="http://schemas.openxmlformats.org/presentationml/2006/ole">
            <mc:AlternateContent xmlns:mc="http://schemas.openxmlformats.org/markup-compatibility/2006">
              <mc:Choice xmlns:v="urn:schemas-microsoft-com:vml" Requires="v">
                <p:oleObj spid="_x0000_s4100" name="Equation" r:id="rId7" imgW="55880000" imgH="9067800" progId="Equation.3">
                  <p:embed/>
                </p:oleObj>
              </mc:Choice>
              <mc:Fallback>
                <p:oleObj name="Equation" r:id="rId7" imgW="55880000" imgH="9067800" progId="Equation.3">
                  <p:embed/>
                  <p:pic>
                    <p:nvPicPr>
                      <p:cNvPr id="36869" name="Object 8">
                        <a:extLst>
                          <a:ext uri="{FF2B5EF4-FFF2-40B4-BE49-F238E27FC236}">
                            <a16:creationId xmlns:a16="http://schemas.microsoft.com/office/drawing/2014/main" xmlns="" id="{8BFCBE10-084A-EC2B-E150-36567B421C3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78910" y="5953664"/>
                        <a:ext cx="5275155" cy="841043"/>
                      </a:xfrm>
                      <a:prstGeom prst="rect">
                        <a:avLst/>
                      </a:prstGeom>
                      <a:solidFill>
                        <a:schemeClr val="bg1"/>
                      </a:solidFill>
                      <a:ln w="9525">
                        <a:solidFill>
                          <a:schemeClr val="tx2"/>
                        </a:solidFill>
                        <a:miter lim="800000"/>
                        <a:headEnd/>
                        <a:tailEnd/>
                      </a:ln>
                    </p:spPr>
                  </p:pic>
                </p:oleObj>
              </mc:Fallback>
            </mc:AlternateContent>
          </a:graphicData>
        </a:graphic>
      </p:graphicFrame>
      <p:sp>
        <p:nvSpPr>
          <p:cNvPr id="11" name="Rectangle 21">
            <a:extLst>
              <a:ext uri="{FF2B5EF4-FFF2-40B4-BE49-F238E27FC236}">
                <a16:creationId xmlns:a16="http://schemas.microsoft.com/office/drawing/2014/main" xmlns="" id="{7F874E11-B7AC-958D-7A10-9D6F71AF074D}"/>
              </a:ext>
            </a:extLst>
          </p:cNvPr>
          <p:cNvSpPr>
            <a:spLocks noChangeArrowheads="1"/>
          </p:cNvSpPr>
          <p:nvPr/>
        </p:nvSpPr>
        <p:spPr bwMode="auto">
          <a:xfrm>
            <a:off x="6687093" y="78376"/>
            <a:ext cx="5364865" cy="1569660"/>
          </a:xfrm>
          <a:prstGeom prst="rect">
            <a:avLst/>
          </a:prstGeom>
          <a:solidFill>
            <a:schemeClr val="bg1"/>
          </a:solidFill>
          <a:ln w="28575" cap="sq">
            <a:solidFill>
              <a:schemeClr val="tx2"/>
            </a:solidFill>
            <a:miter lim="800000"/>
            <a:headEnd type="none" w="sm" len="sm"/>
            <a:tailEnd type="none" w="sm" len="sm"/>
          </a:ln>
        </p:spPr>
        <p:txBody>
          <a:bodyPr wrap="square">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The wave function </a:t>
            </a:r>
            <a:r>
              <a:rPr lang="el-GR"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Ψ</a:t>
            </a:r>
            <a:r>
              <a:rPr lang="en-US" altLang="en-US" sz="2400" baseline="-250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n</a:t>
            </a:r>
            <a:r>
              <a:rPr lang="en-US"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and corresponding energies E</a:t>
            </a:r>
            <a:r>
              <a:rPr lang="en-US" altLang="en-US" sz="2400" baseline="-250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n</a:t>
            </a:r>
            <a:r>
              <a:rPr lang="en-US"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are called called  Eigen functions and Eigen value of the quantum particle. </a:t>
            </a:r>
            <a:endParaRPr lang="en-US" altLang="en-US"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xmlns="" id="{672AB709-11C3-F653-5DC6-C97E997275EF}"/>
              </a:ext>
            </a:extLst>
          </p:cNvPr>
          <p:cNvPicPr>
            <a:picLocks noChangeAspect="1"/>
          </p:cNvPicPr>
          <p:nvPr/>
        </p:nvPicPr>
        <p:blipFill>
          <a:blip r:embed="rId9"/>
          <a:stretch>
            <a:fillRect/>
          </a:stretch>
        </p:blipFill>
        <p:spPr>
          <a:xfrm>
            <a:off x="7516469" y="1721253"/>
            <a:ext cx="4535489" cy="4103428"/>
          </a:xfrm>
          <a:prstGeom prst="rect">
            <a:avLst/>
          </a:prstGeom>
          <a:ln w="28575">
            <a:solidFill>
              <a:schemeClr val="tx2"/>
            </a:solidFill>
          </a:ln>
        </p:spPr>
      </p:pic>
      <p:sp>
        <p:nvSpPr>
          <p:cNvPr id="15" name="TextBox 14">
            <a:extLst>
              <a:ext uri="{FF2B5EF4-FFF2-40B4-BE49-F238E27FC236}">
                <a16:creationId xmlns:a16="http://schemas.microsoft.com/office/drawing/2014/main" xmlns="" id="{7F2977F0-0D3C-BD25-F1C6-BF1487D09E28}"/>
              </a:ext>
            </a:extLst>
          </p:cNvPr>
          <p:cNvSpPr txBox="1"/>
          <p:nvPr/>
        </p:nvSpPr>
        <p:spPr>
          <a:xfrm>
            <a:off x="140042" y="134937"/>
            <a:ext cx="3757132" cy="1200329"/>
          </a:xfrm>
          <a:prstGeom prst="rect">
            <a:avLst/>
          </a:prstGeom>
          <a:solidFill>
            <a:schemeClr val="bg1"/>
          </a:solidFill>
          <a:ln w="28575">
            <a:solidFill>
              <a:schemeClr val="tx2"/>
            </a:solidFill>
          </a:ln>
        </p:spPr>
        <p:txBody>
          <a:bodyPr wrap="square">
            <a:spAutoFit/>
          </a:bodyPr>
          <a:lstStyle/>
          <a:p>
            <a:pPr eaLnBrk="1" hangingPunct="1">
              <a:buFontTx/>
              <a:buNone/>
            </a:pPr>
            <a:r>
              <a:rPr lang="en-US"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To calculate unknown constant A, consider normalization condition</a:t>
            </a:r>
            <a:endParaRPr lang="el-GR"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a:extLst>
              <a:ext uri="{FF2B5EF4-FFF2-40B4-BE49-F238E27FC236}">
                <a16:creationId xmlns:a16="http://schemas.microsoft.com/office/drawing/2014/main" xmlns="" id="{F0FDEAB9-57C7-D6E2-9B1A-B0E601E0CD71}"/>
              </a:ext>
            </a:extLst>
          </p:cNvPr>
          <p:cNvSpPr>
            <a:spLocks noGrp="1" noChangeArrowheads="1"/>
          </p:cNvSpPr>
          <p:nvPr>
            <p:ph type="body" sz="half" idx="1"/>
          </p:nvPr>
        </p:nvSpPr>
        <p:spPr>
          <a:xfrm>
            <a:off x="179294" y="97209"/>
            <a:ext cx="11862486" cy="2649507"/>
          </a:xfrm>
          <a:solidFill>
            <a:schemeClr val="bg1"/>
          </a:solidFill>
          <a:ln w="28575">
            <a:solidFill>
              <a:srgbClr val="002060"/>
            </a:solidFill>
          </a:ln>
        </p:spPr>
        <p:txBody>
          <a:bodyPr>
            <a:noAutofit/>
          </a:bodyPr>
          <a:lstStyle/>
          <a:p>
            <a:pPr algn="ctr">
              <a:buFontTx/>
              <a:buNone/>
            </a:pPr>
            <a:r>
              <a:rPr lang="en-US" altLang="en-US" b="1" dirty="0">
                <a:solidFill>
                  <a:srgbClr val="C00000"/>
                </a:solidFill>
                <a:latin typeface="Times New Roman" panose="02020603050405020304" pitchFamily="18" charset="0"/>
                <a:cs typeface="Times New Roman" panose="02020603050405020304" pitchFamily="18" charset="0"/>
              </a:rPr>
              <a:t>Bloch theorem - Electron in a periodic potential</a:t>
            </a:r>
          </a:p>
          <a:p>
            <a:r>
              <a:rPr lang="en-IN" sz="2400" i="0" u="none" strike="noStrike" dirty="0">
                <a:solidFill>
                  <a:srgbClr val="002060"/>
                </a:solidFill>
                <a:effectLst/>
                <a:latin typeface="Times New Roman" panose="02020603050405020304" pitchFamily="18" charset="0"/>
                <a:cs typeface="Times New Roman" panose="02020603050405020304" pitchFamily="18" charset="0"/>
              </a:rPr>
              <a:t>Bloch’s theorem provides the mathematical foundation for understanding how electrons move in crystals, leading to the band theory of solids and explaining conductivity, semi-conductivity, and insulating behavior.</a:t>
            </a:r>
            <a:r>
              <a:rPr lang="en-US" sz="2400" dirty="0">
                <a:solidFill>
                  <a:srgbClr val="002060"/>
                </a:solidFill>
                <a:latin typeface="Times New Roman" panose="02020603050405020304" pitchFamily="18" charset="0"/>
                <a:cs typeface="Times New Roman" panose="02020603050405020304" pitchFamily="18" charset="0"/>
              </a:rPr>
              <a:t> </a:t>
            </a:r>
          </a:p>
          <a:p>
            <a:r>
              <a:rPr lang="en-IN" sz="2400" i="0" u="none" strike="noStrike" dirty="0">
                <a:solidFill>
                  <a:srgbClr val="002060"/>
                </a:solidFill>
                <a:effectLst/>
                <a:latin typeface="Times New Roman" panose="02020603050405020304" pitchFamily="18" charset="0"/>
                <a:cs typeface="Times New Roman" panose="02020603050405020304" pitchFamily="18" charset="0"/>
              </a:rPr>
              <a:t>In a crystalline solid, the atoms are arranged in a periodic lattice. This periodic arrangement creates a periodic potential V(x) experienced by the electrons.  Mathematically, the potential satisfies V(</a:t>
            </a:r>
            <a:r>
              <a:rPr lang="en-IN" sz="2400" i="0" u="none" strike="noStrike" dirty="0" err="1">
                <a:solidFill>
                  <a:srgbClr val="002060"/>
                </a:solidFill>
                <a:effectLst/>
                <a:latin typeface="Times New Roman" panose="02020603050405020304" pitchFamily="18" charset="0"/>
                <a:cs typeface="Times New Roman" panose="02020603050405020304" pitchFamily="18" charset="0"/>
              </a:rPr>
              <a:t>x+a</a:t>
            </a:r>
            <a:r>
              <a:rPr lang="en-IN" sz="2400" i="0" u="none" strike="noStrike" dirty="0">
                <a:solidFill>
                  <a:srgbClr val="002060"/>
                </a:solidFill>
                <a:effectLst/>
                <a:latin typeface="Times New Roman" panose="02020603050405020304" pitchFamily="18" charset="0"/>
                <a:cs typeface="Times New Roman" panose="02020603050405020304" pitchFamily="18" charset="0"/>
              </a:rPr>
              <a:t>)=V(x)</a:t>
            </a:r>
            <a:r>
              <a:rPr lang="en-IN" sz="2400" dirty="0">
                <a:solidFill>
                  <a:srgbClr val="002060"/>
                </a:solidFill>
                <a:latin typeface="Times New Roman" panose="02020603050405020304" pitchFamily="18" charset="0"/>
                <a:cs typeface="Times New Roman" panose="02020603050405020304" pitchFamily="18" charset="0"/>
              </a:rPr>
              <a:t> </a:t>
            </a:r>
            <a:r>
              <a:rPr lang="en-IN" sz="2400" i="0" u="none" strike="noStrike" dirty="0">
                <a:solidFill>
                  <a:srgbClr val="002060"/>
                </a:solidFill>
                <a:effectLst/>
                <a:latin typeface="Times New Roman" panose="02020603050405020304" pitchFamily="18" charset="0"/>
                <a:cs typeface="Times New Roman" panose="02020603050405020304" pitchFamily="18" charset="0"/>
              </a:rPr>
              <a:t>for all lattice translation vectors a.</a:t>
            </a:r>
          </a:p>
        </p:txBody>
      </p:sp>
      <p:sp>
        <p:nvSpPr>
          <p:cNvPr id="3" name="TextBox 2">
            <a:extLst>
              <a:ext uri="{FF2B5EF4-FFF2-40B4-BE49-F238E27FC236}">
                <a16:creationId xmlns:a16="http://schemas.microsoft.com/office/drawing/2014/main" xmlns="" id="{88640FD1-FC37-8EEF-1BAC-CD2CA4DF7739}"/>
              </a:ext>
            </a:extLst>
          </p:cNvPr>
          <p:cNvSpPr txBox="1"/>
          <p:nvPr/>
        </p:nvSpPr>
        <p:spPr>
          <a:xfrm>
            <a:off x="179294" y="2814679"/>
            <a:ext cx="5739592" cy="3785652"/>
          </a:xfrm>
          <a:prstGeom prst="rect">
            <a:avLst/>
          </a:prstGeom>
          <a:solidFill>
            <a:schemeClr val="bg1"/>
          </a:solidFill>
          <a:ln>
            <a:solidFill>
              <a:srgbClr val="002060"/>
            </a:solidFill>
          </a:ln>
        </p:spPr>
        <p:txBody>
          <a:bodyPr wrap="square">
            <a:spAutoFit/>
          </a:bodyPr>
          <a:lstStyle/>
          <a:p>
            <a:pPr algn="ctr"/>
            <a:r>
              <a:rPr lang="en-IN" sz="2400" b="1" i="0" u="none" strike="noStrike" dirty="0">
                <a:solidFill>
                  <a:srgbClr val="C00000"/>
                </a:solidFill>
                <a:effectLst/>
                <a:latin typeface="Times New Roman" panose="02020603050405020304" pitchFamily="18" charset="0"/>
                <a:cs typeface="Times New Roman" panose="02020603050405020304" pitchFamily="18" charset="0"/>
              </a:rPr>
              <a:t>Statement of Bloch’s Theorem</a:t>
            </a:r>
          </a:p>
          <a:p>
            <a:pPr algn="l"/>
            <a:r>
              <a:rPr lang="en-IN" sz="2400" i="0" u="none" strike="noStrike" dirty="0">
                <a:solidFill>
                  <a:srgbClr val="002060"/>
                </a:solidFill>
                <a:effectLst/>
                <a:latin typeface="Times New Roman" panose="02020603050405020304" pitchFamily="18" charset="0"/>
                <a:cs typeface="Times New Roman" panose="02020603050405020304" pitchFamily="18" charset="0"/>
              </a:rPr>
              <a:t>Bloch’s theorem states that the wave function of an electron in a periodic potential can be written as  </a:t>
            </a:r>
          </a:p>
          <a:p>
            <a:pPr algn="ctr"/>
            <a:r>
              <a:rPr lang="el-GR" sz="2400" i="0" u="none" strike="noStrike" dirty="0">
                <a:solidFill>
                  <a:srgbClr val="002060"/>
                </a:solidFill>
                <a:effectLst/>
                <a:latin typeface="Times New Roman" panose="02020603050405020304" pitchFamily="18" charset="0"/>
                <a:cs typeface="Times New Roman" panose="02020603050405020304" pitchFamily="18" charset="0"/>
              </a:rPr>
              <a:t>ψ</a:t>
            </a:r>
            <a:r>
              <a:rPr lang="en-IN" sz="2400" i="0" u="none" strike="noStrike" baseline="-25000" dirty="0" err="1">
                <a:solidFill>
                  <a:srgbClr val="002060"/>
                </a:solidFill>
                <a:effectLst/>
                <a:latin typeface="Times New Roman" panose="02020603050405020304" pitchFamily="18" charset="0"/>
                <a:cs typeface="Times New Roman" panose="02020603050405020304" pitchFamily="18" charset="0"/>
              </a:rPr>
              <a:t>nk</a:t>
            </a:r>
            <a:r>
              <a:rPr lang="en-IN" sz="2400" i="0" u="none" strike="noStrike" dirty="0">
                <a:solidFill>
                  <a:srgbClr val="002060"/>
                </a:solidFill>
                <a:effectLst/>
                <a:latin typeface="Times New Roman" panose="02020603050405020304" pitchFamily="18" charset="0"/>
                <a:cs typeface="Times New Roman" panose="02020603050405020304" pitchFamily="18" charset="0"/>
              </a:rPr>
              <a:t>(x) = </a:t>
            </a:r>
            <a:r>
              <a:rPr lang="en-IN" sz="2400" i="0" u="none" strike="noStrike" dirty="0" err="1">
                <a:solidFill>
                  <a:srgbClr val="002060"/>
                </a:solidFill>
                <a:effectLst/>
                <a:latin typeface="Times New Roman" panose="02020603050405020304" pitchFamily="18" charset="0"/>
                <a:cs typeface="Times New Roman" panose="02020603050405020304" pitchFamily="18" charset="0"/>
              </a:rPr>
              <a:t>u</a:t>
            </a:r>
            <a:r>
              <a:rPr lang="en-IN" sz="2400" i="0" u="none" strike="noStrike" baseline="-25000" dirty="0" err="1">
                <a:solidFill>
                  <a:srgbClr val="002060"/>
                </a:solidFill>
                <a:effectLst/>
                <a:latin typeface="Times New Roman" panose="02020603050405020304" pitchFamily="18" charset="0"/>
                <a:cs typeface="Times New Roman" panose="02020603050405020304" pitchFamily="18" charset="0"/>
              </a:rPr>
              <a:t>nk</a:t>
            </a:r>
            <a:r>
              <a:rPr lang="en-IN" sz="2400" i="0" u="none" strike="noStrike" dirty="0">
                <a:solidFill>
                  <a:srgbClr val="002060"/>
                </a:solidFill>
                <a:effectLst/>
                <a:latin typeface="Times New Roman" panose="02020603050405020304" pitchFamily="18" charset="0"/>
                <a:cs typeface="Times New Roman" panose="02020603050405020304" pitchFamily="18" charset="0"/>
              </a:rPr>
              <a:t>(x) </a:t>
            </a:r>
            <a:r>
              <a:rPr lang="en-IN" sz="2400" i="0" u="none" strike="noStrike" dirty="0" err="1">
                <a:solidFill>
                  <a:srgbClr val="002060"/>
                </a:solidFill>
                <a:effectLst/>
                <a:latin typeface="Times New Roman" panose="02020603050405020304" pitchFamily="18" charset="0"/>
                <a:cs typeface="Times New Roman" panose="02020603050405020304" pitchFamily="18" charset="0"/>
              </a:rPr>
              <a:t>e</a:t>
            </a:r>
            <a:r>
              <a:rPr lang="en-IN" sz="2400" i="0" u="none" strike="noStrike" baseline="30000" dirty="0" err="1">
                <a:solidFill>
                  <a:srgbClr val="002060"/>
                </a:solidFill>
                <a:effectLst/>
                <a:latin typeface="Times New Roman" panose="02020603050405020304" pitchFamily="18" charset="0"/>
                <a:cs typeface="Times New Roman" panose="02020603050405020304" pitchFamily="18" charset="0"/>
              </a:rPr>
              <a:t>ikx</a:t>
            </a:r>
            <a:r>
              <a:rPr lang="en-IN" sz="2400" i="0" u="none" strike="noStrike" baseline="30000" dirty="0">
                <a:solidFill>
                  <a:srgbClr val="002060"/>
                </a:solidFill>
                <a:effectLst/>
                <a:latin typeface="Times New Roman" panose="02020603050405020304" pitchFamily="18" charset="0"/>
                <a:cs typeface="Times New Roman" panose="02020603050405020304" pitchFamily="18" charset="0"/>
              </a:rPr>
              <a:t> </a:t>
            </a:r>
            <a:r>
              <a:rPr lang="en-IN" sz="2400" i="0" u="none" strike="noStrike" dirty="0">
                <a:solidFill>
                  <a:srgbClr val="002060"/>
                </a:solidFill>
                <a:effectLst/>
                <a:latin typeface="Times New Roman" panose="02020603050405020304" pitchFamily="18" charset="0"/>
                <a:cs typeface="Times New Roman" panose="02020603050405020304" pitchFamily="18" charset="0"/>
              </a:rPr>
              <a:t> </a:t>
            </a:r>
          </a:p>
          <a:p>
            <a:pPr algn="l"/>
            <a:r>
              <a:rPr lang="en-IN" sz="2400" dirty="0">
                <a:solidFill>
                  <a:srgbClr val="002060"/>
                </a:solidFill>
                <a:latin typeface="Times New Roman" panose="02020603050405020304" pitchFamily="18" charset="0"/>
                <a:cs typeface="Times New Roman" panose="02020603050405020304" pitchFamily="18" charset="0"/>
              </a:rPr>
              <a:t>W</a:t>
            </a:r>
            <a:r>
              <a:rPr lang="en-IN" sz="2400" i="0" u="none" strike="noStrike" dirty="0">
                <a:solidFill>
                  <a:srgbClr val="002060"/>
                </a:solidFill>
                <a:effectLst/>
                <a:latin typeface="Times New Roman" panose="02020603050405020304" pitchFamily="18" charset="0"/>
                <a:cs typeface="Times New Roman" panose="02020603050405020304" pitchFamily="18" charset="0"/>
              </a:rPr>
              <a:t>here, k = crystal momentum (wave vector), </a:t>
            </a:r>
            <a:r>
              <a:rPr lang="en-IN" sz="2400" dirty="0">
                <a:solidFill>
                  <a:srgbClr val="002060"/>
                </a:solidFill>
                <a:latin typeface="Times New Roman" panose="02020603050405020304" pitchFamily="18" charset="0"/>
                <a:cs typeface="Times New Roman" panose="02020603050405020304" pitchFamily="18" charset="0"/>
              </a:rPr>
              <a:t> </a:t>
            </a:r>
            <a:r>
              <a:rPr lang="en-IN" sz="2400" i="0" u="none" strike="noStrike" dirty="0">
                <a:solidFill>
                  <a:srgbClr val="002060"/>
                </a:solidFill>
                <a:effectLst/>
                <a:latin typeface="Times New Roman" panose="02020603050405020304" pitchFamily="18" charset="0"/>
                <a:cs typeface="Times New Roman" panose="02020603050405020304" pitchFamily="18" charset="0"/>
              </a:rPr>
              <a:t>n = band index,</a:t>
            </a:r>
            <a:r>
              <a:rPr lang="en-IN" sz="2400" dirty="0">
                <a:solidFill>
                  <a:srgbClr val="002060"/>
                </a:solidFill>
                <a:latin typeface="Times New Roman" panose="02020603050405020304" pitchFamily="18" charset="0"/>
                <a:cs typeface="Times New Roman" panose="02020603050405020304" pitchFamily="18" charset="0"/>
              </a:rPr>
              <a:t> </a:t>
            </a:r>
          </a:p>
          <a:p>
            <a:pPr algn="l"/>
            <a:r>
              <a:rPr lang="en-IN" sz="2400" i="0" u="none" strike="noStrike" dirty="0" err="1">
                <a:solidFill>
                  <a:srgbClr val="002060"/>
                </a:solidFill>
                <a:effectLst/>
                <a:latin typeface="Times New Roman" panose="02020603050405020304" pitchFamily="18" charset="0"/>
                <a:cs typeface="Times New Roman" panose="02020603050405020304" pitchFamily="18" charset="0"/>
              </a:rPr>
              <a:t>u</a:t>
            </a:r>
            <a:r>
              <a:rPr lang="en-IN" sz="2400" i="0" u="none" strike="noStrike" baseline="-25000" dirty="0" err="1">
                <a:solidFill>
                  <a:srgbClr val="002060"/>
                </a:solidFill>
                <a:effectLst/>
                <a:latin typeface="Times New Roman" panose="02020603050405020304" pitchFamily="18" charset="0"/>
                <a:cs typeface="Times New Roman" panose="02020603050405020304" pitchFamily="18" charset="0"/>
              </a:rPr>
              <a:t>nk</a:t>
            </a:r>
            <a:r>
              <a:rPr lang="en-IN" sz="2400" i="0" u="none" strike="noStrike" dirty="0">
                <a:solidFill>
                  <a:srgbClr val="002060"/>
                </a:solidFill>
                <a:effectLst/>
                <a:latin typeface="Times New Roman" panose="02020603050405020304" pitchFamily="18" charset="0"/>
                <a:cs typeface="Times New Roman" panose="02020603050405020304" pitchFamily="18" charset="0"/>
              </a:rPr>
              <a:t>(x) = function with the same periodicity as the lattice: </a:t>
            </a:r>
          </a:p>
          <a:p>
            <a:pPr algn="l"/>
            <a:r>
              <a:rPr lang="en-IN" sz="2400" i="0" u="none" strike="noStrike" dirty="0" err="1">
                <a:solidFill>
                  <a:srgbClr val="002060"/>
                </a:solidFill>
                <a:effectLst/>
                <a:latin typeface="Times New Roman" panose="02020603050405020304" pitchFamily="18" charset="0"/>
                <a:cs typeface="Times New Roman" panose="02020603050405020304" pitchFamily="18" charset="0"/>
              </a:rPr>
              <a:t>u</a:t>
            </a:r>
            <a:r>
              <a:rPr lang="en-IN" sz="2400" i="0" u="none" strike="noStrike" baseline="-25000" dirty="0" err="1">
                <a:solidFill>
                  <a:srgbClr val="002060"/>
                </a:solidFill>
                <a:effectLst/>
                <a:latin typeface="Times New Roman" panose="02020603050405020304" pitchFamily="18" charset="0"/>
                <a:cs typeface="Times New Roman" panose="02020603050405020304" pitchFamily="18" charset="0"/>
              </a:rPr>
              <a:t>nk</a:t>
            </a:r>
            <a:r>
              <a:rPr lang="en-IN" sz="2400" i="0" u="none" strike="noStrike" dirty="0">
                <a:solidFill>
                  <a:srgbClr val="002060"/>
                </a:solidFill>
                <a:effectLst/>
                <a:latin typeface="Times New Roman" panose="02020603050405020304" pitchFamily="18" charset="0"/>
                <a:cs typeface="Times New Roman" panose="02020603050405020304" pitchFamily="18" charset="0"/>
              </a:rPr>
              <a:t>(</a:t>
            </a:r>
            <a:r>
              <a:rPr lang="en-IN" sz="2400" dirty="0">
                <a:solidFill>
                  <a:srgbClr val="002060"/>
                </a:solidFill>
                <a:latin typeface="Times New Roman" panose="02020603050405020304" pitchFamily="18" charset="0"/>
                <a:cs typeface="Times New Roman" panose="02020603050405020304" pitchFamily="18" charset="0"/>
              </a:rPr>
              <a:t>x</a:t>
            </a:r>
            <a:r>
              <a:rPr lang="en-IN" sz="2400" i="0" u="none" strike="noStrike" dirty="0">
                <a:solidFill>
                  <a:srgbClr val="002060"/>
                </a:solidFill>
                <a:effectLst/>
                <a:latin typeface="Times New Roman" panose="02020603050405020304" pitchFamily="18" charset="0"/>
                <a:cs typeface="Times New Roman" panose="02020603050405020304" pitchFamily="18" charset="0"/>
              </a:rPr>
              <a:t> + a) = </a:t>
            </a:r>
            <a:r>
              <a:rPr lang="en-IN" sz="2400" i="0" u="none" strike="noStrike" dirty="0" err="1">
                <a:solidFill>
                  <a:srgbClr val="002060"/>
                </a:solidFill>
                <a:effectLst/>
                <a:latin typeface="Times New Roman" panose="02020603050405020304" pitchFamily="18" charset="0"/>
                <a:cs typeface="Times New Roman" panose="02020603050405020304" pitchFamily="18" charset="0"/>
              </a:rPr>
              <a:t>u</a:t>
            </a:r>
            <a:r>
              <a:rPr lang="en-IN" sz="2400" i="0" u="none" strike="noStrike" baseline="-25000" dirty="0" err="1">
                <a:solidFill>
                  <a:srgbClr val="002060"/>
                </a:solidFill>
                <a:effectLst/>
                <a:latin typeface="Times New Roman" panose="02020603050405020304" pitchFamily="18" charset="0"/>
                <a:cs typeface="Times New Roman" panose="02020603050405020304" pitchFamily="18" charset="0"/>
              </a:rPr>
              <a:t>nk</a:t>
            </a:r>
            <a:r>
              <a:rPr lang="en-IN" sz="2400" i="0" u="none" strike="noStrike" dirty="0">
                <a:solidFill>
                  <a:srgbClr val="002060"/>
                </a:solidFill>
                <a:effectLst/>
                <a:latin typeface="Times New Roman" panose="02020603050405020304" pitchFamily="18" charset="0"/>
                <a:cs typeface="Times New Roman" panose="02020603050405020304" pitchFamily="18" charset="0"/>
              </a:rPr>
              <a:t>(x)</a:t>
            </a:r>
          </a:p>
        </p:txBody>
      </p:sp>
      <p:pic>
        <p:nvPicPr>
          <p:cNvPr id="5" name="Picture 4" descr="A screenshot of a computer&#10;&#10;Description automatically generated">
            <a:extLst>
              <a:ext uri="{FF2B5EF4-FFF2-40B4-BE49-F238E27FC236}">
                <a16:creationId xmlns:a16="http://schemas.microsoft.com/office/drawing/2014/main" xmlns="" id="{0924BE9E-E413-7AFE-8D38-0BE285BE1508}"/>
              </a:ext>
            </a:extLst>
          </p:cNvPr>
          <p:cNvPicPr>
            <a:picLocks noChangeAspect="1"/>
          </p:cNvPicPr>
          <p:nvPr/>
        </p:nvPicPr>
        <p:blipFill>
          <a:blip r:embed="rId2"/>
          <a:srcRect l="43667" t="34594" r="6571" b="15803"/>
          <a:stretch/>
        </p:blipFill>
        <p:spPr>
          <a:xfrm>
            <a:off x="5978533" y="2823515"/>
            <a:ext cx="6063247" cy="3776815"/>
          </a:xfrm>
          <a:prstGeom prst="rect">
            <a:avLst/>
          </a:prstGeom>
          <a:ln>
            <a:solidFill>
              <a:srgbClr val="002060"/>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a:extLst>
              <a:ext uri="{FF2B5EF4-FFF2-40B4-BE49-F238E27FC236}">
                <a16:creationId xmlns:a16="http://schemas.microsoft.com/office/drawing/2014/main" xmlns="" id="{46607A4C-0611-6584-69B0-8CE866745739}"/>
              </a:ext>
            </a:extLst>
          </p:cNvPr>
          <p:cNvSpPr>
            <a:spLocks noGrp="1" noChangeArrowheads="1"/>
          </p:cNvSpPr>
          <p:nvPr>
            <p:ph type="body" sz="half" idx="1"/>
          </p:nvPr>
        </p:nvSpPr>
        <p:spPr>
          <a:xfrm>
            <a:off x="111210" y="3594388"/>
            <a:ext cx="11911914" cy="3188357"/>
          </a:xfrm>
          <a:solidFill>
            <a:schemeClr val="bg1"/>
          </a:solidFill>
          <a:ln w="28575">
            <a:solidFill>
              <a:srgbClr val="002060"/>
            </a:solidFill>
          </a:ln>
        </p:spPr>
        <p:txBody>
          <a:bodyPr>
            <a:noAutofit/>
          </a:bodyPr>
          <a:lstStyle/>
          <a:p>
            <a:pPr marL="0" indent="0" algn="just">
              <a:buNone/>
            </a:pPr>
            <a:r>
              <a:rPr lang="en-IN" sz="2400" b="0" i="0" u="none" strike="noStrike" dirty="0">
                <a:solidFill>
                  <a:srgbClr val="000000"/>
                </a:solidFill>
                <a:effectLst/>
                <a:latin typeface="Times New Roman" panose="02020603050405020304" pitchFamily="18" charset="0"/>
                <a:cs typeface="Times New Roman" panose="02020603050405020304" pitchFamily="18" charset="0"/>
              </a:rPr>
              <a:t>For One-dimensional periodic potential: </a:t>
            </a:r>
          </a:p>
          <a:p>
            <a:pPr marL="0" indent="0" algn="l">
              <a:buNone/>
            </a:pPr>
            <a:r>
              <a:rPr lang="en-IN" sz="2400" dirty="0">
                <a:solidFill>
                  <a:srgbClr val="000000"/>
                </a:solidFill>
                <a:latin typeface="Times New Roman" panose="02020603050405020304" pitchFamily="18" charset="0"/>
                <a:cs typeface="Times New Roman" panose="02020603050405020304" pitchFamily="18" charset="0"/>
              </a:rPr>
              <a:t>	</a:t>
            </a:r>
            <a:r>
              <a:rPr lang="en-IN" sz="2400" b="0" i="0" u="none" strike="noStrike" dirty="0">
                <a:solidFill>
                  <a:srgbClr val="000000"/>
                </a:solidFill>
                <a:effectLst/>
                <a:latin typeface="Times New Roman" panose="02020603050405020304" pitchFamily="18" charset="0"/>
                <a:cs typeface="Times New Roman" panose="02020603050405020304" pitchFamily="18" charset="0"/>
              </a:rPr>
              <a:t>V(x) = 0     0 &lt; x&lt; a ; </a:t>
            </a:r>
          </a:p>
          <a:p>
            <a:pPr marL="0" indent="0" algn="l">
              <a:buNone/>
            </a:pPr>
            <a:r>
              <a:rPr lang="en-IN" sz="2400" dirty="0">
                <a:solidFill>
                  <a:srgbClr val="000000"/>
                </a:solidFill>
                <a:latin typeface="Times New Roman" panose="02020603050405020304" pitchFamily="18" charset="0"/>
                <a:cs typeface="Times New Roman" panose="02020603050405020304" pitchFamily="18" charset="0"/>
              </a:rPr>
              <a:t>	</a:t>
            </a:r>
            <a:r>
              <a:rPr lang="en-IN" sz="2400" b="0" i="0" u="none" strike="noStrike" dirty="0">
                <a:solidFill>
                  <a:srgbClr val="000000"/>
                </a:solidFill>
                <a:effectLst/>
                <a:latin typeface="Times New Roman" panose="02020603050405020304" pitchFamily="18" charset="0"/>
                <a:cs typeface="Times New Roman" panose="02020603050405020304" pitchFamily="18" charset="0"/>
              </a:rPr>
              <a:t>V(x) = V</a:t>
            </a:r>
            <a:r>
              <a:rPr lang="en-IN" sz="2400" b="0" i="0" u="none" strike="noStrike" baseline="-25000" dirty="0">
                <a:solidFill>
                  <a:srgbClr val="000000"/>
                </a:solidFill>
                <a:effectLst/>
                <a:latin typeface="Times New Roman" panose="02020603050405020304" pitchFamily="18" charset="0"/>
                <a:cs typeface="Times New Roman" panose="02020603050405020304" pitchFamily="18" charset="0"/>
              </a:rPr>
              <a:t>0</a:t>
            </a:r>
            <a:r>
              <a:rPr lang="en-IN" sz="2400" b="0" i="0" u="none" strike="noStrike" dirty="0">
                <a:solidFill>
                  <a:srgbClr val="000000"/>
                </a:solidFill>
                <a:effectLst/>
                <a:latin typeface="Times New Roman" panose="02020603050405020304" pitchFamily="18" charset="0"/>
                <a:cs typeface="Times New Roman" panose="02020603050405020304" pitchFamily="18" charset="0"/>
              </a:rPr>
              <a:t>​  a &lt; x &lt; b​ </a:t>
            </a:r>
          </a:p>
          <a:p>
            <a:pPr marL="0" indent="0" algn="l">
              <a:buNone/>
            </a:pPr>
            <a:r>
              <a:rPr lang="en-IN" sz="2400" b="0" i="0" u="none" strike="noStrike" dirty="0">
                <a:solidFill>
                  <a:srgbClr val="000000"/>
                </a:solidFill>
                <a:effectLst/>
                <a:latin typeface="Times New Roman" panose="02020603050405020304" pitchFamily="18" charset="0"/>
                <a:cs typeface="Times New Roman" panose="02020603050405020304" pitchFamily="18" charset="0"/>
              </a:rPr>
              <a:t>Where, </a:t>
            </a:r>
          </a:p>
          <a:p>
            <a:pPr marL="0" indent="0" algn="l">
              <a:buNone/>
            </a:pPr>
            <a:r>
              <a:rPr lang="en-IN" sz="2400" b="0" i="0" u="none" strike="noStrike" dirty="0">
                <a:solidFill>
                  <a:srgbClr val="000000"/>
                </a:solidFill>
                <a:effectLst/>
                <a:latin typeface="Times New Roman" panose="02020603050405020304" pitchFamily="18" charset="0"/>
                <a:cs typeface="Times New Roman" panose="02020603050405020304" pitchFamily="18" charset="0"/>
              </a:rPr>
              <a:t>a = width of the potential well, </a:t>
            </a:r>
          </a:p>
          <a:p>
            <a:pPr marL="0" indent="0" algn="l">
              <a:buNone/>
            </a:pPr>
            <a:r>
              <a:rPr lang="en-IN" sz="2400" b="0" i="0" u="none" strike="noStrike" dirty="0">
                <a:solidFill>
                  <a:srgbClr val="000000"/>
                </a:solidFill>
                <a:effectLst/>
                <a:latin typeface="Times New Roman" panose="02020603050405020304" pitchFamily="18" charset="0"/>
                <a:cs typeface="Times New Roman" panose="02020603050405020304" pitchFamily="18" charset="0"/>
              </a:rPr>
              <a:t>b = width of the barrier, </a:t>
            </a:r>
          </a:p>
          <a:p>
            <a:pPr marL="0" indent="0" algn="l">
              <a:buNone/>
            </a:pPr>
            <a:r>
              <a:rPr lang="en-IN" sz="2400" b="0" i="0" u="none" strike="noStrike" dirty="0">
                <a:solidFill>
                  <a:srgbClr val="000000"/>
                </a:solidFill>
                <a:effectLst/>
                <a:latin typeface="Times New Roman" panose="02020603050405020304" pitchFamily="18" charset="0"/>
                <a:cs typeface="Times New Roman" panose="02020603050405020304" pitchFamily="18" charset="0"/>
              </a:rPr>
              <a:t>V</a:t>
            </a:r>
            <a:r>
              <a:rPr lang="en-IN" sz="2400" b="0" i="0" u="none" strike="noStrike" baseline="-25000" dirty="0">
                <a:solidFill>
                  <a:srgbClr val="000000"/>
                </a:solidFill>
                <a:effectLst/>
                <a:latin typeface="Times New Roman" panose="02020603050405020304" pitchFamily="18" charset="0"/>
                <a:cs typeface="Times New Roman" panose="02020603050405020304" pitchFamily="18" charset="0"/>
              </a:rPr>
              <a:t>0 </a:t>
            </a:r>
            <a:r>
              <a:rPr lang="en-IN" sz="2400" b="0" i="0" u="none" strike="noStrike" dirty="0">
                <a:solidFill>
                  <a:srgbClr val="000000"/>
                </a:solidFill>
                <a:effectLst/>
                <a:latin typeface="Times New Roman" panose="02020603050405020304" pitchFamily="18" charset="0"/>
                <a:cs typeface="Times New Roman" panose="02020603050405020304" pitchFamily="18" charset="0"/>
              </a:rPr>
              <a:t>​- barrier height.</a:t>
            </a:r>
          </a:p>
          <a:p>
            <a:pPr algn="l"/>
            <a:endParaRPr lang="en-IN" sz="2400" i="0" u="none" strike="noStrike" dirty="0">
              <a:solidFill>
                <a:srgbClr val="000000"/>
              </a:solidFill>
              <a:effectLst/>
              <a:latin typeface="Times New Roman" panose="02020603050405020304" pitchFamily="18" charset="0"/>
              <a:cs typeface="Times New Roman" panose="02020603050405020304" pitchFamily="18" charset="0"/>
            </a:endParaRPr>
          </a:p>
        </p:txBody>
      </p:sp>
      <p:pic>
        <p:nvPicPr>
          <p:cNvPr id="50" name="Picture 49" descr="A diagram of a graph&#10;&#10;Description automatically generated">
            <a:extLst>
              <a:ext uri="{FF2B5EF4-FFF2-40B4-BE49-F238E27FC236}">
                <a16:creationId xmlns:a16="http://schemas.microsoft.com/office/drawing/2014/main" xmlns="" id="{A203EE86-E371-130C-9E95-834085C6B77E}"/>
              </a:ext>
            </a:extLst>
          </p:cNvPr>
          <p:cNvPicPr>
            <a:picLocks noChangeAspect="1"/>
          </p:cNvPicPr>
          <p:nvPr/>
        </p:nvPicPr>
        <p:blipFill>
          <a:blip r:embed="rId2"/>
          <a:stretch>
            <a:fillRect/>
          </a:stretch>
        </p:blipFill>
        <p:spPr>
          <a:xfrm>
            <a:off x="5206701" y="3711866"/>
            <a:ext cx="6702013" cy="2953400"/>
          </a:xfrm>
          <a:prstGeom prst="rect">
            <a:avLst/>
          </a:prstGeom>
        </p:spPr>
      </p:pic>
      <p:sp>
        <p:nvSpPr>
          <p:cNvPr id="3" name="TextBox 2">
            <a:extLst>
              <a:ext uri="{FF2B5EF4-FFF2-40B4-BE49-F238E27FC236}">
                <a16:creationId xmlns:a16="http://schemas.microsoft.com/office/drawing/2014/main" xmlns="" id="{1A877726-ACA4-2369-2827-A1A6F0E93975}"/>
              </a:ext>
            </a:extLst>
          </p:cNvPr>
          <p:cNvSpPr txBox="1"/>
          <p:nvPr/>
        </p:nvSpPr>
        <p:spPr>
          <a:xfrm>
            <a:off x="111210" y="96771"/>
            <a:ext cx="11911914" cy="523220"/>
          </a:xfrm>
          <a:prstGeom prst="rect">
            <a:avLst/>
          </a:prstGeom>
          <a:solidFill>
            <a:schemeClr val="bg1"/>
          </a:solidFill>
          <a:ln w="28575">
            <a:solidFill>
              <a:srgbClr val="002060"/>
            </a:solidFill>
          </a:ln>
        </p:spPr>
        <p:txBody>
          <a:bodyPr wrap="square">
            <a:spAutoFit/>
          </a:bodyPr>
          <a:lstStyle/>
          <a:p>
            <a:pPr>
              <a:buFontTx/>
              <a:buNone/>
            </a:pPr>
            <a:r>
              <a:rPr lang="en-US" altLang="en-US" sz="2800" b="1" dirty="0" err="1">
                <a:solidFill>
                  <a:srgbClr val="C00000"/>
                </a:solidFill>
                <a:latin typeface="Times New Roman" panose="02020603050405020304" pitchFamily="18" charset="0"/>
                <a:cs typeface="Times New Roman" panose="02020603050405020304" pitchFamily="18" charset="0"/>
              </a:rPr>
              <a:t>Kroning</a:t>
            </a:r>
            <a:r>
              <a:rPr lang="en-US" altLang="en-US" sz="2800" b="1" dirty="0">
                <a:solidFill>
                  <a:srgbClr val="C00000"/>
                </a:solidFill>
                <a:latin typeface="Times New Roman" panose="02020603050405020304" pitchFamily="18" charset="0"/>
                <a:cs typeface="Times New Roman" panose="02020603050405020304" pitchFamily="18" charset="0"/>
              </a:rPr>
              <a:t> – Penney model (qualitative) :  E-K diagram</a:t>
            </a:r>
          </a:p>
        </p:txBody>
      </p:sp>
      <p:sp>
        <p:nvSpPr>
          <p:cNvPr id="5" name="TextBox 4">
            <a:extLst>
              <a:ext uri="{FF2B5EF4-FFF2-40B4-BE49-F238E27FC236}">
                <a16:creationId xmlns:a16="http://schemas.microsoft.com/office/drawing/2014/main" xmlns="" id="{9EF2CB57-BDC2-B483-DE8C-8D69F136887E}"/>
              </a:ext>
            </a:extLst>
          </p:cNvPr>
          <p:cNvSpPr txBox="1"/>
          <p:nvPr/>
        </p:nvSpPr>
        <p:spPr>
          <a:xfrm>
            <a:off x="111210" y="686404"/>
            <a:ext cx="11911914" cy="1200329"/>
          </a:xfrm>
          <a:prstGeom prst="rect">
            <a:avLst/>
          </a:prstGeom>
          <a:solidFill>
            <a:schemeClr val="bg1"/>
          </a:solidFill>
          <a:ln w="28575">
            <a:solidFill>
              <a:srgbClr val="002060"/>
            </a:solidFill>
          </a:ln>
        </p:spPr>
        <p:txBody>
          <a:bodyPr wrap="square">
            <a:spAutoFit/>
          </a:bodyPr>
          <a:lstStyle/>
          <a:p>
            <a:r>
              <a:rPr lang="en-IN" sz="2400" i="0" u="none" strike="noStrike" dirty="0">
                <a:effectLst/>
                <a:latin typeface="Times New Roman" panose="02020603050405020304" pitchFamily="18" charset="0"/>
                <a:cs typeface="Times New Roman" panose="02020603050405020304" pitchFamily="18" charset="0"/>
              </a:rPr>
              <a:t>The </a:t>
            </a:r>
            <a:r>
              <a:rPr lang="en-US" altLang="en-US" sz="2400" dirty="0" err="1">
                <a:latin typeface="Times New Roman" panose="02020603050405020304" pitchFamily="18" charset="0"/>
                <a:cs typeface="Times New Roman" panose="02020603050405020304" pitchFamily="18" charset="0"/>
              </a:rPr>
              <a:t>Kroning</a:t>
            </a:r>
            <a:r>
              <a:rPr lang="en-US" altLang="en-US" sz="2400" dirty="0">
                <a:latin typeface="Times New Roman" panose="02020603050405020304" pitchFamily="18" charset="0"/>
                <a:cs typeface="Times New Roman" panose="02020603050405020304" pitchFamily="18" charset="0"/>
              </a:rPr>
              <a:t> – Penney model </a:t>
            </a:r>
            <a:r>
              <a:rPr lang="en-IN" sz="2400" i="0" u="none" strike="noStrike" dirty="0">
                <a:effectLst/>
                <a:latin typeface="Times New Roman" panose="02020603050405020304" pitchFamily="18" charset="0"/>
                <a:cs typeface="Times New Roman" panose="02020603050405020304" pitchFamily="18" charset="0"/>
              </a:rPr>
              <a:t>is a one-dimensional quantum mechanical model that explains energy bands in solids by analysing electron behavior within a periodic potential, representing the lattice structure of a crystal. </a:t>
            </a:r>
          </a:p>
        </p:txBody>
      </p:sp>
      <p:sp>
        <p:nvSpPr>
          <p:cNvPr id="7" name="TextBox 6">
            <a:extLst>
              <a:ext uri="{FF2B5EF4-FFF2-40B4-BE49-F238E27FC236}">
                <a16:creationId xmlns:a16="http://schemas.microsoft.com/office/drawing/2014/main" xmlns="" id="{A68B4435-3BB9-F809-3112-A33FB7234449}"/>
              </a:ext>
            </a:extLst>
          </p:cNvPr>
          <p:cNvSpPr txBox="1"/>
          <p:nvPr/>
        </p:nvSpPr>
        <p:spPr>
          <a:xfrm>
            <a:off x="111210" y="1944978"/>
            <a:ext cx="11911914" cy="1569660"/>
          </a:xfrm>
          <a:prstGeom prst="rect">
            <a:avLst/>
          </a:prstGeom>
          <a:solidFill>
            <a:schemeClr val="bg1"/>
          </a:solidFill>
          <a:ln w="28575">
            <a:solidFill>
              <a:srgbClr val="002060"/>
            </a:solidFill>
          </a:ln>
        </p:spPr>
        <p:txBody>
          <a:bodyPr wrap="square">
            <a:spAutoFit/>
          </a:bodyPr>
          <a:lstStyle/>
          <a:p>
            <a:pPr marL="0" indent="0" algn="just">
              <a:buNone/>
            </a:pPr>
            <a:r>
              <a:rPr lang="en-IN" sz="2400" i="0" u="none" strike="noStrike" dirty="0">
                <a:solidFill>
                  <a:srgbClr val="000000"/>
                </a:solidFill>
                <a:effectLst/>
                <a:latin typeface="Times New Roman" panose="02020603050405020304" pitchFamily="18" charset="0"/>
                <a:cs typeface="Times New Roman" panose="02020603050405020304" pitchFamily="18" charset="0"/>
              </a:rPr>
              <a:t>In a crystal, atoms are arranged periodically, so electrons experience a periodic potential. The </a:t>
            </a:r>
            <a:r>
              <a:rPr lang="en-IN" sz="2400" i="0" u="none" strike="noStrike" dirty="0" err="1">
                <a:solidFill>
                  <a:srgbClr val="000000"/>
                </a:solidFill>
                <a:effectLst/>
                <a:latin typeface="Times New Roman" panose="02020603050405020304" pitchFamily="18" charset="0"/>
                <a:cs typeface="Times New Roman" panose="02020603050405020304" pitchFamily="18" charset="0"/>
              </a:rPr>
              <a:t>Kronig</a:t>
            </a:r>
            <a:r>
              <a:rPr lang="en-IN" sz="2400" i="0" u="none" strike="noStrike" dirty="0">
                <a:solidFill>
                  <a:srgbClr val="000000"/>
                </a:solidFill>
                <a:effectLst/>
                <a:latin typeface="Times New Roman" panose="02020603050405020304" pitchFamily="18" charset="0"/>
                <a:cs typeface="Times New Roman" panose="02020603050405020304" pitchFamily="18" charset="0"/>
              </a:rPr>
              <a:t> – Penney model represents this periodic potential as a series of rectangular potential wells/barriers.</a:t>
            </a:r>
            <a:r>
              <a:rPr lang="en-IN" sz="2400" dirty="0">
                <a:solidFill>
                  <a:srgbClr val="000000"/>
                </a:solidFill>
                <a:latin typeface="Times New Roman" panose="02020603050405020304" pitchFamily="18" charset="0"/>
                <a:cs typeface="Times New Roman" panose="02020603050405020304" pitchFamily="18" charset="0"/>
              </a:rPr>
              <a:t> </a:t>
            </a:r>
            <a:r>
              <a:rPr lang="en-IN" sz="2400" i="0" u="none" strike="noStrike" dirty="0">
                <a:solidFill>
                  <a:srgbClr val="000000"/>
                </a:solidFill>
                <a:effectLst/>
                <a:latin typeface="Times New Roman" panose="02020603050405020304" pitchFamily="18" charset="0"/>
                <a:cs typeface="Times New Roman" panose="02020603050405020304" pitchFamily="18" charset="0"/>
              </a:rPr>
              <a:t>By solving the Schrödinger equation for this potential, one finds that only certain ranges of energies are allowed (energy bands), while other ranges are forbidden (band gaps).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0BE08788-0E6D-312E-094B-F0636399449B}"/>
              </a:ext>
            </a:extLst>
          </p:cNvPr>
          <p:cNvSpPr txBox="1"/>
          <p:nvPr/>
        </p:nvSpPr>
        <p:spPr>
          <a:xfrm>
            <a:off x="86495" y="98621"/>
            <a:ext cx="11969579" cy="954107"/>
          </a:xfrm>
          <a:prstGeom prst="rect">
            <a:avLst/>
          </a:prstGeom>
          <a:solidFill>
            <a:schemeClr val="bg1"/>
          </a:solidFill>
          <a:ln>
            <a:solidFill>
              <a:srgbClr val="002060"/>
            </a:solidFill>
          </a:ln>
        </p:spPr>
        <p:txBody>
          <a:bodyPr wrap="square" rtlCol="0">
            <a:spAutoFit/>
          </a:bodyPr>
          <a:lstStyle/>
          <a:p>
            <a:r>
              <a:rPr lang="en-US" sz="2800" dirty="0">
                <a:latin typeface="Times New Roman" panose="02020603050405020304" pitchFamily="18" charset="0"/>
                <a:cs typeface="Times New Roman" panose="02020603050405020304" pitchFamily="18" charset="0"/>
              </a:rPr>
              <a:t>Applying Bloch theorem and solving Schrodinger wave equations, for these regions give us following final solution </a:t>
            </a:r>
          </a:p>
        </p:txBody>
      </p:sp>
      <p:pic>
        <p:nvPicPr>
          <p:cNvPr id="4" name="Picture 3" descr="A diagram of a function&#10;&#10;Description automatically generated">
            <a:extLst>
              <a:ext uri="{FF2B5EF4-FFF2-40B4-BE49-F238E27FC236}">
                <a16:creationId xmlns:a16="http://schemas.microsoft.com/office/drawing/2014/main" xmlns="" id="{4EF91ABB-B8CF-6704-0389-5C237A164E2E}"/>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2270210" y="1934064"/>
            <a:ext cx="7356390" cy="4223398"/>
          </a:xfrm>
          <a:prstGeom prst="rect">
            <a:avLst/>
          </a:prstGeom>
          <a:solidFill>
            <a:schemeClr val="bg1"/>
          </a:solidFill>
          <a:ln w="28575">
            <a:solidFill>
              <a:srgbClr val="002060"/>
            </a:solidFill>
          </a:ln>
        </p:spPr>
      </p:pic>
      <p:sp>
        <p:nvSpPr>
          <p:cNvPr id="8" name="TextBox 7">
            <a:extLst>
              <a:ext uri="{FF2B5EF4-FFF2-40B4-BE49-F238E27FC236}">
                <a16:creationId xmlns:a16="http://schemas.microsoft.com/office/drawing/2014/main" xmlns="" id="{3D70D0C6-4962-310E-7C1D-5BCB5C73D1F4}"/>
              </a:ext>
            </a:extLst>
          </p:cNvPr>
          <p:cNvSpPr txBox="1"/>
          <p:nvPr/>
        </p:nvSpPr>
        <p:spPr>
          <a:xfrm>
            <a:off x="86496" y="6238762"/>
            <a:ext cx="11969579" cy="523220"/>
          </a:xfrm>
          <a:prstGeom prst="rect">
            <a:avLst/>
          </a:prstGeom>
          <a:solidFill>
            <a:schemeClr val="bg1"/>
          </a:solidFill>
          <a:ln>
            <a:solidFill>
              <a:srgbClr val="002060"/>
            </a:solidFill>
          </a:ln>
        </p:spPr>
        <p:txBody>
          <a:bodyPr wrap="square" rtlCol="0">
            <a:spAutoFit/>
          </a:bodyPr>
          <a:lstStyle/>
          <a:p>
            <a:r>
              <a:rPr lang="en-US" sz="2800" dirty="0">
                <a:latin typeface="Times New Roman" panose="02020603050405020304" pitchFamily="18" charset="0"/>
                <a:cs typeface="Times New Roman" panose="02020603050405020304" pitchFamily="18" charset="0"/>
              </a:rPr>
              <a:t>P – Scattering Power of Potential Barrier; V</a:t>
            </a:r>
            <a:r>
              <a:rPr lang="en-US" sz="2800" baseline="-25000" dirty="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b – Barrier Strength</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0ED569EC-1882-F923-7EDA-744416D19E2D}"/>
                  </a:ext>
                </a:extLst>
              </p:cNvPr>
              <p:cNvSpPr txBox="1"/>
              <p:nvPr/>
            </p:nvSpPr>
            <p:spPr>
              <a:xfrm>
                <a:off x="86495" y="1141633"/>
                <a:ext cx="5009980" cy="703526"/>
              </a:xfrm>
              <a:prstGeom prst="rect">
                <a:avLst/>
              </a:prstGeom>
              <a:solidFill>
                <a:schemeClr val="bg1"/>
              </a:solidFill>
              <a:ln w="28575">
                <a:solidFill>
                  <a:srgbClr val="002060"/>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𝐶𝑜𝑠</m:t>
                      </m:r>
                      <m:r>
                        <a:rPr lang="en-US" sz="2400" i="1" smtClean="0">
                          <a:latin typeface="Cambria Math" panose="02040503050406030204" pitchFamily="18" charset="0"/>
                        </a:rPr>
                        <m:t> </m:t>
                      </m:r>
                      <m:d>
                        <m:dPr>
                          <m:ctrlPr>
                            <a:rPr lang="en-US" sz="2400" i="1">
                              <a:latin typeface="Cambria Math"/>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𝑘</m:t>
                          </m:r>
                          <m:r>
                            <a:rPr lang="en-US" sz="2400" i="1">
                              <a:latin typeface="Cambria Math" panose="02040503050406030204" pitchFamily="18" charset="0"/>
                              <a:ea typeface="Cambria Math" panose="02040503050406030204" pitchFamily="18" charset="0"/>
                            </a:rPr>
                            <m:t>𝑎</m:t>
                          </m:r>
                        </m:e>
                      </m:d>
                      <m:r>
                        <a:rPr lang="en-US" sz="2400" b="0" i="0" smtClean="0">
                          <a:latin typeface="Cambria Math" panose="02040503050406030204" pitchFamily="18" charset="0"/>
                        </a:rPr>
                        <m:t> </m:t>
                      </m:r>
                      <m:r>
                        <a:rPr lang="en-US" sz="2400" i="1" smtClean="0">
                          <a:latin typeface="Cambria Math" panose="02040503050406030204" pitchFamily="18" charset="0"/>
                        </a:rPr>
                        <m:t>=</m:t>
                      </m:r>
                      <m:r>
                        <a:rPr lang="en-US" sz="2400" b="0" i="1" smtClean="0">
                          <a:latin typeface="Cambria Math" panose="02040503050406030204" pitchFamily="18" charset="0"/>
                        </a:rPr>
                        <m:t>𝐶𝑜𝑠</m:t>
                      </m:r>
                      <m:r>
                        <a:rPr lang="en-US" sz="2400" b="0" i="1" smtClean="0">
                          <a:latin typeface="Cambria Math" panose="02040503050406030204" pitchFamily="18" charset="0"/>
                        </a:rPr>
                        <m:t> </m:t>
                      </m:r>
                      <m:d>
                        <m:dPr>
                          <m:ctrlPr>
                            <a:rPr lang="en-US" sz="2400" b="0" i="1" smtClean="0">
                              <a:latin typeface="Cambria Math"/>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𝛼</m:t>
                          </m:r>
                          <m:r>
                            <a:rPr lang="en-US" sz="2400" b="0" i="1" smtClean="0">
                              <a:latin typeface="Cambria Math" panose="02040503050406030204" pitchFamily="18" charset="0"/>
                              <a:ea typeface="Cambria Math" panose="02040503050406030204" pitchFamily="18" charset="0"/>
                            </a:rPr>
                            <m:t>𝑎</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𝑃</m:t>
                      </m:r>
                      <m:f>
                        <m:fPr>
                          <m:ctrlPr>
                            <a:rPr lang="en-US" sz="2400" b="0" i="1" smtClean="0">
                              <a:latin typeface="Cambria Math"/>
                              <a:ea typeface="Cambria Math" panose="02040503050406030204" pitchFamily="18" charset="0"/>
                            </a:rPr>
                          </m:ctrlPr>
                        </m:fPr>
                        <m:num>
                          <m:r>
                            <m:rPr>
                              <m:sty m:val="p"/>
                            </m:rPr>
                            <a:rPr lang="en-US" sz="2400" b="0" i="0" smtClean="0">
                              <a:latin typeface="Cambria Math" panose="02040503050406030204" pitchFamily="18" charset="0"/>
                              <a:ea typeface="Cambria Math" panose="02040503050406030204" pitchFamily="18" charset="0"/>
                            </a:rPr>
                            <m:t>sin</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𝛼</m:t>
                          </m:r>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m:t>
                          </m:r>
                        </m:num>
                        <m:den>
                          <m:r>
                            <a:rPr lang="en-US" sz="2400" b="0" i="1" smtClean="0">
                              <a:latin typeface="Cambria Math" panose="02040503050406030204" pitchFamily="18" charset="0"/>
                              <a:ea typeface="Cambria Math" panose="02040503050406030204" pitchFamily="18" charset="0"/>
                            </a:rPr>
                            <m:t>𝛼</m:t>
                          </m:r>
                          <m:r>
                            <a:rPr lang="en-US" sz="2400" b="0" i="1" smtClean="0">
                              <a:latin typeface="Cambria Math" panose="02040503050406030204" pitchFamily="18" charset="0"/>
                              <a:ea typeface="Cambria Math" panose="02040503050406030204" pitchFamily="18" charset="0"/>
                            </a:rPr>
                            <m:t>𝑎</m:t>
                          </m:r>
                        </m:den>
                      </m:f>
                    </m:oMath>
                  </m:oMathPara>
                </a14:m>
                <a:endParaRPr lang="en-US" sz="2400"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0ED569EC-1882-F923-7EDA-744416D19E2D}"/>
                  </a:ext>
                </a:extLst>
              </p:cNvPr>
              <p:cNvSpPr txBox="1">
                <a:spLocks noRot="1" noChangeAspect="1" noMove="1" noResize="1" noEditPoints="1" noAdjustHandles="1" noChangeArrowheads="1" noChangeShapeType="1" noTextEdit="1"/>
              </p:cNvSpPr>
              <p:nvPr/>
            </p:nvSpPr>
            <p:spPr>
              <a:xfrm>
                <a:off x="86495" y="1141633"/>
                <a:ext cx="5009980" cy="703526"/>
              </a:xfrm>
              <a:prstGeom prst="rect">
                <a:avLst/>
              </a:prstGeom>
              <a:blipFill>
                <a:blip r:embed="rId4"/>
                <a:stretch>
                  <a:fillRect t="-5085" b="-6780"/>
                </a:stretch>
              </a:blipFill>
              <a:ln w="28575">
                <a:solidFill>
                  <a:srgbClr val="00206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xmlns="" id="{387D5F77-9F84-A22F-8C5E-F7888FB203F3}"/>
                  </a:ext>
                </a:extLst>
              </p:cNvPr>
              <p:cNvSpPr txBox="1"/>
              <p:nvPr/>
            </p:nvSpPr>
            <p:spPr>
              <a:xfrm>
                <a:off x="5201581" y="1141633"/>
                <a:ext cx="6865242" cy="631263"/>
              </a:xfrm>
              <a:prstGeom prst="rect">
                <a:avLst/>
              </a:prstGeom>
              <a:solidFill>
                <a:schemeClr val="bg1"/>
              </a:solidFill>
              <a:ln w="28575">
                <a:solidFill>
                  <a:srgbClr val="002060"/>
                </a:solidFill>
              </a:ln>
            </p:spPr>
            <p:txBody>
              <a:bodyPr wrap="square" lIns="0" tIns="0" rIns="0" bIns="0" rtlCol="0">
                <a:spAutoFit/>
              </a:bodyPr>
              <a:lstStyle/>
              <a:p>
                <a:r>
                  <a:rPr lang="en-US" sz="2800" b="0" dirty="0">
                    <a:ea typeface="Cambria Math" panose="02040503050406030204" pitchFamily="18" charset="0"/>
                  </a:rPr>
                  <a:t>w</a:t>
                </a:r>
                <a14:m>
                  <m:oMath xmlns:m="http://schemas.openxmlformats.org/officeDocument/2006/math">
                    <m:r>
                      <a:rPr lang="en-US" sz="2800" b="0" i="1" smtClean="0">
                        <a:latin typeface="Cambria Math" panose="02040503050406030204" pitchFamily="18" charset="0"/>
                        <a:ea typeface="Cambria Math" panose="02040503050406030204" pitchFamily="18" charset="0"/>
                      </a:rPr>
                      <m:t>h𝑒𝑟𝑒</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𝑃</m:t>
                    </m:r>
                    <m:r>
                      <a:rPr lang="en-US" sz="2800" b="0" i="1" smtClean="0">
                        <a:latin typeface="Cambria Math" panose="02040503050406030204" pitchFamily="18" charset="0"/>
                        <a:ea typeface="Cambria Math" panose="02040503050406030204" pitchFamily="18" charset="0"/>
                      </a:rPr>
                      <m:t>=</m:t>
                    </m:r>
                    <m:f>
                      <m:fPr>
                        <m:ctrlPr>
                          <a:rPr lang="en-US" sz="2800" b="0" i="1" smtClean="0">
                            <a:latin typeface="Cambria Math"/>
                            <a:ea typeface="Cambria Math" panose="02040503050406030204" pitchFamily="18" charset="0"/>
                          </a:rPr>
                        </m:ctrlPr>
                      </m:fPr>
                      <m:num>
                        <m:r>
                          <m:rPr>
                            <m:sty m:val="p"/>
                          </m:rPr>
                          <a:rPr lang="en-US" sz="2800" b="0" i="0" smtClean="0">
                            <a:latin typeface="Cambria Math" panose="02040503050406030204" pitchFamily="18" charset="0"/>
                            <a:ea typeface="Cambria Math" panose="02040503050406030204" pitchFamily="18" charset="0"/>
                          </a:rPr>
                          <m:t>m</m:t>
                        </m:r>
                        <m:sSub>
                          <m:sSubPr>
                            <m:ctrlPr>
                              <a:rPr lang="en-US" sz="2800" b="0" i="1" smtClean="0">
                                <a:latin typeface="Cambria Math"/>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𝑉</m:t>
                            </m:r>
                          </m:e>
                          <m:sub>
                            <m:r>
                              <a:rPr lang="en-US" sz="2800" b="0" i="1" smtClean="0">
                                <a:latin typeface="Cambria Math" panose="02040503050406030204" pitchFamily="18" charset="0"/>
                                <a:ea typeface="Cambria Math" panose="02040503050406030204" pitchFamily="18" charset="0"/>
                              </a:rPr>
                              <m:t>0</m:t>
                            </m:r>
                          </m:sub>
                        </m:sSub>
                        <m:r>
                          <m:rPr>
                            <m:sty m:val="p"/>
                          </m:rPr>
                          <a:rPr lang="en-US" sz="2800" b="0" i="0" smtClean="0">
                            <a:latin typeface="Cambria Math" panose="02040503050406030204" pitchFamily="18" charset="0"/>
                            <a:ea typeface="Cambria Math" panose="02040503050406030204" pitchFamily="18" charset="0"/>
                          </a:rPr>
                          <m:t>ba</m:t>
                        </m:r>
                        <m:r>
                          <a:rPr lang="en-US" sz="2800" b="0" i="1" smtClean="0">
                            <a:latin typeface="Cambria Math" panose="02040503050406030204" pitchFamily="18" charset="0"/>
                            <a:ea typeface="Cambria Math" panose="02040503050406030204" pitchFamily="18" charset="0"/>
                          </a:rPr>
                          <m:t>⁡</m:t>
                        </m:r>
                      </m:num>
                      <m:den>
                        <m:sSup>
                          <m:sSupPr>
                            <m:ctrlPr>
                              <a:rPr lang="en-US" sz="2800" b="0" i="1" smtClean="0">
                                <a:latin typeface="Cambria Math"/>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ℏ</m:t>
                            </m:r>
                          </m:e>
                          <m:sup>
                            <m:r>
                              <a:rPr lang="en-US" sz="2800" b="0" i="1" smtClean="0">
                                <a:latin typeface="Cambria Math" panose="02040503050406030204" pitchFamily="18" charset="0"/>
                                <a:ea typeface="Cambria Math" panose="02040503050406030204" pitchFamily="18" charset="0"/>
                              </a:rPr>
                              <m:t>2</m:t>
                            </m:r>
                          </m:sup>
                        </m:sSup>
                      </m:den>
                    </m:f>
                  </m:oMath>
                </a14:m>
                <a:r>
                  <a:rPr lang="en-US" sz="2800" dirty="0">
                    <a:latin typeface="Times New Roman" panose="02020603050405020304" pitchFamily="18" charset="0"/>
                    <a:cs typeface="Times New Roman" panose="02020603050405020304" pitchFamily="18" charset="0"/>
                  </a:rPr>
                  <a:t> ; </a:t>
                </a:r>
                <a14:m>
                  <m:oMath xmlns:m="http://schemas.openxmlformats.org/officeDocument/2006/math">
                    <m:r>
                      <a:rPr lang="en-US" sz="2800" i="1">
                        <a:latin typeface="Cambria Math" panose="02040503050406030204" pitchFamily="18" charset="0"/>
                        <a:ea typeface="Cambria Math" panose="02040503050406030204" pitchFamily="18" charset="0"/>
                      </a:rPr>
                      <m:t>𝛼</m:t>
                    </m:r>
                    <m:r>
                      <a:rPr lang="en-US" sz="2800" i="1">
                        <a:latin typeface="Cambria Math" panose="02040503050406030204" pitchFamily="18" charset="0"/>
                        <a:ea typeface="Cambria Math" panose="02040503050406030204" pitchFamily="18" charset="0"/>
                      </a:rPr>
                      <m:t>=</m:t>
                    </m:r>
                    <m:f>
                      <m:fPr>
                        <m:ctrlPr>
                          <a:rPr lang="en-US" sz="2800" i="1">
                            <a:latin typeface="Cambria Math"/>
                            <a:ea typeface="Cambria Math" panose="02040503050406030204" pitchFamily="18" charset="0"/>
                          </a:rPr>
                        </m:ctrlPr>
                      </m:fPr>
                      <m:num>
                        <m:r>
                          <a:rPr lang="en-US" sz="2800" b="0" i="0" smtClean="0">
                            <a:latin typeface="Cambria Math" panose="02040503050406030204" pitchFamily="18" charset="0"/>
                            <a:ea typeface="Cambria Math" panose="02040503050406030204" pitchFamily="18" charset="0"/>
                          </a:rPr>
                          <m:t>2</m:t>
                        </m:r>
                        <m:r>
                          <m:rPr>
                            <m:sty m:val="p"/>
                          </m:rPr>
                          <a:rPr lang="en-US" sz="2800">
                            <a:latin typeface="Cambria Math" panose="02040503050406030204" pitchFamily="18" charset="0"/>
                            <a:ea typeface="Cambria Math" panose="02040503050406030204" pitchFamily="18" charset="0"/>
                          </a:rPr>
                          <m:t>m</m:t>
                        </m:r>
                        <m:r>
                          <m:rPr>
                            <m:sty m:val="p"/>
                          </m:rPr>
                          <a:rPr lang="en-US" sz="2800" b="0" i="0" smtClean="0">
                            <a:latin typeface="Cambria Math" panose="02040503050406030204" pitchFamily="18" charset="0"/>
                            <a:ea typeface="Cambria Math" panose="02040503050406030204" pitchFamily="18" charset="0"/>
                          </a:rPr>
                          <m:t>E</m:t>
                        </m:r>
                        <m:r>
                          <a:rPr lang="en-US" sz="2800" i="1">
                            <a:latin typeface="Cambria Math" panose="02040503050406030204" pitchFamily="18" charset="0"/>
                            <a:ea typeface="Cambria Math" panose="02040503050406030204" pitchFamily="18" charset="0"/>
                          </a:rPr>
                          <m:t>⁡</m:t>
                        </m:r>
                      </m:num>
                      <m:den>
                        <m:sSup>
                          <m:sSupPr>
                            <m:ctrlPr>
                              <a:rPr lang="en-US" sz="2800" i="1">
                                <a:latin typeface="Cambria Math"/>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ℏ</m:t>
                            </m:r>
                          </m:e>
                          <m:sup>
                            <m:r>
                              <a:rPr lang="en-US" sz="2800" i="1">
                                <a:latin typeface="Cambria Math" panose="02040503050406030204" pitchFamily="18" charset="0"/>
                                <a:ea typeface="Cambria Math" panose="02040503050406030204" pitchFamily="18" charset="0"/>
                              </a:rPr>
                              <m:t>2</m:t>
                            </m:r>
                          </m:sup>
                        </m:sSup>
                      </m:den>
                    </m:f>
                  </m:oMath>
                </a14:m>
                <a:endParaRPr lang="en-US" sz="2800" dirty="0">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387D5F77-9F84-A22F-8C5E-F7888FB203F3}"/>
                  </a:ext>
                </a:extLst>
              </p:cNvPr>
              <p:cNvSpPr txBox="1">
                <a:spLocks noRot="1" noChangeAspect="1" noMove="1" noResize="1" noEditPoints="1" noAdjustHandles="1" noChangeArrowheads="1" noChangeShapeType="1" noTextEdit="1"/>
              </p:cNvSpPr>
              <p:nvPr/>
            </p:nvSpPr>
            <p:spPr>
              <a:xfrm>
                <a:off x="5201581" y="1141633"/>
                <a:ext cx="6865242" cy="631263"/>
              </a:xfrm>
              <a:prstGeom prst="rect">
                <a:avLst/>
              </a:prstGeom>
              <a:blipFill>
                <a:blip r:embed="rId5"/>
                <a:stretch>
                  <a:fillRect l="-2941" t="-1852" b="-16667"/>
                </a:stretch>
              </a:blipFill>
              <a:ln w="28575">
                <a:solidFill>
                  <a:srgbClr val="002060"/>
                </a:solidFill>
              </a:ln>
            </p:spPr>
            <p:txBody>
              <a:bodyPr/>
              <a:lstStyle/>
              <a:p>
                <a:r>
                  <a:rPr lang="en-US">
                    <a:noFill/>
                  </a:rPr>
                  <a:t> </a:t>
                </a:r>
              </a:p>
            </p:txBody>
          </p:sp>
        </mc:Fallback>
      </mc:AlternateContent>
    </p:spTree>
    <p:extLst>
      <p:ext uri="{BB962C8B-B14F-4D97-AF65-F5344CB8AC3E}">
        <p14:creationId xmlns:p14="http://schemas.microsoft.com/office/powerpoint/2010/main" val="3640733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98" name="Text Box 46">
            <a:extLst>
              <a:ext uri="{FF2B5EF4-FFF2-40B4-BE49-F238E27FC236}">
                <a16:creationId xmlns:a16="http://schemas.microsoft.com/office/drawing/2014/main" xmlns="" id="{E708BB90-0599-F7FB-1646-8F2A977A5035}"/>
              </a:ext>
            </a:extLst>
          </p:cNvPr>
          <p:cNvSpPr txBox="1">
            <a:spLocks noChangeArrowheads="1"/>
          </p:cNvSpPr>
          <p:nvPr/>
        </p:nvSpPr>
        <p:spPr bwMode="auto">
          <a:xfrm>
            <a:off x="126792" y="69524"/>
            <a:ext cx="11938415" cy="523220"/>
          </a:xfrm>
          <a:prstGeom prst="rect">
            <a:avLst/>
          </a:prstGeom>
          <a:solidFill>
            <a:schemeClr val="bg1"/>
          </a:solidFill>
          <a:ln w="28575">
            <a:solidFill>
              <a:srgbClr val="002060"/>
            </a:solidFill>
          </a:ln>
          <a:effectLst/>
        </p:spPr>
        <p:txBody>
          <a:bodyPr wrap="square">
            <a:spAutoFit/>
          </a:bodyPr>
          <a:lstStyle/>
          <a:p>
            <a:r>
              <a:rPr lang="en-US" altLang="en-US" sz="2800" b="1" dirty="0">
                <a:solidFill>
                  <a:srgbClr val="C00000"/>
                </a:solidFill>
                <a:latin typeface="Times New Roman" panose="02020603050405020304" pitchFamily="18" charset="0"/>
                <a:cs typeface="Times New Roman" panose="02020603050405020304" pitchFamily="18" charset="0"/>
              </a:rPr>
              <a:t>E-k diagram </a:t>
            </a:r>
            <a:r>
              <a:rPr lang="en-US" altLang="en-US" sz="2800" dirty="0">
                <a:solidFill>
                  <a:srgbClr val="C00000"/>
                </a:solidFill>
                <a:latin typeface="Times New Roman" panose="02020603050405020304" pitchFamily="18" charset="0"/>
                <a:cs typeface="Times New Roman" panose="02020603050405020304" pitchFamily="18" charset="0"/>
              </a:rPr>
              <a:t>:</a:t>
            </a:r>
            <a:endParaRPr lang="en-IN" altLang="en-US" sz="2800" dirty="0">
              <a:solidFill>
                <a:srgbClr val="C0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xmlns="" id="{E9C78428-D3BC-F49C-BD1C-2112201E3D40}"/>
              </a:ext>
            </a:extLst>
          </p:cNvPr>
          <p:cNvSpPr txBox="1"/>
          <p:nvPr/>
        </p:nvSpPr>
        <p:spPr>
          <a:xfrm>
            <a:off x="121512" y="672534"/>
            <a:ext cx="11938413" cy="1200329"/>
          </a:xfrm>
          <a:prstGeom prst="rect">
            <a:avLst/>
          </a:prstGeom>
          <a:solidFill>
            <a:schemeClr val="bg1"/>
          </a:solidFill>
          <a:ln w="28575">
            <a:solidFill>
              <a:srgbClr val="002060"/>
            </a:solidFill>
          </a:ln>
        </p:spPr>
        <p:txBody>
          <a:bodyPr wrap="square">
            <a:spAutoFit/>
          </a:bodyPr>
          <a:lstStyle/>
          <a:p>
            <a:r>
              <a:rPr lang="en-IN" sz="2400" b="0" i="0" u="none" strike="noStrike" dirty="0">
                <a:solidFill>
                  <a:srgbClr val="002060"/>
                </a:solidFill>
                <a:effectLst/>
                <a:latin typeface="Times New Roman" panose="02020603050405020304" pitchFamily="18" charset="0"/>
                <a:cs typeface="Times New Roman" panose="02020603050405020304" pitchFamily="18" charset="0"/>
              </a:rPr>
              <a:t>An E-k diagram from the </a:t>
            </a:r>
            <a:r>
              <a:rPr lang="en-IN" sz="2400" dirty="0" err="1">
                <a:solidFill>
                  <a:srgbClr val="002060"/>
                </a:solidFill>
                <a:latin typeface="Times New Roman" panose="02020603050405020304" pitchFamily="18" charset="0"/>
                <a:cs typeface="Times New Roman" panose="02020603050405020304" pitchFamily="18" charset="0"/>
              </a:rPr>
              <a:t>K</a:t>
            </a:r>
            <a:r>
              <a:rPr lang="en-IN" sz="2400" b="0" i="0" u="none" strike="noStrike" dirty="0" err="1">
                <a:solidFill>
                  <a:srgbClr val="002060"/>
                </a:solidFill>
                <a:effectLst/>
                <a:latin typeface="Times New Roman" panose="02020603050405020304" pitchFamily="18" charset="0"/>
                <a:cs typeface="Times New Roman" panose="02020603050405020304" pitchFamily="18" charset="0"/>
              </a:rPr>
              <a:t>roning</a:t>
            </a:r>
            <a:r>
              <a:rPr lang="en-IN" sz="2400" dirty="0">
                <a:solidFill>
                  <a:srgbClr val="002060"/>
                </a:solidFill>
                <a:latin typeface="Times New Roman" panose="02020603050405020304" pitchFamily="18" charset="0"/>
                <a:cs typeface="Times New Roman" panose="02020603050405020304" pitchFamily="18" charset="0"/>
              </a:rPr>
              <a:t>- penny model </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is a plot of electron energy (E) versus wave vector (k) in a crystalline solid, illustrating how the energy levels of electrons are modified by the periodic potential of the crystal lattice. </a:t>
            </a:r>
          </a:p>
        </p:txBody>
      </p:sp>
      <p:sp>
        <p:nvSpPr>
          <p:cNvPr id="5" name="TextBox 4">
            <a:extLst>
              <a:ext uri="{FF2B5EF4-FFF2-40B4-BE49-F238E27FC236}">
                <a16:creationId xmlns:a16="http://schemas.microsoft.com/office/drawing/2014/main" xmlns="" id="{00613F9B-C171-388D-B987-6A9D4D5945D5}"/>
              </a:ext>
            </a:extLst>
          </p:cNvPr>
          <p:cNvSpPr txBox="1"/>
          <p:nvPr/>
        </p:nvSpPr>
        <p:spPr>
          <a:xfrm>
            <a:off x="7001627" y="3642096"/>
            <a:ext cx="5058295" cy="3170099"/>
          </a:xfrm>
          <a:prstGeom prst="rect">
            <a:avLst/>
          </a:prstGeom>
          <a:solidFill>
            <a:schemeClr val="bg1"/>
          </a:solidFill>
          <a:ln w="28575">
            <a:solidFill>
              <a:srgbClr val="002060"/>
            </a:solidFill>
          </a:ln>
        </p:spPr>
        <p:txBody>
          <a:bodyPr wrap="square">
            <a:spAutoFit/>
          </a:bodyPr>
          <a:lstStyle/>
          <a:p>
            <a:r>
              <a:rPr lang="en-IN" sz="2500" b="0" i="0" u="none" strike="noStrike" dirty="0">
                <a:solidFill>
                  <a:srgbClr val="002060"/>
                </a:solidFill>
                <a:effectLst/>
                <a:latin typeface="Times New Roman" panose="02020603050405020304" pitchFamily="18" charset="0"/>
                <a:cs typeface="Times New Roman" panose="02020603050405020304" pitchFamily="18" charset="0"/>
              </a:rPr>
              <a:t>The periodic potential causes the otherwise parabolic relationship between energy and wave vector for a free electron to develop discontinuities, forming these bands and gaps that determine the electrical properties of materials like semiconductors.</a:t>
            </a:r>
            <a:endParaRPr lang="en-US" sz="2500" dirty="0">
              <a:solidFill>
                <a:srgbClr val="002060"/>
              </a:solidFill>
              <a:latin typeface="Times New Roman" panose="02020603050405020304" pitchFamily="18" charset="0"/>
              <a:cs typeface="Times New Roman" panose="02020603050405020304" pitchFamily="18" charset="0"/>
            </a:endParaRPr>
          </a:p>
        </p:txBody>
      </p:sp>
      <p:pic>
        <p:nvPicPr>
          <p:cNvPr id="7" name="Picture 6" descr="A graph of a function&#10;&#10;Description automatically generated">
            <a:extLst>
              <a:ext uri="{FF2B5EF4-FFF2-40B4-BE49-F238E27FC236}">
                <a16:creationId xmlns:a16="http://schemas.microsoft.com/office/drawing/2014/main" xmlns="" id="{05F53F33-B740-16B3-FF6F-221B9239754C}"/>
              </a:ext>
            </a:extLst>
          </p:cNvPr>
          <p:cNvPicPr>
            <a:picLocks noChangeAspect="1"/>
          </p:cNvPicPr>
          <p:nvPr/>
        </p:nvPicPr>
        <p:blipFill>
          <a:blip r:embed="rId3">
            <a:grayscl/>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a:off x="132076" y="1939772"/>
            <a:ext cx="6776724" cy="4848704"/>
          </a:xfrm>
          <a:prstGeom prst="rect">
            <a:avLst/>
          </a:prstGeom>
          <a:ln w="28575">
            <a:solidFill>
              <a:srgbClr val="002060"/>
            </a:solidFill>
          </a:ln>
        </p:spPr>
      </p:pic>
      <p:sp>
        <p:nvSpPr>
          <p:cNvPr id="4" name="TextBox 3">
            <a:extLst>
              <a:ext uri="{FF2B5EF4-FFF2-40B4-BE49-F238E27FC236}">
                <a16:creationId xmlns:a16="http://schemas.microsoft.com/office/drawing/2014/main" xmlns="" id="{2E4782EA-35BB-C7FB-9292-04E45AF41F0B}"/>
              </a:ext>
            </a:extLst>
          </p:cNvPr>
          <p:cNvSpPr txBox="1"/>
          <p:nvPr/>
        </p:nvSpPr>
        <p:spPr>
          <a:xfrm>
            <a:off x="7001628" y="1911225"/>
            <a:ext cx="5058295" cy="1692771"/>
          </a:xfrm>
          <a:prstGeom prst="rect">
            <a:avLst/>
          </a:prstGeom>
          <a:solidFill>
            <a:schemeClr val="bg1"/>
          </a:solidFill>
          <a:ln w="19050">
            <a:solidFill>
              <a:srgbClr val="002060"/>
            </a:solidFill>
          </a:ln>
        </p:spPr>
        <p:txBody>
          <a:bodyPr wrap="square">
            <a:spAutoFit/>
          </a:bodyPr>
          <a:lstStyle/>
          <a:p>
            <a:r>
              <a:rPr lang="en-IN" sz="2600" b="0" i="0" u="none" strike="noStrike" dirty="0">
                <a:solidFill>
                  <a:srgbClr val="002060"/>
                </a:solidFill>
                <a:effectLst/>
                <a:latin typeface="Times New Roman" panose="02020603050405020304" pitchFamily="18" charset="0"/>
                <a:cs typeface="Times New Roman" panose="02020603050405020304" pitchFamily="18" charset="0"/>
              </a:rPr>
              <a:t>The diagram shows energy bands (continuous allowed regions of energy) separated by forbidden energy gaps.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a:extLst>
              <a:ext uri="{FF2B5EF4-FFF2-40B4-BE49-F238E27FC236}">
                <a16:creationId xmlns:a16="http://schemas.microsoft.com/office/drawing/2014/main" xmlns="" id="{920FF7F3-EF2E-CB3C-8D6B-503942B38284}"/>
              </a:ext>
            </a:extLst>
          </p:cNvPr>
          <p:cNvSpPr>
            <a:spLocks noGrp="1" noChangeArrowheads="1"/>
          </p:cNvSpPr>
          <p:nvPr>
            <p:ph type="body" idx="1"/>
          </p:nvPr>
        </p:nvSpPr>
        <p:spPr>
          <a:xfrm>
            <a:off x="148281" y="114300"/>
            <a:ext cx="11911914" cy="1231558"/>
          </a:xfrm>
          <a:solidFill>
            <a:schemeClr val="bg1"/>
          </a:solidFill>
          <a:ln w="28575">
            <a:solidFill>
              <a:srgbClr val="002060"/>
            </a:solidFill>
          </a:ln>
        </p:spPr>
        <p:txBody>
          <a:bodyPr>
            <a:noAutofit/>
          </a:bodyPr>
          <a:lstStyle/>
          <a:p>
            <a:pPr marL="0" indent="0">
              <a:lnSpc>
                <a:spcPct val="80000"/>
              </a:lnSpc>
              <a:buNone/>
            </a:pPr>
            <a:r>
              <a:rPr lang="en-US" altLang="en-US" b="1" dirty="0">
                <a:solidFill>
                  <a:srgbClr val="C00000"/>
                </a:solidFill>
                <a:latin typeface="Times New Roman" panose="02020603050405020304" pitchFamily="18" charset="0"/>
                <a:cs typeface="Times New Roman" panose="02020603050405020304" pitchFamily="18" charset="0"/>
              </a:rPr>
              <a:t>Origin of energy band formation in solids</a:t>
            </a:r>
          </a:p>
          <a:p>
            <a:pPr marL="0" indent="0" algn="l">
              <a:buNone/>
            </a:pPr>
            <a:r>
              <a:rPr lang="en-IN" sz="2400" i="0" u="none" strike="noStrike" dirty="0">
                <a:solidFill>
                  <a:srgbClr val="002060"/>
                </a:solidFill>
                <a:effectLst/>
                <a:latin typeface="Times New Roman" panose="02020603050405020304" pitchFamily="18" charset="0"/>
                <a:cs typeface="Times New Roman" panose="02020603050405020304" pitchFamily="18" charset="0"/>
              </a:rPr>
              <a:t>The origin of energy band formation in solids arises from the quantum mechanical interaction of atoms when they come together to form a solid. </a:t>
            </a:r>
          </a:p>
          <a:p>
            <a:pPr marL="0" indent="0">
              <a:lnSpc>
                <a:spcPct val="80000"/>
              </a:lnSpc>
              <a:buNone/>
            </a:pPr>
            <a:endParaRPr lang="en-US" altLang="en-US" sz="2400" dirty="0">
              <a:solidFill>
                <a:srgbClr val="002060"/>
              </a:solidFill>
              <a:latin typeface="Times New Roman" panose="02020603050405020304" pitchFamily="18" charset="0"/>
              <a:cs typeface="Times New Roman" panose="02020603050405020304" pitchFamily="18" charset="0"/>
            </a:endParaRPr>
          </a:p>
          <a:p>
            <a:pPr>
              <a:lnSpc>
                <a:spcPct val="80000"/>
              </a:lnSpc>
            </a:pPr>
            <a:endParaRPr lang="en-IN" altLang="en-US" sz="2400"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xmlns="" id="{BCFAE09F-0368-4178-1890-57F276E8AD2C}"/>
              </a:ext>
            </a:extLst>
          </p:cNvPr>
          <p:cNvSpPr txBox="1"/>
          <p:nvPr/>
        </p:nvSpPr>
        <p:spPr>
          <a:xfrm>
            <a:off x="148281" y="1442621"/>
            <a:ext cx="5572897" cy="5262979"/>
          </a:xfrm>
          <a:prstGeom prst="rect">
            <a:avLst/>
          </a:prstGeom>
          <a:solidFill>
            <a:schemeClr val="bg1"/>
          </a:solidFill>
          <a:ln w="28575">
            <a:solidFill>
              <a:srgbClr val="002060"/>
            </a:solidFill>
          </a:ln>
        </p:spPr>
        <p:txBody>
          <a:bodyPr wrap="square">
            <a:spAutoFit/>
          </a:bodyPr>
          <a:lstStyle/>
          <a:p>
            <a:pPr marL="342900" indent="-342900" algn="l">
              <a:buFont typeface="Arial" panose="020B0604020202020204" pitchFamily="34" charset="0"/>
              <a:buChar char="•"/>
            </a:pPr>
            <a:r>
              <a:rPr lang="en-IN" sz="2400" b="0" i="0" u="none" strike="noStrike" dirty="0">
                <a:solidFill>
                  <a:srgbClr val="002060"/>
                </a:solidFill>
                <a:effectLst/>
                <a:latin typeface="Times New Roman" panose="02020603050405020304" pitchFamily="18" charset="0"/>
                <a:cs typeface="Times New Roman" panose="02020603050405020304" pitchFamily="18" charset="0"/>
              </a:rPr>
              <a:t>In a free atom, electrons occupy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discrete energy levels</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(1s, 2s, 2p, etc.). Each electron level is sharply defined due to the absence of neighbouring atoms.</a:t>
            </a:r>
          </a:p>
          <a:p>
            <a:pPr marL="342900" indent="-342900" algn="l">
              <a:buFont typeface="Arial" panose="020B0604020202020204" pitchFamily="34" charset="0"/>
              <a:buChar char="•"/>
            </a:pPr>
            <a:endParaRPr lang="en-IN" sz="2400" b="0" i="0" u="none" strike="noStrike" dirty="0">
              <a:solidFill>
                <a:srgbClr val="002060"/>
              </a:solidFill>
              <a:effectLst/>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IN" sz="2400" b="0" i="0" u="none" strike="noStrike" dirty="0">
                <a:solidFill>
                  <a:srgbClr val="002060"/>
                </a:solidFill>
                <a:effectLst/>
                <a:latin typeface="Times New Roman" panose="02020603050405020304" pitchFamily="18" charset="0"/>
                <a:cs typeface="Times New Roman" panose="02020603050405020304" pitchFamily="18" charset="0"/>
              </a:rPr>
              <a:t>When many atoms come close to form a solid (say N atoms), their outermost (valence) orbitals start to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overlap</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a:t>
            </a:r>
          </a:p>
          <a:p>
            <a:pPr marL="342900" indent="-342900" algn="l">
              <a:buFont typeface="Arial" panose="020B0604020202020204" pitchFamily="34" charset="0"/>
              <a:buChar char="•"/>
            </a:pPr>
            <a:endParaRPr lang="en-IN" sz="2400" dirty="0">
              <a:solidFill>
                <a:srgbClr val="002060"/>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IN" sz="2400" b="0" i="0" u="none" strike="noStrike" dirty="0">
                <a:solidFill>
                  <a:srgbClr val="002060"/>
                </a:solidFill>
                <a:effectLst/>
                <a:latin typeface="Times New Roman" panose="02020603050405020304" pitchFamily="18" charset="0"/>
                <a:cs typeface="Times New Roman" panose="02020603050405020304" pitchFamily="18" charset="0"/>
              </a:rPr>
              <a:t>According to the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Pauli Exclusion Principle</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no two electrons can occupy the same quantum state. Therefore, the discrete atomic energy levels split into many closely spaced levels.</a:t>
            </a:r>
          </a:p>
        </p:txBody>
      </p:sp>
      <p:grpSp>
        <p:nvGrpSpPr>
          <p:cNvPr id="4" name="Group 90">
            <a:extLst>
              <a:ext uri="{FF2B5EF4-FFF2-40B4-BE49-F238E27FC236}">
                <a16:creationId xmlns:a16="http://schemas.microsoft.com/office/drawing/2014/main" xmlns="" id="{C3E06ABA-2BAE-1A97-BB1F-1B8AED0FBCF7}"/>
              </a:ext>
            </a:extLst>
          </p:cNvPr>
          <p:cNvGrpSpPr>
            <a:grpSpLocks/>
          </p:cNvGrpSpPr>
          <p:nvPr/>
        </p:nvGrpSpPr>
        <p:grpSpPr bwMode="auto">
          <a:xfrm>
            <a:off x="5885800" y="1616154"/>
            <a:ext cx="2479589" cy="4967416"/>
            <a:chOff x="864" y="192"/>
            <a:chExt cx="1920" cy="3984"/>
          </a:xfrm>
          <a:solidFill>
            <a:schemeClr val="bg1"/>
          </a:solidFill>
        </p:grpSpPr>
        <p:grpSp>
          <p:nvGrpSpPr>
            <p:cNvPr id="5" name="Group 61">
              <a:extLst>
                <a:ext uri="{FF2B5EF4-FFF2-40B4-BE49-F238E27FC236}">
                  <a16:creationId xmlns:a16="http://schemas.microsoft.com/office/drawing/2014/main" xmlns="" id="{1356588D-B255-70A8-8758-A4A86146F977}"/>
                </a:ext>
              </a:extLst>
            </p:cNvPr>
            <p:cNvGrpSpPr>
              <a:grpSpLocks/>
            </p:cNvGrpSpPr>
            <p:nvPr/>
          </p:nvGrpSpPr>
          <p:grpSpPr bwMode="auto">
            <a:xfrm>
              <a:off x="1152" y="2016"/>
              <a:ext cx="960" cy="912"/>
              <a:chOff x="1296" y="1968"/>
              <a:chExt cx="960" cy="912"/>
            </a:xfrm>
            <a:grpFill/>
          </p:grpSpPr>
          <p:grpSp>
            <p:nvGrpSpPr>
              <p:cNvPr id="47" name="Group 53">
                <a:extLst>
                  <a:ext uri="{FF2B5EF4-FFF2-40B4-BE49-F238E27FC236}">
                    <a16:creationId xmlns:a16="http://schemas.microsoft.com/office/drawing/2014/main" xmlns="" id="{0E541DFA-FFD2-0886-50E0-3DE94AF4D648}"/>
                  </a:ext>
                </a:extLst>
              </p:cNvPr>
              <p:cNvGrpSpPr>
                <a:grpSpLocks/>
              </p:cNvGrpSpPr>
              <p:nvPr/>
            </p:nvGrpSpPr>
            <p:grpSpPr bwMode="auto">
              <a:xfrm>
                <a:off x="1296" y="2352"/>
                <a:ext cx="960" cy="528"/>
                <a:chOff x="3072" y="1488"/>
                <a:chExt cx="960" cy="528"/>
              </a:xfrm>
              <a:grpFill/>
            </p:grpSpPr>
            <p:grpSp>
              <p:nvGrpSpPr>
                <p:cNvPr id="51" name="Group 12">
                  <a:extLst>
                    <a:ext uri="{FF2B5EF4-FFF2-40B4-BE49-F238E27FC236}">
                      <a16:creationId xmlns:a16="http://schemas.microsoft.com/office/drawing/2014/main" xmlns="" id="{197574DB-707C-F2AD-29A6-2DD765E1CBF0}"/>
                    </a:ext>
                  </a:extLst>
                </p:cNvPr>
                <p:cNvGrpSpPr>
                  <a:grpSpLocks/>
                </p:cNvGrpSpPr>
                <p:nvPr/>
              </p:nvGrpSpPr>
              <p:grpSpPr bwMode="auto">
                <a:xfrm>
                  <a:off x="3072" y="1488"/>
                  <a:ext cx="528" cy="528"/>
                  <a:chOff x="1056" y="1344"/>
                  <a:chExt cx="528" cy="528"/>
                </a:xfrm>
                <a:grpFill/>
              </p:grpSpPr>
              <p:sp>
                <p:nvSpPr>
                  <p:cNvPr id="55" name="Oval 13">
                    <a:extLst>
                      <a:ext uri="{FF2B5EF4-FFF2-40B4-BE49-F238E27FC236}">
                        <a16:creationId xmlns:a16="http://schemas.microsoft.com/office/drawing/2014/main" xmlns="" id="{474F76CF-CA76-C2E9-15CF-88C65B45AE66}"/>
                      </a:ext>
                    </a:extLst>
                  </p:cNvPr>
                  <p:cNvSpPr>
                    <a:spLocks noChangeArrowheads="1"/>
                  </p:cNvSpPr>
                  <p:nvPr/>
                </p:nvSpPr>
                <p:spPr bwMode="auto">
                  <a:xfrm>
                    <a:off x="1056" y="1344"/>
                    <a:ext cx="528" cy="528"/>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 name="Oval 14">
                    <a:extLst>
                      <a:ext uri="{FF2B5EF4-FFF2-40B4-BE49-F238E27FC236}">
                        <a16:creationId xmlns:a16="http://schemas.microsoft.com/office/drawing/2014/main" xmlns="" id="{7251EFF8-22F1-9251-8D91-0BAD1CDDAC2F}"/>
                      </a:ext>
                    </a:extLst>
                  </p:cNvPr>
                  <p:cNvSpPr>
                    <a:spLocks noChangeArrowheads="1"/>
                  </p:cNvSpPr>
                  <p:nvPr/>
                </p:nvSpPr>
                <p:spPr bwMode="auto">
                  <a:xfrm>
                    <a:off x="1248" y="1536"/>
                    <a:ext cx="144" cy="144"/>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2" name="Group 15">
                  <a:extLst>
                    <a:ext uri="{FF2B5EF4-FFF2-40B4-BE49-F238E27FC236}">
                      <a16:creationId xmlns:a16="http://schemas.microsoft.com/office/drawing/2014/main" xmlns="" id="{3B5540B0-29EE-C9F8-2F07-87783E4B85DD}"/>
                    </a:ext>
                  </a:extLst>
                </p:cNvPr>
                <p:cNvGrpSpPr>
                  <a:grpSpLocks/>
                </p:cNvGrpSpPr>
                <p:nvPr/>
              </p:nvGrpSpPr>
              <p:grpSpPr bwMode="auto">
                <a:xfrm>
                  <a:off x="3504" y="1488"/>
                  <a:ext cx="528" cy="528"/>
                  <a:chOff x="1056" y="1344"/>
                  <a:chExt cx="528" cy="528"/>
                </a:xfrm>
                <a:grpFill/>
              </p:grpSpPr>
              <p:sp>
                <p:nvSpPr>
                  <p:cNvPr id="53" name="Oval 16">
                    <a:extLst>
                      <a:ext uri="{FF2B5EF4-FFF2-40B4-BE49-F238E27FC236}">
                        <a16:creationId xmlns:a16="http://schemas.microsoft.com/office/drawing/2014/main" xmlns="" id="{44621B0B-2C14-879A-FC55-6A2EB56DE6E0}"/>
                      </a:ext>
                    </a:extLst>
                  </p:cNvPr>
                  <p:cNvSpPr>
                    <a:spLocks noChangeArrowheads="1"/>
                  </p:cNvSpPr>
                  <p:nvPr/>
                </p:nvSpPr>
                <p:spPr bwMode="auto">
                  <a:xfrm>
                    <a:off x="1056" y="1344"/>
                    <a:ext cx="528" cy="528"/>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 name="Oval 17">
                    <a:extLst>
                      <a:ext uri="{FF2B5EF4-FFF2-40B4-BE49-F238E27FC236}">
                        <a16:creationId xmlns:a16="http://schemas.microsoft.com/office/drawing/2014/main" xmlns="" id="{54E0311C-D677-5D15-26C5-8B00F7EDFCE1}"/>
                      </a:ext>
                    </a:extLst>
                  </p:cNvPr>
                  <p:cNvSpPr>
                    <a:spLocks noChangeArrowheads="1"/>
                  </p:cNvSpPr>
                  <p:nvPr/>
                </p:nvSpPr>
                <p:spPr bwMode="auto">
                  <a:xfrm>
                    <a:off x="1248" y="1536"/>
                    <a:ext cx="144" cy="144"/>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48" name="Group 18">
                <a:extLst>
                  <a:ext uri="{FF2B5EF4-FFF2-40B4-BE49-F238E27FC236}">
                    <a16:creationId xmlns:a16="http://schemas.microsoft.com/office/drawing/2014/main" xmlns="" id="{A4293BB6-9FCE-67D5-187B-CE468E81F785}"/>
                  </a:ext>
                </a:extLst>
              </p:cNvPr>
              <p:cNvGrpSpPr>
                <a:grpSpLocks/>
              </p:cNvGrpSpPr>
              <p:nvPr/>
            </p:nvGrpSpPr>
            <p:grpSpPr bwMode="auto">
              <a:xfrm>
                <a:off x="1536" y="1968"/>
                <a:ext cx="528" cy="528"/>
                <a:chOff x="1056" y="1344"/>
                <a:chExt cx="528" cy="528"/>
              </a:xfrm>
              <a:grpFill/>
            </p:grpSpPr>
            <p:sp>
              <p:nvSpPr>
                <p:cNvPr id="49" name="Oval 19">
                  <a:extLst>
                    <a:ext uri="{FF2B5EF4-FFF2-40B4-BE49-F238E27FC236}">
                      <a16:creationId xmlns:a16="http://schemas.microsoft.com/office/drawing/2014/main" xmlns="" id="{80C53C05-2B6B-4F0E-EF86-D1356FBD9BAE}"/>
                    </a:ext>
                  </a:extLst>
                </p:cNvPr>
                <p:cNvSpPr>
                  <a:spLocks noChangeArrowheads="1"/>
                </p:cNvSpPr>
                <p:nvPr/>
              </p:nvSpPr>
              <p:spPr bwMode="auto">
                <a:xfrm>
                  <a:off x="1056" y="1344"/>
                  <a:ext cx="528" cy="528"/>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 name="Oval 20">
                  <a:extLst>
                    <a:ext uri="{FF2B5EF4-FFF2-40B4-BE49-F238E27FC236}">
                      <a16:creationId xmlns:a16="http://schemas.microsoft.com/office/drawing/2014/main" xmlns="" id="{FB6048AC-E6AB-4C13-BEE4-0706FA26336D}"/>
                    </a:ext>
                  </a:extLst>
                </p:cNvPr>
                <p:cNvSpPr>
                  <a:spLocks noChangeArrowheads="1"/>
                </p:cNvSpPr>
                <p:nvPr/>
              </p:nvSpPr>
              <p:spPr bwMode="auto">
                <a:xfrm>
                  <a:off x="1248" y="1536"/>
                  <a:ext cx="144" cy="144"/>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6" name="Group 26">
              <a:extLst>
                <a:ext uri="{FF2B5EF4-FFF2-40B4-BE49-F238E27FC236}">
                  <a16:creationId xmlns:a16="http://schemas.microsoft.com/office/drawing/2014/main" xmlns="" id="{43C02BBC-2D10-AA2F-E4D3-42C8795BA151}"/>
                </a:ext>
              </a:extLst>
            </p:cNvPr>
            <p:cNvGrpSpPr>
              <a:grpSpLocks/>
            </p:cNvGrpSpPr>
            <p:nvPr/>
          </p:nvGrpSpPr>
          <p:grpSpPr bwMode="auto">
            <a:xfrm>
              <a:off x="1392" y="192"/>
              <a:ext cx="528" cy="528"/>
              <a:chOff x="1056" y="1344"/>
              <a:chExt cx="528" cy="528"/>
            </a:xfrm>
            <a:grpFill/>
          </p:grpSpPr>
          <p:sp>
            <p:nvSpPr>
              <p:cNvPr id="45" name="Oval 27">
                <a:extLst>
                  <a:ext uri="{FF2B5EF4-FFF2-40B4-BE49-F238E27FC236}">
                    <a16:creationId xmlns:a16="http://schemas.microsoft.com/office/drawing/2014/main" xmlns="" id="{E417608C-A4E6-FB5C-34D9-62F541A5D85B}"/>
                  </a:ext>
                </a:extLst>
              </p:cNvPr>
              <p:cNvSpPr>
                <a:spLocks noChangeArrowheads="1"/>
              </p:cNvSpPr>
              <p:nvPr/>
            </p:nvSpPr>
            <p:spPr bwMode="auto">
              <a:xfrm>
                <a:off x="1056" y="1344"/>
                <a:ext cx="528" cy="528"/>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 name="Oval 28">
                <a:extLst>
                  <a:ext uri="{FF2B5EF4-FFF2-40B4-BE49-F238E27FC236}">
                    <a16:creationId xmlns:a16="http://schemas.microsoft.com/office/drawing/2014/main" xmlns="" id="{AC12ABF3-E16B-1051-F337-473E822E7A69}"/>
                  </a:ext>
                </a:extLst>
              </p:cNvPr>
              <p:cNvSpPr>
                <a:spLocks noChangeArrowheads="1"/>
              </p:cNvSpPr>
              <p:nvPr/>
            </p:nvSpPr>
            <p:spPr bwMode="auto">
              <a:xfrm>
                <a:off x="1248" y="1536"/>
                <a:ext cx="144" cy="144"/>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 name="Group 52">
              <a:extLst>
                <a:ext uri="{FF2B5EF4-FFF2-40B4-BE49-F238E27FC236}">
                  <a16:creationId xmlns:a16="http://schemas.microsoft.com/office/drawing/2014/main" xmlns="" id="{025A79DC-3C6B-690A-EE60-02C3AF0269C9}"/>
                </a:ext>
              </a:extLst>
            </p:cNvPr>
            <p:cNvGrpSpPr>
              <a:grpSpLocks/>
            </p:cNvGrpSpPr>
            <p:nvPr/>
          </p:nvGrpSpPr>
          <p:grpSpPr bwMode="auto">
            <a:xfrm>
              <a:off x="864" y="3216"/>
              <a:ext cx="1920" cy="960"/>
              <a:chOff x="1392" y="1968"/>
              <a:chExt cx="1920" cy="960"/>
            </a:xfrm>
            <a:grpFill/>
          </p:grpSpPr>
          <p:grpSp>
            <p:nvGrpSpPr>
              <p:cNvPr id="15" name="Group 36">
                <a:extLst>
                  <a:ext uri="{FF2B5EF4-FFF2-40B4-BE49-F238E27FC236}">
                    <a16:creationId xmlns:a16="http://schemas.microsoft.com/office/drawing/2014/main" xmlns="" id="{12A8D93E-09D6-3BCE-D264-1BBF81D12A1E}"/>
                  </a:ext>
                </a:extLst>
              </p:cNvPr>
              <p:cNvGrpSpPr>
                <a:grpSpLocks/>
              </p:cNvGrpSpPr>
              <p:nvPr/>
            </p:nvGrpSpPr>
            <p:grpSpPr bwMode="auto">
              <a:xfrm>
                <a:off x="1392" y="2400"/>
                <a:ext cx="1920" cy="528"/>
                <a:chOff x="1392" y="2400"/>
                <a:chExt cx="1920" cy="528"/>
              </a:xfrm>
              <a:grpFill/>
            </p:grpSpPr>
            <p:grpSp>
              <p:nvGrpSpPr>
                <p:cNvPr id="31" name="Group 25">
                  <a:extLst>
                    <a:ext uri="{FF2B5EF4-FFF2-40B4-BE49-F238E27FC236}">
                      <a16:creationId xmlns:a16="http://schemas.microsoft.com/office/drawing/2014/main" xmlns="" id="{08E441FA-153B-12AA-FFEA-AC0CADEC5ED9}"/>
                    </a:ext>
                  </a:extLst>
                </p:cNvPr>
                <p:cNvGrpSpPr>
                  <a:grpSpLocks/>
                </p:cNvGrpSpPr>
                <p:nvPr/>
              </p:nvGrpSpPr>
              <p:grpSpPr bwMode="auto">
                <a:xfrm>
                  <a:off x="2304" y="2400"/>
                  <a:ext cx="1008" cy="528"/>
                  <a:chOff x="1008" y="1392"/>
                  <a:chExt cx="1008" cy="528"/>
                </a:xfrm>
                <a:grpFill/>
              </p:grpSpPr>
              <p:grpSp>
                <p:nvGrpSpPr>
                  <p:cNvPr id="39" name="Group 10">
                    <a:extLst>
                      <a:ext uri="{FF2B5EF4-FFF2-40B4-BE49-F238E27FC236}">
                        <a16:creationId xmlns:a16="http://schemas.microsoft.com/office/drawing/2014/main" xmlns="" id="{8256FC3D-6D92-72C4-0893-DF6284369D0E}"/>
                      </a:ext>
                    </a:extLst>
                  </p:cNvPr>
                  <p:cNvGrpSpPr>
                    <a:grpSpLocks/>
                  </p:cNvGrpSpPr>
                  <p:nvPr/>
                </p:nvGrpSpPr>
                <p:grpSpPr bwMode="auto">
                  <a:xfrm>
                    <a:off x="1008" y="1392"/>
                    <a:ext cx="528" cy="528"/>
                    <a:chOff x="1056" y="1344"/>
                    <a:chExt cx="528" cy="528"/>
                  </a:xfrm>
                  <a:grpFill/>
                </p:grpSpPr>
                <p:sp>
                  <p:nvSpPr>
                    <p:cNvPr id="43" name="Oval 4">
                      <a:extLst>
                        <a:ext uri="{FF2B5EF4-FFF2-40B4-BE49-F238E27FC236}">
                          <a16:creationId xmlns:a16="http://schemas.microsoft.com/office/drawing/2014/main" xmlns="" id="{AC37EB16-4297-10EB-5EDB-0B5B3D6CC4DC}"/>
                        </a:ext>
                      </a:extLst>
                    </p:cNvPr>
                    <p:cNvSpPr>
                      <a:spLocks noChangeArrowheads="1"/>
                    </p:cNvSpPr>
                    <p:nvPr/>
                  </p:nvSpPr>
                  <p:spPr bwMode="auto">
                    <a:xfrm>
                      <a:off x="1056" y="1344"/>
                      <a:ext cx="528" cy="528"/>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 name="Oval 5">
                      <a:extLst>
                        <a:ext uri="{FF2B5EF4-FFF2-40B4-BE49-F238E27FC236}">
                          <a16:creationId xmlns:a16="http://schemas.microsoft.com/office/drawing/2014/main" xmlns="" id="{F3BA9CD7-11D4-40C6-1A62-BD1FA7A22B00}"/>
                        </a:ext>
                      </a:extLst>
                    </p:cNvPr>
                    <p:cNvSpPr>
                      <a:spLocks noChangeArrowheads="1"/>
                    </p:cNvSpPr>
                    <p:nvPr/>
                  </p:nvSpPr>
                  <p:spPr bwMode="auto">
                    <a:xfrm>
                      <a:off x="1248" y="1536"/>
                      <a:ext cx="144" cy="144"/>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0" name="Group 21">
                    <a:extLst>
                      <a:ext uri="{FF2B5EF4-FFF2-40B4-BE49-F238E27FC236}">
                        <a16:creationId xmlns:a16="http://schemas.microsoft.com/office/drawing/2014/main" xmlns="" id="{B3C017D1-C645-7167-A365-E32DBF54E822}"/>
                      </a:ext>
                    </a:extLst>
                  </p:cNvPr>
                  <p:cNvGrpSpPr>
                    <a:grpSpLocks/>
                  </p:cNvGrpSpPr>
                  <p:nvPr/>
                </p:nvGrpSpPr>
                <p:grpSpPr bwMode="auto">
                  <a:xfrm>
                    <a:off x="1488" y="1392"/>
                    <a:ext cx="528" cy="528"/>
                    <a:chOff x="1056" y="1344"/>
                    <a:chExt cx="528" cy="528"/>
                  </a:xfrm>
                  <a:grpFill/>
                </p:grpSpPr>
                <p:sp>
                  <p:nvSpPr>
                    <p:cNvPr id="41" name="Oval 22">
                      <a:extLst>
                        <a:ext uri="{FF2B5EF4-FFF2-40B4-BE49-F238E27FC236}">
                          <a16:creationId xmlns:a16="http://schemas.microsoft.com/office/drawing/2014/main" xmlns="" id="{A433A7FC-6CA0-347C-59AA-8CF94E2967D6}"/>
                        </a:ext>
                      </a:extLst>
                    </p:cNvPr>
                    <p:cNvSpPr>
                      <a:spLocks noChangeArrowheads="1"/>
                    </p:cNvSpPr>
                    <p:nvPr/>
                  </p:nvSpPr>
                  <p:spPr bwMode="auto">
                    <a:xfrm>
                      <a:off x="1056" y="1344"/>
                      <a:ext cx="528" cy="528"/>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Oval 23">
                      <a:extLst>
                        <a:ext uri="{FF2B5EF4-FFF2-40B4-BE49-F238E27FC236}">
                          <a16:creationId xmlns:a16="http://schemas.microsoft.com/office/drawing/2014/main" xmlns="" id="{14600FD3-B23F-FDB3-5034-49226FC75045}"/>
                        </a:ext>
                      </a:extLst>
                    </p:cNvPr>
                    <p:cNvSpPr>
                      <a:spLocks noChangeArrowheads="1"/>
                    </p:cNvSpPr>
                    <p:nvPr/>
                  </p:nvSpPr>
                  <p:spPr bwMode="auto">
                    <a:xfrm>
                      <a:off x="1248" y="1536"/>
                      <a:ext cx="144" cy="144"/>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2" name="Group 29">
                  <a:extLst>
                    <a:ext uri="{FF2B5EF4-FFF2-40B4-BE49-F238E27FC236}">
                      <a16:creationId xmlns:a16="http://schemas.microsoft.com/office/drawing/2014/main" xmlns="" id="{6230D70D-F56D-F012-0C45-E264EA2C957E}"/>
                    </a:ext>
                  </a:extLst>
                </p:cNvPr>
                <p:cNvGrpSpPr>
                  <a:grpSpLocks/>
                </p:cNvGrpSpPr>
                <p:nvPr/>
              </p:nvGrpSpPr>
              <p:grpSpPr bwMode="auto">
                <a:xfrm>
                  <a:off x="1392" y="2400"/>
                  <a:ext cx="1008" cy="528"/>
                  <a:chOff x="1008" y="1392"/>
                  <a:chExt cx="1008" cy="528"/>
                </a:xfrm>
                <a:grpFill/>
              </p:grpSpPr>
              <p:grpSp>
                <p:nvGrpSpPr>
                  <p:cNvPr id="33" name="Group 30">
                    <a:extLst>
                      <a:ext uri="{FF2B5EF4-FFF2-40B4-BE49-F238E27FC236}">
                        <a16:creationId xmlns:a16="http://schemas.microsoft.com/office/drawing/2014/main" xmlns="" id="{97A2D9E4-8397-9FCF-B39F-DFD55BE77DC3}"/>
                      </a:ext>
                    </a:extLst>
                  </p:cNvPr>
                  <p:cNvGrpSpPr>
                    <a:grpSpLocks/>
                  </p:cNvGrpSpPr>
                  <p:nvPr/>
                </p:nvGrpSpPr>
                <p:grpSpPr bwMode="auto">
                  <a:xfrm>
                    <a:off x="1008" y="1392"/>
                    <a:ext cx="528" cy="528"/>
                    <a:chOff x="1056" y="1344"/>
                    <a:chExt cx="528" cy="528"/>
                  </a:xfrm>
                  <a:grpFill/>
                </p:grpSpPr>
                <p:sp>
                  <p:nvSpPr>
                    <p:cNvPr id="37" name="Oval 31">
                      <a:extLst>
                        <a:ext uri="{FF2B5EF4-FFF2-40B4-BE49-F238E27FC236}">
                          <a16:creationId xmlns:a16="http://schemas.microsoft.com/office/drawing/2014/main" xmlns="" id="{3E5A4AE1-609E-32D2-A5A3-397C7C8B87D5}"/>
                        </a:ext>
                      </a:extLst>
                    </p:cNvPr>
                    <p:cNvSpPr>
                      <a:spLocks noChangeArrowheads="1"/>
                    </p:cNvSpPr>
                    <p:nvPr/>
                  </p:nvSpPr>
                  <p:spPr bwMode="auto">
                    <a:xfrm>
                      <a:off x="1056" y="1344"/>
                      <a:ext cx="528" cy="528"/>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Oval 32">
                      <a:extLst>
                        <a:ext uri="{FF2B5EF4-FFF2-40B4-BE49-F238E27FC236}">
                          <a16:creationId xmlns:a16="http://schemas.microsoft.com/office/drawing/2014/main" xmlns="" id="{E3DA8F75-D42A-7A5F-2CC8-E698274CAEC6}"/>
                        </a:ext>
                      </a:extLst>
                    </p:cNvPr>
                    <p:cNvSpPr>
                      <a:spLocks noChangeArrowheads="1"/>
                    </p:cNvSpPr>
                    <p:nvPr/>
                  </p:nvSpPr>
                  <p:spPr bwMode="auto">
                    <a:xfrm>
                      <a:off x="1248" y="1536"/>
                      <a:ext cx="144" cy="144"/>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 name="Group 33">
                    <a:extLst>
                      <a:ext uri="{FF2B5EF4-FFF2-40B4-BE49-F238E27FC236}">
                        <a16:creationId xmlns:a16="http://schemas.microsoft.com/office/drawing/2014/main" xmlns="" id="{C98C151C-7B92-E65E-972B-6A4599D9C399}"/>
                      </a:ext>
                    </a:extLst>
                  </p:cNvPr>
                  <p:cNvGrpSpPr>
                    <a:grpSpLocks/>
                  </p:cNvGrpSpPr>
                  <p:nvPr/>
                </p:nvGrpSpPr>
                <p:grpSpPr bwMode="auto">
                  <a:xfrm>
                    <a:off x="1488" y="1392"/>
                    <a:ext cx="528" cy="528"/>
                    <a:chOff x="1056" y="1344"/>
                    <a:chExt cx="528" cy="528"/>
                  </a:xfrm>
                  <a:grpFill/>
                </p:grpSpPr>
                <p:sp>
                  <p:nvSpPr>
                    <p:cNvPr id="35" name="Oval 34">
                      <a:extLst>
                        <a:ext uri="{FF2B5EF4-FFF2-40B4-BE49-F238E27FC236}">
                          <a16:creationId xmlns:a16="http://schemas.microsoft.com/office/drawing/2014/main" xmlns="" id="{B7E1417A-626C-4182-D33D-0B01FCBB4513}"/>
                        </a:ext>
                      </a:extLst>
                    </p:cNvPr>
                    <p:cNvSpPr>
                      <a:spLocks noChangeArrowheads="1"/>
                    </p:cNvSpPr>
                    <p:nvPr/>
                  </p:nvSpPr>
                  <p:spPr bwMode="auto">
                    <a:xfrm>
                      <a:off x="1056" y="1344"/>
                      <a:ext cx="528" cy="528"/>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Oval 35">
                      <a:extLst>
                        <a:ext uri="{FF2B5EF4-FFF2-40B4-BE49-F238E27FC236}">
                          <a16:creationId xmlns:a16="http://schemas.microsoft.com/office/drawing/2014/main" xmlns="" id="{19C4D771-A11D-A3D8-BE88-1CB8755AE6FB}"/>
                        </a:ext>
                      </a:extLst>
                    </p:cNvPr>
                    <p:cNvSpPr>
                      <a:spLocks noChangeArrowheads="1"/>
                    </p:cNvSpPr>
                    <p:nvPr/>
                  </p:nvSpPr>
                  <p:spPr bwMode="auto">
                    <a:xfrm>
                      <a:off x="1248" y="1536"/>
                      <a:ext cx="144" cy="144"/>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grpSp>
            <p:nvGrpSpPr>
              <p:cNvPr id="16" name="Group 37">
                <a:extLst>
                  <a:ext uri="{FF2B5EF4-FFF2-40B4-BE49-F238E27FC236}">
                    <a16:creationId xmlns:a16="http://schemas.microsoft.com/office/drawing/2014/main" xmlns="" id="{2417FCC7-4630-8B64-4135-44412B123B45}"/>
                  </a:ext>
                </a:extLst>
              </p:cNvPr>
              <p:cNvGrpSpPr>
                <a:grpSpLocks/>
              </p:cNvGrpSpPr>
              <p:nvPr/>
            </p:nvGrpSpPr>
            <p:grpSpPr bwMode="auto">
              <a:xfrm>
                <a:off x="1392" y="1968"/>
                <a:ext cx="1920" cy="528"/>
                <a:chOff x="1392" y="2400"/>
                <a:chExt cx="1920" cy="528"/>
              </a:xfrm>
              <a:grpFill/>
            </p:grpSpPr>
            <p:grpSp>
              <p:nvGrpSpPr>
                <p:cNvPr id="17" name="Group 38">
                  <a:extLst>
                    <a:ext uri="{FF2B5EF4-FFF2-40B4-BE49-F238E27FC236}">
                      <a16:creationId xmlns:a16="http://schemas.microsoft.com/office/drawing/2014/main" xmlns="" id="{849058F7-635C-E7C1-1B5A-7FB4A9318FDC}"/>
                    </a:ext>
                  </a:extLst>
                </p:cNvPr>
                <p:cNvGrpSpPr>
                  <a:grpSpLocks/>
                </p:cNvGrpSpPr>
                <p:nvPr/>
              </p:nvGrpSpPr>
              <p:grpSpPr bwMode="auto">
                <a:xfrm>
                  <a:off x="2304" y="2400"/>
                  <a:ext cx="1008" cy="528"/>
                  <a:chOff x="1008" y="1392"/>
                  <a:chExt cx="1008" cy="528"/>
                </a:xfrm>
                <a:grpFill/>
              </p:grpSpPr>
              <p:grpSp>
                <p:nvGrpSpPr>
                  <p:cNvPr id="25" name="Group 39">
                    <a:extLst>
                      <a:ext uri="{FF2B5EF4-FFF2-40B4-BE49-F238E27FC236}">
                        <a16:creationId xmlns:a16="http://schemas.microsoft.com/office/drawing/2014/main" xmlns="" id="{007B4BA4-F05C-F8B2-627F-30AE26D388AA}"/>
                      </a:ext>
                    </a:extLst>
                  </p:cNvPr>
                  <p:cNvGrpSpPr>
                    <a:grpSpLocks/>
                  </p:cNvGrpSpPr>
                  <p:nvPr/>
                </p:nvGrpSpPr>
                <p:grpSpPr bwMode="auto">
                  <a:xfrm>
                    <a:off x="1008" y="1392"/>
                    <a:ext cx="528" cy="528"/>
                    <a:chOff x="1056" y="1344"/>
                    <a:chExt cx="528" cy="528"/>
                  </a:xfrm>
                  <a:grpFill/>
                </p:grpSpPr>
                <p:sp>
                  <p:nvSpPr>
                    <p:cNvPr id="29" name="Oval 40">
                      <a:extLst>
                        <a:ext uri="{FF2B5EF4-FFF2-40B4-BE49-F238E27FC236}">
                          <a16:creationId xmlns:a16="http://schemas.microsoft.com/office/drawing/2014/main" xmlns="" id="{A3FFA124-ED91-BD0C-C948-D02F73A84508}"/>
                        </a:ext>
                      </a:extLst>
                    </p:cNvPr>
                    <p:cNvSpPr>
                      <a:spLocks noChangeArrowheads="1"/>
                    </p:cNvSpPr>
                    <p:nvPr/>
                  </p:nvSpPr>
                  <p:spPr bwMode="auto">
                    <a:xfrm>
                      <a:off x="1056" y="1344"/>
                      <a:ext cx="528" cy="528"/>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Oval 41">
                      <a:extLst>
                        <a:ext uri="{FF2B5EF4-FFF2-40B4-BE49-F238E27FC236}">
                          <a16:creationId xmlns:a16="http://schemas.microsoft.com/office/drawing/2014/main" xmlns="" id="{F72CFD4E-0825-10BD-D26D-1D813E86642B}"/>
                        </a:ext>
                      </a:extLst>
                    </p:cNvPr>
                    <p:cNvSpPr>
                      <a:spLocks noChangeArrowheads="1"/>
                    </p:cNvSpPr>
                    <p:nvPr/>
                  </p:nvSpPr>
                  <p:spPr bwMode="auto">
                    <a:xfrm>
                      <a:off x="1248" y="1536"/>
                      <a:ext cx="144" cy="144"/>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6" name="Group 42">
                    <a:extLst>
                      <a:ext uri="{FF2B5EF4-FFF2-40B4-BE49-F238E27FC236}">
                        <a16:creationId xmlns:a16="http://schemas.microsoft.com/office/drawing/2014/main" xmlns="" id="{2696D74E-9AAB-31F2-244F-32A74EAC98DE}"/>
                      </a:ext>
                    </a:extLst>
                  </p:cNvPr>
                  <p:cNvGrpSpPr>
                    <a:grpSpLocks/>
                  </p:cNvGrpSpPr>
                  <p:nvPr/>
                </p:nvGrpSpPr>
                <p:grpSpPr bwMode="auto">
                  <a:xfrm>
                    <a:off x="1488" y="1392"/>
                    <a:ext cx="528" cy="528"/>
                    <a:chOff x="1056" y="1344"/>
                    <a:chExt cx="528" cy="528"/>
                  </a:xfrm>
                  <a:grpFill/>
                </p:grpSpPr>
                <p:sp>
                  <p:nvSpPr>
                    <p:cNvPr id="27" name="Oval 43">
                      <a:extLst>
                        <a:ext uri="{FF2B5EF4-FFF2-40B4-BE49-F238E27FC236}">
                          <a16:creationId xmlns:a16="http://schemas.microsoft.com/office/drawing/2014/main" xmlns="" id="{FD87E85C-E547-7BB3-026B-84422F050DCE}"/>
                        </a:ext>
                      </a:extLst>
                    </p:cNvPr>
                    <p:cNvSpPr>
                      <a:spLocks noChangeArrowheads="1"/>
                    </p:cNvSpPr>
                    <p:nvPr/>
                  </p:nvSpPr>
                  <p:spPr bwMode="auto">
                    <a:xfrm>
                      <a:off x="1056" y="1344"/>
                      <a:ext cx="528" cy="528"/>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Oval 44">
                      <a:extLst>
                        <a:ext uri="{FF2B5EF4-FFF2-40B4-BE49-F238E27FC236}">
                          <a16:creationId xmlns:a16="http://schemas.microsoft.com/office/drawing/2014/main" xmlns="" id="{D5C5C868-4B17-1927-9E4F-2CADD94BFF94}"/>
                        </a:ext>
                      </a:extLst>
                    </p:cNvPr>
                    <p:cNvSpPr>
                      <a:spLocks noChangeArrowheads="1"/>
                    </p:cNvSpPr>
                    <p:nvPr/>
                  </p:nvSpPr>
                  <p:spPr bwMode="auto">
                    <a:xfrm>
                      <a:off x="1248" y="1536"/>
                      <a:ext cx="144" cy="144"/>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8" name="Group 45">
                  <a:extLst>
                    <a:ext uri="{FF2B5EF4-FFF2-40B4-BE49-F238E27FC236}">
                      <a16:creationId xmlns:a16="http://schemas.microsoft.com/office/drawing/2014/main" xmlns="" id="{396C2102-6551-FFB6-818B-113EAD564D42}"/>
                    </a:ext>
                  </a:extLst>
                </p:cNvPr>
                <p:cNvGrpSpPr>
                  <a:grpSpLocks/>
                </p:cNvGrpSpPr>
                <p:nvPr/>
              </p:nvGrpSpPr>
              <p:grpSpPr bwMode="auto">
                <a:xfrm>
                  <a:off x="1392" y="2400"/>
                  <a:ext cx="1008" cy="528"/>
                  <a:chOff x="1008" y="1392"/>
                  <a:chExt cx="1008" cy="528"/>
                </a:xfrm>
                <a:grpFill/>
              </p:grpSpPr>
              <p:grpSp>
                <p:nvGrpSpPr>
                  <p:cNvPr id="19" name="Group 46">
                    <a:extLst>
                      <a:ext uri="{FF2B5EF4-FFF2-40B4-BE49-F238E27FC236}">
                        <a16:creationId xmlns:a16="http://schemas.microsoft.com/office/drawing/2014/main" xmlns="" id="{A9E0CF57-0164-F5D3-F426-2A4180AF32EA}"/>
                      </a:ext>
                    </a:extLst>
                  </p:cNvPr>
                  <p:cNvGrpSpPr>
                    <a:grpSpLocks/>
                  </p:cNvGrpSpPr>
                  <p:nvPr/>
                </p:nvGrpSpPr>
                <p:grpSpPr bwMode="auto">
                  <a:xfrm>
                    <a:off x="1008" y="1392"/>
                    <a:ext cx="528" cy="528"/>
                    <a:chOff x="1056" y="1344"/>
                    <a:chExt cx="528" cy="528"/>
                  </a:xfrm>
                  <a:grpFill/>
                </p:grpSpPr>
                <p:sp>
                  <p:nvSpPr>
                    <p:cNvPr id="23" name="Oval 47">
                      <a:extLst>
                        <a:ext uri="{FF2B5EF4-FFF2-40B4-BE49-F238E27FC236}">
                          <a16:creationId xmlns:a16="http://schemas.microsoft.com/office/drawing/2014/main" xmlns="" id="{5431E011-10A7-CEB0-48F0-E7B8ECAAC849}"/>
                        </a:ext>
                      </a:extLst>
                    </p:cNvPr>
                    <p:cNvSpPr>
                      <a:spLocks noChangeArrowheads="1"/>
                    </p:cNvSpPr>
                    <p:nvPr/>
                  </p:nvSpPr>
                  <p:spPr bwMode="auto">
                    <a:xfrm>
                      <a:off x="1056" y="1344"/>
                      <a:ext cx="528" cy="528"/>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Oval 48">
                      <a:extLst>
                        <a:ext uri="{FF2B5EF4-FFF2-40B4-BE49-F238E27FC236}">
                          <a16:creationId xmlns:a16="http://schemas.microsoft.com/office/drawing/2014/main" xmlns="" id="{F6C9CA66-B96F-4C17-29A8-93E72BFA8837}"/>
                        </a:ext>
                      </a:extLst>
                    </p:cNvPr>
                    <p:cNvSpPr>
                      <a:spLocks noChangeArrowheads="1"/>
                    </p:cNvSpPr>
                    <p:nvPr/>
                  </p:nvSpPr>
                  <p:spPr bwMode="auto">
                    <a:xfrm>
                      <a:off x="1248" y="1536"/>
                      <a:ext cx="144" cy="144"/>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0" name="Group 49">
                    <a:extLst>
                      <a:ext uri="{FF2B5EF4-FFF2-40B4-BE49-F238E27FC236}">
                        <a16:creationId xmlns:a16="http://schemas.microsoft.com/office/drawing/2014/main" xmlns="" id="{7C14B047-285C-D8A2-F8E6-FB492F12F890}"/>
                      </a:ext>
                    </a:extLst>
                  </p:cNvPr>
                  <p:cNvGrpSpPr>
                    <a:grpSpLocks/>
                  </p:cNvGrpSpPr>
                  <p:nvPr/>
                </p:nvGrpSpPr>
                <p:grpSpPr bwMode="auto">
                  <a:xfrm>
                    <a:off x="1488" y="1392"/>
                    <a:ext cx="528" cy="528"/>
                    <a:chOff x="1056" y="1344"/>
                    <a:chExt cx="528" cy="528"/>
                  </a:xfrm>
                  <a:grpFill/>
                </p:grpSpPr>
                <p:sp>
                  <p:nvSpPr>
                    <p:cNvPr id="21" name="Oval 50">
                      <a:extLst>
                        <a:ext uri="{FF2B5EF4-FFF2-40B4-BE49-F238E27FC236}">
                          <a16:creationId xmlns:a16="http://schemas.microsoft.com/office/drawing/2014/main" xmlns="" id="{5F3E6922-CB47-145F-5E97-4A93C865C443}"/>
                        </a:ext>
                      </a:extLst>
                    </p:cNvPr>
                    <p:cNvSpPr>
                      <a:spLocks noChangeArrowheads="1"/>
                    </p:cNvSpPr>
                    <p:nvPr/>
                  </p:nvSpPr>
                  <p:spPr bwMode="auto">
                    <a:xfrm>
                      <a:off x="1056" y="1344"/>
                      <a:ext cx="528" cy="528"/>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Oval 51">
                      <a:extLst>
                        <a:ext uri="{FF2B5EF4-FFF2-40B4-BE49-F238E27FC236}">
                          <a16:creationId xmlns:a16="http://schemas.microsoft.com/office/drawing/2014/main" xmlns="" id="{73410EC5-B42D-D6D5-370C-4AB040C4D009}"/>
                        </a:ext>
                      </a:extLst>
                    </p:cNvPr>
                    <p:cNvSpPr>
                      <a:spLocks noChangeArrowheads="1"/>
                    </p:cNvSpPr>
                    <p:nvPr/>
                  </p:nvSpPr>
                  <p:spPr bwMode="auto">
                    <a:xfrm>
                      <a:off x="1248" y="1536"/>
                      <a:ext cx="144" cy="144"/>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grpSp>
        <p:grpSp>
          <p:nvGrpSpPr>
            <p:cNvPr id="8" name="Group 54">
              <a:extLst>
                <a:ext uri="{FF2B5EF4-FFF2-40B4-BE49-F238E27FC236}">
                  <a16:creationId xmlns:a16="http://schemas.microsoft.com/office/drawing/2014/main" xmlns="" id="{6A441063-8E1B-100B-8C14-D35FC688FB4E}"/>
                </a:ext>
              </a:extLst>
            </p:cNvPr>
            <p:cNvGrpSpPr>
              <a:grpSpLocks/>
            </p:cNvGrpSpPr>
            <p:nvPr/>
          </p:nvGrpSpPr>
          <p:grpSpPr bwMode="auto">
            <a:xfrm>
              <a:off x="1152" y="1056"/>
              <a:ext cx="960" cy="528"/>
              <a:chOff x="3072" y="1488"/>
              <a:chExt cx="960" cy="528"/>
            </a:xfrm>
            <a:grpFill/>
          </p:grpSpPr>
          <p:grpSp>
            <p:nvGrpSpPr>
              <p:cNvPr id="9" name="Group 55">
                <a:extLst>
                  <a:ext uri="{FF2B5EF4-FFF2-40B4-BE49-F238E27FC236}">
                    <a16:creationId xmlns:a16="http://schemas.microsoft.com/office/drawing/2014/main" xmlns="" id="{31C620F2-F971-F84E-30B9-711977E522DE}"/>
                  </a:ext>
                </a:extLst>
              </p:cNvPr>
              <p:cNvGrpSpPr>
                <a:grpSpLocks/>
              </p:cNvGrpSpPr>
              <p:nvPr/>
            </p:nvGrpSpPr>
            <p:grpSpPr bwMode="auto">
              <a:xfrm>
                <a:off x="3072" y="1488"/>
                <a:ext cx="528" cy="528"/>
                <a:chOff x="1056" y="1344"/>
                <a:chExt cx="528" cy="528"/>
              </a:xfrm>
              <a:grpFill/>
            </p:grpSpPr>
            <p:sp>
              <p:nvSpPr>
                <p:cNvPr id="13" name="Oval 56">
                  <a:extLst>
                    <a:ext uri="{FF2B5EF4-FFF2-40B4-BE49-F238E27FC236}">
                      <a16:creationId xmlns:a16="http://schemas.microsoft.com/office/drawing/2014/main" xmlns="" id="{CF17DA97-E4AF-70F0-7A4E-A6F4F1BA3637}"/>
                    </a:ext>
                  </a:extLst>
                </p:cNvPr>
                <p:cNvSpPr>
                  <a:spLocks noChangeArrowheads="1"/>
                </p:cNvSpPr>
                <p:nvPr/>
              </p:nvSpPr>
              <p:spPr bwMode="auto">
                <a:xfrm>
                  <a:off x="1056" y="1344"/>
                  <a:ext cx="528" cy="528"/>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Oval 57">
                  <a:extLst>
                    <a:ext uri="{FF2B5EF4-FFF2-40B4-BE49-F238E27FC236}">
                      <a16:creationId xmlns:a16="http://schemas.microsoft.com/office/drawing/2014/main" xmlns="" id="{67C6A87A-A1D5-C1EA-CFF8-5EBF8C74C3EE}"/>
                    </a:ext>
                  </a:extLst>
                </p:cNvPr>
                <p:cNvSpPr>
                  <a:spLocks noChangeArrowheads="1"/>
                </p:cNvSpPr>
                <p:nvPr/>
              </p:nvSpPr>
              <p:spPr bwMode="auto">
                <a:xfrm>
                  <a:off x="1248" y="1536"/>
                  <a:ext cx="144" cy="144"/>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0" name="Group 58">
                <a:extLst>
                  <a:ext uri="{FF2B5EF4-FFF2-40B4-BE49-F238E27FC236}">
                    <a16:creationId xmlns:a16="http://schemas.microsoft.com/office/drawing/2014/main" xmlns="" id="{2565DDFF-035D-72C3-6DC3-5440A524E907}"/>
                  </a:ext>
                </a:extLst>
              </p:cNvPr>
              <p:cNvGrpSpPr>
                <a:grpSpLocks/>
              </p:cNvGrpSpPr>
              <p:nvPr/>
            </p:nvGrpSpPr>
            <p:grpSpPr bwMode="auto">
              <a:xfrm>
                <a:off x="3504" y="1488"/>
                <a:ext cx="528" cy="528"/>
                <a:chOff x="1056" y="1344"/>
                <a:chExt cx="528" cy="528"/>
              </a:xfrm>
              <a:grpFill/>
            </p:grpSpPr>
            <p:sp>
              <p:nvSpPr>
                <p:cNvPr id="11" name="Oval 59">
                  <a:extLst>
                    <a:ext uri="{FF2B5EF4-FFF2-40B4-BE49-F238E27FC236}">
                      <a16:creationId xmlns:a16="http://schemas.microsoft.com/office/drawing/2014/main" xmlns="" id="{E3C9B062-AD70-2D04-CDF4-9531AB7BEB3D}"/>
                    </a:ext>
                  </a:extLst>
                </p:cNvPr>
                <p:cNvSpPr>
                  <a:spLocks noChangeArrowheads="1"/>
                </p:cNvSpPr>
                <p:nvPr/>
              </p:nvSpPr>
              <p:spPr bwMode="auto">
                <a:xfrm>
                  <a:off x="1056" y="1344"/>
                  <a:ext cx="528" cy="528"/>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Oval 60">
                  <a:extLst>
                    <a:ext uri="{FF2B5EF4-FFF2-40B4-BE49-F238E27FC236}">
                      <a16:creationId xmlns:a16="http://schemas.microsoft.com/office/drawing/2014/main" xmlns="" id="{EFD79F86-1579-ECB7-1332-A921D04E2158}"/>
                    </a:ext>
                  </a:extLst>
                </p:cNvPr>
                <p:cNvSpPr>
                  <a:spLocks noChangeArrowheads="1"/>
                </p:cNvSpPr>
                <p:nvPr/>
              </p:nvSpPr>
              <p:spPr bwMode="auto">
                <a:xfrm>
                  <a:off x="1248" y="1536"/>
                  <a:ext cx="144" cy="144"/>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pic>
        <p:nvPicPr>
          <p:cNvPr id="21525" name="Picture 21524" descr="A diagram of energy levels&#10;&#10;Description automatically generated">
            <a:extLst>
              <a:ext uri="{FF2B5EF4-FFF2-40B4-BE49-F238E27FC236}">
                <a16:creationId xmlns:a16="http://schemas.microsoft.com/office/drawing/2014/main" xmlns="" id="{613DA654-30E3-C46F-D221-CA03123533DF}"/>
              </a:ext>
            </a:extLst>
          </p:cNvPr>
          <p:cNvPicPr>
            <a:picLocks noChangeAspect="1"/>
          </p:cNvPicPr>
          <p:nvPr/>
        </p:nvPicPr>
        <p:blipFill>
          <a:blip r:embed="rId2"/>
          <a:stretch>
            <a:fillRect/>
          </a:stretch>
        </p:blipFill>
        <p:spPr>
          <a:xfrm>
            <a:off x="8586018" y="1436362"/>
            <a:ext cx="3474177" cy="5147208"/>
          </a:xfrm>
          <a:prstGeom prst="rect">
            <a:avLst/>
          </a:prstGeom>
          <a:ln w="19050">
            <a:solidFill>
              <a:srgbClr val="002060"/>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5C3668F2-FF35-E319-76AB-06115208130B}"/>
              </a:ext>
            </a:extLst>
          </p:cNvPr>
          <p:cNvSpPr txBox="1"/>
          <p:nvPr/>
        </p:nvSpPr>
        <p:spPr>
          <a:xfrm>
            <a:off x="157777" y="807136"/>
            <a:ext cx="11948983" cy="3246530"/>
          </a:xfrm>
          <a:prstGeom prst="rect">
            <a:avLst/>
          </a:prstGeom>
          <a:solidFill>
            <a:schemeClr val="bg1"/>
          </a:solidFill>
          <a:ln w="28575">
            <a:solidFill>
              <a:schemeClr val="tx2"/>
            </a:solidFill>
          </a:ln>
        </p:spPr>
        <p:txBody>
          <a:bodyPr wrap="square">
            <a:spAutoFit/>
          </a:bodyPr>
          <a:lstStyle/>
          <a:p>
            <a:pPr algn="l">
              <a:lnSpc>
                <a:spcPct val="150000"/>
              </a:lnSpc>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For a large number of atoms (N∼10</a:t>
            </a:r>
            <a:r>
              <a:rPr lang="en-IN" sz="2800" b="0" i="0" u="none" strike="noStrike" baseline="30000" dirty="0">
                <a:solidFill>
                  <a:srgbClr val="002060"/>
                </a:solidFill>
                <a:effectLst/>
                <a:latin typeface="Times New Roman" panose="02020603050405020304" pitchFamily="18" charset="0"/>
                <a:cs typeface="Times New Roman" panose="02020603050405020304" pitchFamily="18" charset="0"/>
              </a:rPr>
              <a:t>23</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in a solid), the splitting produces </a:t>
            </a:r>
            <a:r>
              <a:rPr lang="en-IN" sz="2800" b="1" i="0" u="none" strike="noStrike" dirty="0">
                <a:solidFill>
                  <a:srgbClr val="002060"/>
                </a:solidFill>
                <a:effectLst/>
                <a:latin typeface="Times New Roman" panose="02020603050405020304" pitchFamily="18" charset="0"/>
                <a:cs typeface="Times New Roman" panose="02020603050405020304" pitchFamily="18" charset="0"/>
              </a:rPr>
              <a:t>quasi-continuous ranges of energy levels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called </a:t>
            </a:r>
            <a:r>
              <a:rPr lang="en-IN" sz="2800" b="1" i="0" u="none" strike="noStrike" dirty="0">
                <a:solidFill>
                  <a:srgbClr val="002060"/>
                </a:solidFill>
                <a:effectLst/>
                <a:latin typeface="Times New Roman" panose="02020603050405020304" pitchFamily="18" charset="0"/>
                <a:cs typeface="Times New Roman" panose="02020603050405020304" pitchFamily="18" charset="0"/>
              </a:rPr>
              <a:t>bands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Two important bands emerge:</a:t>
            </a:r>
          </a:p>
          <a:p>
            <a:pPr marL="742950" lvl="1" indent="-285750" algn="l">
              <a:lnSpc>
                <a:spcPct val="150000"/>
              </a:lnSpc>
              <a:buFont typeface="Arial" panose="020B0604020202020204" pitchFamily="34" charset="0"/>
              <a:buChar char="•"/>
            </a:pPr>
            <a:r>
              <a:rPr lang="en-IN" sz="2800" b="1" i="0" u="none" strike="noStrike" dirty="0">
                <a:solidFill>
                  <a:srgbClr val="002060"/>
                </a:solidFill>
                <a:effectLst/>
                <a:latin typeface="Times New Roman" panose="02020603050405020304" pitchFamily="18" charset="0"/>
                <a:cs typeface="Times New Roman" panose="02020603050405020304" pitchFamily="18" charset="0"/>
              </a:rPr>
              <a:t>Valence Band</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 originates from the outermost electron orbitals.</a:t>
            </a:r>
          </a:p>
          <a:p>
            <a:pPr marL="742950" lvl="1" indent="-285750" algn="l">
              <a:lnSpc>
                <a:spcPct val="150000"/>
              </a:lnSpc>
              <a:buFont typeface="Arial" panose="020B0604020202020204" pitchFamily="34" charset="0"/>
              <a:buChar char="•"/>
            </a:pPr>
            <a:r>
              <a:rPr lang="en-IN" sz="2800" b="1" i="0" u="none" strike="noStrike" dirty="0">
                <a:solidFill>
                  <a:srgbClr val="002060"/>
                </a:solidFill>
                <a:effectLst/>
                <a:latin typeface="Times New Roman" panose="02020603050405020304" pitchFamily="18" charset="0"/>
                <a:cs typeface="Times New Roman" panose="02020603050405020304" pitchFamily="18" charset="0"/>
              </a:rPr>
              <a:t>Conduction Band</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 higher unoccupied states just above the valence band.</a:t>
            </a:r>
          </a:p>
          <a:p>
            <a:pPr algn="l">
              <a:lnSpc>
                <a:spcPct val="150000"/>
              </a:lnSpc>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The separation between them is the </a:t>
            </a:r>
            <a:r>
              <a:rPr lang="en-IN" sz="2800" i="0" u="none" strike="noStrike" dirty="0">
                <a:solidFill>
                  <a:srgbClr val="002060"/>
                </a:solidFill>
                <a:effectLst/>
                <a:latin typeface="Times New Roman" panose="02020603050405020304" pitchFamily="18" charset="0"/>
                <a:cs typeface="Times New Roman" panose="02020603050405020304" pitchFamily="18" charset="0"/>
              </a:rPr>
              <a:t>band gap (</a:t>
            </a:r>
            <a:r>
              <a:rPr lang="en-IN" sz="2800" i="0" u="none" strike="noStrike" dirty="0" err="1">
                <a:solidFill>
                  <a:srgbClr val="002060"/>
                </a:solidFill>
                <a:effectLst/>
                <a:latin typeface="Times New Roman" panose="02020603050405020304" pitchFamily="18" charset="0"/>
                <a:cs typeface="Times New Roman" panose="02020603050405020304" pitchFamily="18" charset="0"/>
              </a:rPr>
              <a:t>E</a:t>
            </a:r>
            <a:r>
              <a:rPr lang="en-IN" sz="2800" i="0" u="none" strike="noStrike" baseline="-25000" dirty="0" err="1">
                <a:solidFill>
                  <a:srgbClr val="002060"/>
                </a:solidFill>
                <a:effectLst/>
                <a:latin typeface="Times New Roman" panose="02020603050405020304" pitchFamily="18" charset="0"/>
                <a:cs typeface="Times New Roman" panose="02020603050405020304" pitchFamily="18" charset="0"/>
              </a:rPr>
              <a:t>g</a:t>
            </a:r>
            <a:r>
              <a:rPr lang="en-IN" sz="2800" i="0" u="none" strike="noStrike" dirty="0">
                <a:solidFill>
                  <a:srgbClr val="002060"/>
                </a:solidFill>
                <a:effectLst/>
                <a:latin typeface="Times New Roman" panose="02020603050405020304" pitchFamily="18" charset="0"/>
                <a:cs typeface="Times New Roman" panose="02020603050405020304" pitchFamily="18" charset="0"/>
              </a:rPr>
              <a:t>).</a:t>
            </a:r>
          </a:p>
        </p:txBody>
      </p:sp>
      <p:sp>
        <p:nvSpPr>
          <p:cNvPr id="2" name="TextBox 1">
            <a:extLst>
              <a:ext uri="{FF2B5EF4-FFF2-40B4-BE49-F238E27FC236}">
                <a16:creationId xmlns:a16="http://schemas.microsoft.com/office/drawing/2014/main" xmlns="" id="{04209F4C-F374-5F40-1A71-495FBB521810}"/>
              </a:ext>
            </a:extLst>
          </p:cNvPr>
          <p:cNvSpPr txBox="1"/>
          <p:nvPr/>
        </p:nvSpPr>
        <p:spPr>
          <a:xfrm>
            <a:off x="139586" y="4172723"/>
            <a:ext cx="11948982" cy="523220"/>
          </a:xfrm>
          <a:prstGeom prst="rect">
            <a:avLst/>
          </a:prstGeom>
          <a:solidFill>
            <a:schemeClr val="bg1"/>
          </a:solidFill>
          <a:ln w="28575">
            <a:solidFill>
              <a:schemeClr val="tx2"/>
            </a:solidFill>
          </a:ln>
        </p:spPr>
        <p:txBody>
          <a:bodyPr wrap="square">
            <a:spAutoFit/>
          </a:bodyPr>
          <a:lstStyle/>
          <a:p>
            <a:pPr marL="0" indent="0">
              <a:lnSpc>
                <a:spcPct val="100000"/>
              </a:lnSpc>
              <a:spcBef>
                <a:spcPts val="0"/>
              </a:spcBef>
              <a:buNone/>
            </a:pPr>
            <a:r>
              <a:rPr lang="en-IN" sz="2800" b="1" i="0" u="none" strike="noStrike" dirty="0">
                <a:solidFill>
                  <a:srgbClr val="C00000"/>
                </a:solidFill>
                <a:effectLst/>
                <a:latin typeface="Times New Roman" panose="02020603050405020304" pitchFamily="18" charset="0"/>
                <a:cs typeface="Times New Roman" panose="02020603050405020304" pitchFamily="18" charset="0"/>
              </a:rPr>
              <a:t>Band Gap and Material Classification:</a:t>
            </a:r>
            <a:endParaRPr lang="en-US" altLang="en-US" sz="2800" b="1" dirty="0">
              <a:solidFill>
                <a:srgbClr val="C0000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0D3CE557-C699-4940-22E8-A7AAC6A9BBD4}"/>
              </a:ext>
            </a:extLst>
          </p:cNvPr>
          <p:cNvSpPr txBox="1"/>
          <p:nvPr/>
        </p:nvSpPr>
        <p:spPr>
          <a:xfrm>
            <a:off x="157776" y="172940"/>
            <a:ext cx="11948981" cy="523220"/>
          </a:xfrm>
          <a:prstGeom prst="rect">
            <a:avLst/>
          </a:prstGeom>
          <a:solidFill>
            <a:schemeClr val="bg1"/>
          </a:solidFill>
          <a:ln w="28575">
            <a:solidFill>
              <a:schemeClr val="tx2"/>
            </a:solidFill>
          </a:ln>
        </p:spPr>
        <p:txBody>
          <a:bodyPr wrap="square">
            <a:spAutoFit/>
          </a:bodyPr>
          <a:lstStyle/>
          <a:p>
            <a:r>
              <a:rPr lang="en-IN" sz="2800" b="1" i="0" u="none" strike="noStrike" dirty="0">
                <a:solidFill>
                  <a:srgbClr val="C00000"/>
                </a:solidFill>
                <a:effectLst/>
                <a:latin typeface="Times New Roman" panose="02020603050405020304" pitchFamily="18" charset="0"/>
                <a:cs typeface="Times New Roman" panose="02020603050405020304" pitchFamily="18" charset="0"/>
              </a:rPr>
              <a:t>Formation of Energy Bands:</a:t>
            </a:r>
          </a:p>
        </p:txBody>
      </p:sp>
      <p:sp>
        <p:nvSpPr>
          <p:cNvPr id="9" name="TextBox 8">
            <a:extLst>
              <a:ext uri="{FF2B5EF4-FFF2-40B4-BE49-F238E27FC236}">
                <a16:creationId xmlns:a16="http://schemas.microsoft.com/office/drawing/2014/main" xmlns="" id="{91F3A910-8A21-FF36-8BE1-CE3F579247FF}"/>
              </a:ext>
            </a:extLst>
          </p:cNvPr>
          <p:cNvSpPr txBox="1"/>
          <p:nvPr/>
        </p:nvSpPr>
        <p:spPr>
          <a:xfrm>
            <a:off x="139586" y="4815000"/>
            <a:ext cx="11912600" cy="1754326"/>
          </a:xfrm>
          <a:prstGeom prst="rect">
            <a:avLst/>
          </a:prstGeom>
          <a:solidFill>
            <a:schemeClr val="bg1"/>
          </a:solidFill>
          <a:ln w="28575">
            <a:solidFill>
              <a:schemeClr val="tx2"/>
            </a:solidFill>
          </a:ln>
        </p:spPr>
        <p:txBody>
          <a:bodyPr wrap="square">
            <a:spAutoFit/>
          </a:bodyPr>
          <a:lstStyle/>
          <a:p>
            <a:pPr algn="l"/>
            <a:r>
              <a:rPr lang="en-IN" sz="2700" b="0" i="0" u="none" strike="noStrike" dirty="0">
                <a:solidFill>
                  <a:srgbClr val="002060"/>
                </a:solidFill>
                <a:effectLst/>
                <a:latin typeface="Times New Roman" panose="02020603050405020304" pitchFamily="18" charset="0"/>
                <a:cs typeface="Times New Roman" panose="02020603050405020304" pitchFamily="18" charset="0"/>
              </a:rPr>
              <a:t>Depending on the magnitude of the band gap, the materials classified as following.</a:t>
            </a:r>
            <a:endParaRPr lang="en-IN" sz="2700" b="1" i="0" u="none" strike="noStrike" dirty="0">
              <a:solidFill>
                <a:srgbClr val="002060"/>
              </a:solidFill>
              <a:effectLst/>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Char char="•"/>
            </a:pPr>
            <a:r>
              <a:rPr lang="en-IN" sz="2700" b="1" i="0" u="none" strike="noStrike" dirty="0">
                <a:solidFill>
                  <a:srgbClr val="002060"/>
                </a:solidFill>
                <a:effectLst/>
                <a:latin typeface="Times New Roman" panose="02020603050405020304" pitchFamily="18" charset="0"/>
                <a:cs typeface="Times New Roman" panose="02020603050405020304" pitchFamily="18" charset="0"/>
              </a:rPr>
              <a:t>Conductors:</a:t>
            </a:r>
            <a:r>
              <a:rPr lang="en-IN" sz="2700" b="0" i="0" u="none" strike="noStrike" dirty="0">
                <a:solidFill>
                  <a:srgbClr val="002060"/>
                </a:solidFill>
                <a:effectLst/>
                <a:latin typeface="Times New Roman" panose="02020603050405020304" pitchFamily="18" charset="0"/>
                <a:cs typeface="Times New Roman" panose="02020603050405020304" pitchFamily="18" charset="0"/>
              </a:rPr>
              <a:t> Overlapping valence and conduction bands (</a:t>
            </a:r>
            <a:r>
              <a:rPr lang="en-IN" sz="2700" b="0" i="0" u="none" strike="noStrike" dirty="0" err="1">
                <a:solidFill>
                  <a:srgbClr val="002060"/>
                </a:solidFill>
                <a:effectLst/>
                <a:latin typeface="Times New Roman" panose="02020603050405020304" pitchFamily="18" charset="0"/>
                <a:cs typeface="Times New Roman" panose="02020603050405020304" pitchFamily="18" charset="0"/>
              </a:rPr>
              <a:t>E</a:t>
            </a:r>
            <a:r>
              <a:rPr lang="en-IN" sz="2700" b="0" i="0" u="none" strike="noStrike" baseline="-25000" dirty="0" err="1">
                <a:solidFill>
                  <a:srgbClr val="002060"/>
                </a:solidFill>
                <a:effectLst/>
                <a:latin typeface="Times New Roman" panose="02020603050405020304" pitchFamily="18" charset="0"/>
                <a:cs typeface="Times New Roman" panose="02020603050405020304" pitchFamily="18" charset="0"/>
              </a:rPr>
              <a:t>g</a:t>
            </a:r>
            <a:r>
              <a:rPr lang="en-IN" sz="2700" b="0" i="0" u="none" strike="noStrike" dirty="0">
                <a:solidFill>
                  <a:srgbClr val="002060"/>
                </a:solidFill>
                <a:effectLst/>
                <a:latin typeface="Times New Roman" panose="02020603050405020304" pitchFamily="18" charset="0"/>
                <a:cs typeface="Times New Roman" panose="02020603050405020304" pitchFamily="18" charset="0"/>
              </a:rPr>
              <a:t> ≈ 0).</a:t>
            </a:r>
          </a:p>
          <a:p>
            <a:pPr marL="457200" indent="-457200" algn="l">
              <a:buFont typeface="Arial" panose="020B0604020202020204" pitchFamily="34" charset="0"/>
              <a:buChar char="•"/>
            </a:pPr>
            <a:r>
              <a:rPr lang="en-IN" sz="2700" b="1" i="0" u="none" strike="noStrike" dirty="0">
                <a:solidFill>
                  <a:srgbClr val="002060"/>
                </a:solidFill>
                <a:effectLst/>
                <a:latin typeface="Times New Roman" panose="02020603050405020304" pitchFamily="18" charset="0"/>
                <a:cs typeface="Times New Roman" panose="02020603050405020304" pitchFamily="18" charset="0"/>
              </a:rPr>
              <a:t>Semiconductors:</a:t>
            </a:r>
            <a:r>
              <a:rPr lang="en-IN" sz="2700" b="0" i="0" u="none" strike="noStrike" dirty="0">
                <a:solidFill>
                  <a:srgbClr val="002060"/>
                </a:solidFill>
                <a:effectLst/>
                <a:latin typeface="Times New Roman" panose="02020603050405020304" pitchFamily="18" charset="0"/>
                <a:cs typeface="Times New Roman" panose="02020603050405020304" pitchFamily="18" charset="0"/>
              </a:rPr>
              <a:t> Small bandgap (</a:t>
            </a:r>
            <a:r>
              <a:rPr lang="en-IN" sz="2700" b="0" i="0" u="none" strike="noStrike" dirty="0" err="1">
                <a:solidFill>
                  <a:srgbClr val="002060"/>
                </a:solidFill>
                <a:effectLst/>
                <a:latin typeface="Times New Roman" panose="02020603050405020304" pitchFamily="18" charset="0"/>
                <a:cs typeface="Times New Roman" panose="02020603050405020304" pitchFamily="18" charset="0"/>
              </a:rPr>
              <a:t>E</a:t>
            </a:r>
            <a:r>
              <a:rPr lang="en-IN" sz="2700" b="0" i="0" u="none" strike="noStrike" baseline="-25000" dirty="0" err="1">
                <a:solidFill>
                  <a:srgbClr val="002060"/>
                </a:solidFill>
                <a:effectLst/>
                <a:latin typeface="Times New Roman" panose="02020603050405020304" pitchFamily="18" charset="0"/>
                <a:cs typeface="Times New Roman" panose="02020603050405020304" pitchFamily="18" charset="0"/>
              </a:rPr>
              <a:t>g</a:t>
            </a:r>
            <a:r>
              <a:rPr lang="en-IN" sz="2700" b="0" i="0" u="none" strike="noStrike" dirty="0">
                <a:solidFill>
                  <a:srgbClr val="002060"/>
                </a:solidFill>
                <a:effectLst/>
                <a:latin typeface="Times New Roman" panose="02020603050405020304" pitchFamily="18" charset="0"/>
                <a:cs typeface="Times New Roman" panose="02020603050405020304" pitchFamily="18" charset="0"/>
              </a:rPr>
              <a:t> ∼ 0.1–3eV).</a:t>
            </a:r>
          </a:p>
          <a:p>
            <a:pPr marL="457200" indent="-457200" algn="l">
              <a:buFont typeface="Arial" panose="020B0604020202020204" pitchFamily="34" charset="0"/>
              <a:buChar char="•"/>
            </a:pPr>
            <a:r>
              <a:rPr lang="en-IN" sz="2700" b="1" i="0" u="none" strike="noStrike" dirty="0">
                <a:solidFill>
                  <a:srgbClr val="002060"/>
                </a:solidFill>
                <a:effectLst/>
                <a:latin typeface="Times New Roman" panose="02020603050405020304" pitchFamily="18" charset="0"/>
                <a:cs typeface="Times New Roman" panose="02020603050405020304" pitchFamily="18" charset="0"/>
              </a:rPr>
              <a:t>Insulators:</a:t>
            </a:r>
            <a:r>
              <a:rPr lang="en-IN" sz="2700" b="0" i="0" u="none" strike="noStrike" dirty="0">
                <a:solidFill>
                  <a:srgbClr val="002060"/>
                </a:solidFill>
                <a:effectLst/>
                <a:latin typeface="Times New Roman" panose="02020603050405020304" pitchFamily="18" charset="0"/>
                <a:cs typeface="Times New Roman" panose="02020603050405020304" pitchFamily="18" charset="0"/>
              </a:rPr>
              <a:t> Large bandgap (</a:t>
            </a:r>
            <a:r>
              <a:rPr lang="en-IN" sz="2700" b="0" i="0" u="none" strike="noStrike" dirty="0" err="1">
                <a:solidFill>
                  <a:srgbClr val="002060"/>
                </a:solidFill>
                <a:effectLst/>
                <a:latin typeface="Times New Roman" panose="02020603050405020304" pitchFamily="18" charset="0"/>
                <a:cs typeface="Times New Roman" panose="02020603050405020304" pitchFamily="18" charset="0"/>
              </a:rPr>
              <a:t>E</a:t>
            </a:r>
            <a:r>
              <a:rPr lang="en-IN" sz="2700" b="0" i="0" u="none" strike="noStrike" baseline="-25000" dirty="0" err="1">
                <a:solidFill>
                  <a:srgbClr val="002060"/>
                </a:solidFill>
                <a:effectLst/>
                <a:latin typeface="Times New Roman" panose="02020603050405020304" pitchFamily="18" charset="0"/>
                <a:cs typeface="Times New Roman" panose="02020603050405020304" pitchFamily="18" charset="0"/>
              </a:rPr>
              <a:t>g</a:t>
            </a:r>
            <a:r>
              <a:rPr lang="en-IN" sz="2700" b="0" i="0" u="none" strike="noStrike" dirty="0">
                <a:solidFill>
                  <a:srgbClr val="002060"/>
                </a:solidFill>
                <a:effectLst/>
                <a:latin typeface="Times New Roman" panose="02020603050405020304" pitchFamily="18" charset="0"/>
                <a:cs typeface="Times New Roman" panose="02020603050405020304" pitchFamily="18" charset="0"/>
              </a:rPr>
              <a:t> &gt; 3eV).</a:t>
            </a:r>
          </a:p>
        </p:txBody>
      </p:sp>
    </p:spTree>
    <p:extLst>
      <p:ext uri="{BB962C8B-B14F-4D97-AF65-F5344CB8AC3E}">
        <p14:creationId xmlns:p14="http://schemas.microsoft.com/office/powerpoint/2010/main" val="137481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xmlns="" id="{5E016C51-C8BF-8EA6-A664-43FD91750B59}"/>
              </a:ext>
            </a:extLst>
          </p:cNvPr>
          <p:cNvSpPr txBox="1">
            <a:spLocks noChangeArrowheads="1"/>
          </p:cNvSpPr>
          <p:nvPr/>
        </p:nvSpPr>
        <p:spPr>
          <a:xfrm>
            <a:off x="157779" y="708761"/>
            <a:ext cx="11876442" cy="6060339"/>
          </a:xfrm>
          <a:prstGeom prst="rect">
            <a:avLst/>
          </a:prstGeom>
          <a:solidFill>
            <a:schemeClr val="bg1"/>
          </a:solidFill>
          <a:ln w="28575">
            <a:solidFill>
              <a:schemeClr val="tx2"/>
            </a:solid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The </a:t>
            </a:r>
            <a:r>
              <a:rPr lang="en-IN" sz="2800" b="1" i="0" u="none" strike="noStrike" dirty="0">
                <a:solidFill>
                  <a:srgbClr val="002060"/>
                </a:solidFill>
                <a:effectLst/>
                <a:latin typeface="Times New Roman" panose="02020603050405020304" pitchFamily="18" charset="0"/>
                <a:cs typeface="Times New Roman" panose="02020603050405020304" pitchFamily="18" charset="0"/>
              </a:rPr>
              <a:t>effective mass of the electron</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is a fundamental concept in solid-state physics that describes how an electron behaves inside a crystalline solid. In free space, electrons respond to external forces according to Newton’s law with their actual mass m</a:t>
            </a:r>
            <a:r>
              <a:rPr lang="en-IN" sz="2800" b="0" i="0" u="none" strike="noStrike" baseline="-25000" dirty="0">
                <a:solidFill>
                  <a:srgbClr val="002060"/>
                </a:solidFill>
                <a:effectLst/>
                <a:latin typeface="Times New Roman" panose="02020603050405020304" pitchFamily="18" charset="0"/>
                <a:cs typeface="Times New Roman" panose="02020603050405020304" pitchFamily="18" charset="0"/>
              </a:rPr>
              <a:t>0</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However, inside a crystal, electrons move in the presence of a periodic potential created by the positively charged ion cores. This interaction alters the electron’s dynamics, and instead of behaving like a free particle, it acts as if it has a different mass, called the </a:t>
            </a:r>
            <a:r>
              <a:rPr lang="en-IN" sz="2800" b="1" i="0" u="none" strike="noStrike" dirty="0">
                <a:solidFill>
                  <a:srgbClr val="002060"/>
                </a:solidFill>
                <a:effectLst/>
                <a:latin typeface="Times New Roman" panose="02020603050405020304" pitchFamily="18" charset="0"/>
                <a:cs typeface="Times New Roman" panose="02020603050405020304" pitchFamily="18" charset="0"/>
              </a:rPr>
              <a:t>effective mass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m∗.</a:t>
            </a:r>
          </a:p>
          <a:p>
            <a:pPr marL="0" indent="0" algn="just">
              <a:buNone/>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Mathematically, the effective mass is related to the curvature of the electronic energy band E(k) as a function of the crystal momentum (wave vector k):</a:t>
            </a:r>
          </a:p>
          <a:p>
            <a:pPr marL="0" indent="0">
              <a:buFont typeface="Arial" panose="020B0604020202020204" pitchFamily="34" charset="0"/>
              <a:buNone/>
            </a:pPr>
            <a:endParaRPr lang="en-IN" dirty="0">
              <a:solidFill>
                <a:srgbClr val="002060"/>
              </a:solidFill>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dirty="0">
              <a:solidFill>
                <a:srgbClr val="002060"/>
              </a:solidFill>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dirty="0">
              <a:solidFill>
                <a:srgbClr val="002060"/>
              </a:solidFill>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IN" dirty="0">
                <a:solidFill>
                  <a:srgbClr val="002060"/>
                </a:solidFill>
                <a:latin typeface="Times New Roman" panose="02020603050405020304" pitchFamily="18" charset="0"/>
                <a:cs typeface="Times New Roman" panose="02020603050405020304" pitchFamily="18" charset="0"/>
              </a:rPr>
              <a:t>Where, </a:t>
            </a:r>
            <a:r>
              <a:rPr lang="en-IN" dirty="0" err="1">
                <a:solidFill>
                  <a:srgbClr val="002060"/>
                </a:solidFill>
                <a:latin typeface="Times New Roman" panose="02020603050405020304" pitchFamily="18" charset="0"/>
                <a:cs typeface="Times New Roman" panose="02020603050405020304" pitchFamily="18" charset="0"/>
              </a:rPr>
              <a:t>ℏ</a:t>
            </a:r>
            <a:r>
              <a:rPr lang="en-IN" dirty="0">
                <a:solidFill>
                  <a:srgbClr val="002060"/>
                </a:solidFill>
                <a:latin typeface="Times New Roman" panose="02020603050405020304" pitchFamily="18" charset="0"/>
                <a:cs typeface="Times New Roman" panose="02020603050405020304" pitchFamily="18" charset="0"/>
              </a:rPr>
              <a:t> is the reduced Planck’s constant, E(k) is the energy as a function of wave vector k.</a:t>
            </a:r>
          </a:p>
        </p:txBody>
      </p:sp>
      <p:pic>
        <p:nvPicPr>
          <p:cNvPr id="8" name="Picture 7" descr="A mathematical equation with black text&#10;&#10;Description automatically generated">
            <a:extLst>
              <a:ext uri="{FF2B5EF4-FFF2-40B4-BE49-F238E27FC236}">
                <a16:creationId xmlns:a16="http://schemas.microsoft.com/office/drawing/2014/main" xmlns="" id="{4DE99E9C-F039-4383-4003-A1E15200BC4F}"/>
              </a:ext>
            </a:extLst>
          </p:cNvPr>
          <p:cNvPicPr>
            <a:picLocks noChangeAspect="1"/>
          </p:cNvPicPr>
          <p:nvPr/>
        </p:nvPicPr>
        <p:blipFill>
          <a:blip r:embed="rId3"/>
          <a:stretch>
            <a:fillRect/>
          </a:stretch>
        </p:blipFill>
        <p:spPr>
          <a:xfrm>
            <a:off x="4766074" y="4469180"/>
            <a:ext cx="2659851" cy="1436320"/>
          </a:xfrm>
          <a:prstGeom prst="rect">
            <a:avLst/>
          </a:prstGeom>
        </p:spPr>
      </p:pic>
      <p:sp>
        <p:nvSpPr>
          <p:cNvPr id="9" name="TextBox 8">
            <a:extLst>
              <a:ext uri="{FF2B5EF4-FFF2-40B4-BE49-F238E27FC236}">
                <a16:creationId xmlns:a16="http://schemas.microsoft.com/office/drawing/2014/main" xmlns="" id="{9414CB7F-C447-1382-D896-0C52CF2395C3}"/>
              </a:ext>
            </a:extLst>
          </p:cNvPr>
          <p:cNvSpPr txBox="1"/>
          <p:nvPr/>
        </p:nvSpPr>
        <p:spPr>
          <a:xfrm>
            <a:off x="121509" y="130457"/>
            <a:ext cx="11948982" cy="523220"/>
          </a:xfrm>
          <a:prstGeom prst="rect">
            <a:avLst/>
          </a:prstGeom>
          <a:solidFill>
            <a:schemeClr val="bg1"/>
          </a:solidFill>
          <a:ln w="28575">
            <a:solidFill>
              <a:schemeClr val="tx2"/>
            </a:solidFill>
          </a:ln>
        </p:spPr>
        <p:txBody>
          <a:bodyPr wrap="square">
            <a:spAutoFit/>
          </a:bodyPr>
          <a:lstStyle/>
          <a:p>
            <a:pPr marL="0" indent="0">
              <a:lnSpc>
                <a:spcPct val="100000"/>
              </a:lnSpc>
              <a:spcBef>
                <a:spcPts val="0"/>
              </a:spcBef>
              <a:buNone/>
            </a:pPr>
            <a:r>
              <a:rPr lang="en-IN" sz="2800" b="1" i="0" u="none" strike="noStrike" dirty="0">
                <a:solidFill>
                  <a:srgbClr val="C00000"/>
                </a:solidFill>
                <a:effectLst/>
                <a:latin typeface="Times New Roman" panose="02020603050405020304" pitchFamily="18" charset="0"/>
                <a:cs typeface="Times New Roman" panose="02020603050405020304" pitchFamily="18" charset="0"/>
              </a:rPr>
              <a:t>Effective mass of an electron:</a:t>
            </a:r>
            <a:endParaRPr lang="en-US" altLang="en-US" sz="2800" b="1"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ECB6731-A4FE-546A-72F9-AC7AB6721759}"/>
              </a:ext>
            </a:extLst>
          </p:cNvPr>
          <p:cNvSpPr txBox="1"/>
          <p:nvPr/>
        </p:nvSpPr>
        <p:spPr>
          <a:xfrm>
            <a:off x="155575" y="3909035"/>
            <a:ext cx="11880850" cy="2893100"/>
          </a:xfrm>
          <a:prstGeom prst="rect">
            <a:avLst/>
          </a:prstGeom>
          <a:solidFill>
            <a:schemeClr val="bg1"/>
          </a:solidFill>
          <a:ln w="28575">
            <a:solidFill>
              <a:schemeClr val="tx2"/>
            </a:solidFill>
          </a:ln>
        </p:spPr>
        <p:txBody>
          <a:bodyPr wrap="square">
            <a:spAutoFit/>
          </a:bodyPr>
          <a:lstStyle/>
          <a:p>
            <a:pPr algn="l"/>
            <a:r>
              <a:rPr lang="en-IN" sz="2600" b="0" i="0" u="none" strike="noStrike" dirty="0">
                <a:solidFill>
                  <a:srgbClr val="000000"/>
                </a:solidFill>
                <a:effectLst/>
                <a:latin typeface="Times New Roman" panose="02020603050405020304" pitchFamily="18" charset="0"/>
                <a:cs typeface="Times New Roman" panose="02020603050405020304" pitchFamily="18" charset="0"/>
              </a:rPr>
              <a:t>When the size of a material is reduced to the nano-meter scale, comparable to the exciton Bohr radius, the situation changes drastically. At this scale, electrons and holes experience spatial confinement, and their motion becomes restricted in one or more dimensions. This phenomenon is called </a:t>
            </a:r>
            <a:r>
              <a:rPr lang="en-IN" sz="2600" b="1" i="0" u="none" strike="noStrike" dirty="0">
                <a:solidFill>
                  <a:srgbClr val="000000"/>
                </a:solidFill>
                <a:effectLst/>
                <a:latin typeface="Times New Roman" panose="02020603050405020304" pitchFamily="18" charset="0"/>
                <a:cs typeface="Times New Roman" panose="02020603050405020304" pitchFamily="18" charset="0"/>
              </a:rPr>
              <a:t>quantum confinement</a:t>
            </a:r>
            <a:r>
              <a:rPr lang="en-IN" sz="2600" b="0" i="0" u="none" strike="noStrike" dirty="0">
                <a:solidFill>
                  <a:srgbClr val="000000"/>
                </a:solidFill>
                <a:effectLst/>
                <a:latin typeface="Times New Roman" panose="02020603050405020304" pitchFamily="18" charset="0"/>
                <a:cs typeface="Times New Roman" panose="02020603050405020304" pitchFamily="18" charset="0"/>
              </a:rPr>
              <a:t>. </a:t>
            </a:r>
          </a:p>
          <a:p>
            <a:pPr algn="l"/>
            <a:r>
              <a:rPr lang="en-IN" sz="2600" b="0" i="0" u="none" strike="noStrike" dirty="0">
                <a:solidFill>
                  <a:srgbClr val="000000"/>
                </a:solidFill>
                <a:effectLst/>
                <a:latin typeface="Times New Roman" panose="02020603050405020304" pitchFamily="18" charset="0"/>
                <a:cs typeface="Times New Roman" panose="02020603050405020304" pitchFamily="18" charset="0"/>
              </a:rPr>
              <a:t>       Due to this confinement, the continuous bands of the bulk material break up into discrete energy states again, resembling the behavior of isolated atoms. This is why quantum dots are often referred to as "artificial atoms.</a:t>
            </a:r>
          </a:p>
        </p:txBody>
      </p:sp>
      <p:sp>
        <p:nvSpPr>
          <p:cNvPr id="7" name="TextBox 6">
            <a:extLst>
              <a:ext uri="{FF2B5EF4-FFF2-40B4-BE49-F238E27FC236}">
                <a16:creationId xmlns:a16="http://schemas.microsoft.com/office/drawing/2014/main" xmlns="" id="{106F99DD-AAC1-DD89-DE7D-85397B043F02}"/>
              </a:ext>
            </a:extLst>
          </p:cNvPr>
          <p:cNvSpPr txBox="1"/>
          <p:nvPr/>
        </p:nvSpPr>
        <p:spPr>
          <a:xfrm>
            <a:off x="177800" y="143878"/>
            <a:ext cx="11880850" cy="523220"/>
          </a:xfrm>
          <a:prstGeom prst="rect">
            <a:avLst/>
          </a:prstGeom>
          <a:solidFill>
            <a:schemeClr val="bg1"/>
          </a:solidFill>
          <a:ln w="28575">
            <a:solidFill>
              <a:schemeClr val="tx2"/>
            </a:solidFill>
          </a:ln>
        </p:spPr>
        <p:txBody>
          <a:bodyPr wrap="square">
            <a:spAutoFit/>
          </a:bodyPr>
          <a:lstStyle/>
          <a:p>
            <a:r>
              <a:rPr lang="en-US" sz="28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C</a:t>
            </a:r>
            <a:r>
              <a:rPr lang="en-US" sz="28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oncept of discrete energy levels:</a:t>
            </a:r>
            <a:endParaRPr lang="en-US" sz="2800" b="1" dirty="0">
              <a:solidFill>
                <a:srgbClr val="C00000"/>
              </a:solidFill>
            </a:endParaRPr>
          </a:p>
        </p:txBody>
      </p:sp>
      <p:sp>
        <p:nvSpPr>
          <p:cNvPr id="9" name="TextBox 8">
            <a:extLst>
              <a:ext uri="{FF2B5EF4-FFF2-40B4-BE49-F238E27FC236}">
                <a16:creationId xmlns:a16="http://schemas.microsoft.com/office/drawing/2014/main" xmlns="" id="{A1BD6312-7512-AB86-81F0-19DA08431BD8}"/>
              </a:ext>
            </a:extLst>
          </p:cNvPr>
          <p:cNvSpPr txBox="1"/>
          <p:nvPr/>
        </p:nvSpPr>
        <p:spPr>
          <a:xfrm>
            <a:off x="177800" y="750599"/>
            <a:ext cx="11880850" cy="2492990"/>
          </a:xfrm>
          <a:prstGeom prst="rect">
            <a:avLst/>
          </a:prstGeom>
          <a:solidFill>
            <a:schemeClr val="bg1"/>
          </a:solidFill>
          <a:ln w="28575">
            <a:solidFill>
              <a:schemeClr val="tx2"/>
            </a:solidFill>
          </a:ln>
        </p:spPr>
        <p:txBody>
          <a:bodyPr wrap="square">
            <a:spAutoFit/>
          </a:bodyPr>
          <a:lstStyle/>
          <a:p>
            <a:pPr algn="l"/>
            <a:r>
              <a:rPr lang="en-IN" sz="2600" b="0" i="0" u="none" strike="noStrike" dirty="0">
                <a:solidFill>
                  <a:srgbClr val="000000"/>
                </a:solidFill>
                <a:effectLst/>
                <a:latin typeface="Times New Roman" panose="02020603050405020304" pitchFamily="18" charset="0"/>
                <a:cs typeface="Times New Roman" panose="02020603050405020304" pitchFamily="18" charset="0"/>
              </a:rPr>
              <a:t>In isolated atoms or molecules, electrons occupy well-defined discrete energy levels. However, when a large number of atoms come together to form a solid, these discrete levels overlap due to the close interaction of atomic orbitals. </a:t>
            </a:r>
            <a:r>
              <a:rPr lang="en-IN" sz="2600" dirty="0">
                <a:solidFill>
                  <a:srgbClr val="000000"/>
                </a:solidFill>
                <a:latin typeface="Times New Roman" panose="02020603050405020304" pitchFamily="18" charset="0"/>
                <a:cs typeface="Times New Roman" panose="02020603050405020304" pitchFamily="18" charset="0"/>
              </a:rPr>
              <a:t> </a:t>
            </a:r>
            <a:r>
              <a:rPr lang="en-IN" sz="2600" b="0" i="0" u="none" strike="noStrike" dirty="0">
                <a:solidFill>
                  <a:srgbClr val="000000"/>
                </a:solidFill>
                <a:effectLst/>
                <a:latin typeface="Times New Roman" panose="02020603050405020304" pitchFamily="18" charset="0"/>
                <a:cs typeface="Times New Roman" panose="02020603050405020304" pitchFamily="18" charset="0"/>
              </a:rPr>
              <a:t>As a result, the individual atomic levels broaden into continuous energy bands, giving rise to the valence band and conduction band separated by a bandgap in bulk materials. Thus, while atoms show discrete levels, bulk solids exhibit continuous energy bands.</a:t>
            </a:r>
          </a:p>
        </p:txBody>
      </p:sp>
      <p:sp>
        <p:nvSpPr>
          <p:cNvPr id="11" name="TextBox 10">
            <a:extLst>
              <a:ext uri="{FF2B5EF4-FFF2-40B4-BE49-F238E27FC236}">
                <a16:creationId xmlns:a16="http://schemas.microsoft.com/office/drawing/2014/main" xmlns="" id="{B80D865B-35F9-EBB4-B1DA-7BAA714A43CB}"/>
              </a:ext>
            </a:extLst>
          </p:cNvPr>
          <p:cNvSpPr txBox="1"/>
          <p:nvPr/>
        </p:nvSpPr>
        <p:spPr>
          <a:xfrm>
            <a:off x="177800" y="3327402"/>
            <a:ext cx="11880850" cy="523220"/>
          </a:xfrm>
          <a:prstGeom prst="rect">
            <a:avLst/>
          </a:prstGeom>
          <a:solidFill>
            <a:schemeClr val="bg1"/>
          </a:solidFill>
          <a:ln w="28575">
            <a:solidFill>
              <a:schemeClr val="tx2"/>
            </a:solidFill>
          </a:ln>
        </p:spPr>
        <p:txBody>
          <a:bodyPr wrap="square">
            <a:spAutoFit/>
          </a:bodyPr>
          <a:lstStyle/>
          <a:p>
            <a:r>
              <a:rPr lang="en-US" sz="28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Q</a:t>
            </a:r>
            <a:r>
              <a:rPr lang="en-US" sz="28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uantum confinement in nanomaterials:</a:t>
            </a:r>
            <a:endParaRPr lang="en-US" sz="2800" dirty="0"/>
          </a:p>
        </p:txBody>
      </p:sp>
    </p:spTree>
    <p:extLst>
      <p:ext uri="{BB962C8B-B14F-4D97-AF65-F5344CB8AC3E}">
        <p14:creationId xmlns:p14="http://schemas.microsoft.com/office/powerpoint/2010/main" val="35951641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1072</TotalTime>
  <Words>1065</Words>
  <Application>Microsoft Office PowerPoint</Application>
  <PresentationFormat>Custom</PresentationFormat>
  <Paragraphs>143</Paragraphs>
  <Slides>18</Slides>
  <Notes>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0" baseType="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Naresh Parkala</dc:creator>
  <cp:lastModifiedBy>DELL</cp:lastModifiedBy>
  <cp:revision>17</cp:revision>
  <dcterms:created xsi:type="dcterms:W3CDTF">2025-09-02T04:17:12Z</dcterms:created>
  <dcterms:modified xsi:type="dcterms:W3CDTF">2025-11-24T09:02:29Z</dcterms:modified>
</cp:coreProperties>
</file>