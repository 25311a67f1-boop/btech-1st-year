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 id="258" r:id="rId3"/>
    <p:sldId id="260" r:id="rId4"/>
    <p:sldId id="263" r:id="rId5"/>
    <p:sldId id="259" r:id="rId6"/>
    <p:sldId id="271" r:id="rId7"/>
    <p:sldId id="272" r:id="rId8"/>
    <p:sldId id="280" r:id="rId9"/>
    <p:sldId id="302" r:id="rId10"/>
    <p:sldId id="303" r:id="rId11"/>
    <p:sldId id="281" r:id="rId12"/>
    <p:sldId id="282" r:id="rId13"/>
    <p:sldId id="283" r:id="rId14"/>
    <p:sldId id="284" r:id="rId15"/>
    <p:sldId id="287" r:id="rId16"/>
    <p:sldId id="285" r:id="rId17"/>
    <p:sldId id="286" r:id="rId18"/>
    <p:sldId id="288" r:id="rId19"/>
    <p:sldId id="289" r:id="rId20"/>
    <p:sldId id="290" r:id="rId21"/>
    <p:sldId id="291" r:id="rId22"/>
    <p:sldId id="265" r:id="rId23"/>
    <p:sldId id="300" r:id="rId24"/>
    <p:sldId id="276" r:id="rId25"/>
    <p:sldId id="301" r:id="rId26"/>
    <p:sldId id="294" r:id="rId27"/>
    <p:sldId id="295" r:id="rId28"/>
    <p:sldId id="296" r:id="rId29"/>
    <p:sldId id="298" r:id="rId30"/>
    <p:sldId id="299"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41651"/>
    <a:srgbClr val="929000"/>
    <a:srgbClr val="9437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0"/>
    <p:restoredTop sz="95741"/>
  </p:normalViewPr>
  <p:slideViewPr>
    <p:cSldViewPr snapToGrid="0">
      <p:cViewPr>
        <p:scale>
          <a:sx n="95" d="100"/>
          <a:sy n="95" d="100"/>
        </p:scale>
        <p:origin x="-178" y="96"/>
      </p:cViewPr>
      <p:guideLst>
        <p:guide orient="horz" pos="2160"/>
        <p:guide pos="3840"/>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image" Target="../media/image17.emf"/><Relationship Id="rId4" Type="http://schemas.openxmlformats.org/officeDocument/2006/relationships/image" Target="../media/image20.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56706F2-BF05-ABE7-8778-332A44E6ED33}"/>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 xmlns:a16="http://schemas.microsoft.com/office/drawing/2014/main" id="{66F9F641-E264-59DA-1813-BDE61296E3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 xmlns:a16="http://schemas.microsoft.com/office/drawing/2014/main" id="{29F76877-C774-67F3-5DE8-4956ED8EB3A4}"/>
              </a:ext>
            </a:extLst>
          </p:cNvPr>
          <p:cNvSpPr>
            <a:spLocks noGrp="1"/>
          </p:cNvSpPr>
          <p:nvPr>
            <p:ph type="dt" sz="half" idx="10"/>
          </p:nvPr>
        </p:nvSpPr>
        <p:spPr/>
        <p:txBody>
          <a:bodyPr/>
          <a:lstStyle/>
          <a:p>
            <a:fld id="{C16C12B5-D153-0D4A-94BE-1E5D5C8A73D6}" type="datetimeFigureOut">
              <a:rPr lang="en-US" smtClean="0"/>
              <a:t>10/14/2025</a:t>
            </a:fld>
            <a:endParaRPr lang="en-US"/>
          </a:p>
        </p:txBody>
      </p:sp>
      <p:sp>
        <p:nvSpPr>
          <p:cNvPr id="5" name="Footer Placeholder 4">
            <a:extLst>
              <a:ext uri="{FF2B5EF4-FFF2-40B4-BE49-F238E27FC236}">
                <a16:creationId xmlns="" xmlns:a16="http://schemas.microsoft.com/office/drawing/2014/main" id="{99EBB48D-4B05-CE79-5653-EB1F61BFB0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65F48890-FD49-0A28-EE7B-2525F53E4A91}"/>
              </a:ext>
            </a:extLst>
          </p:cNvPr>
          <p:cNvSpPr>
            <a:spLocks noGrp="1"/>
          </p:cNvSpPr>
          <p:nvPr>
            <p:ph type="sldNum" sz="quarter" idx="12"/>
          </p:nvPr>
        </p:nvSpPr>
        <p:spPr/>
        <p:txBody>
          <a:bodyPr/>
          <a:lstStyle/>
          <a:p>
            <a:fld id="{C988D931-79D9-8E4F-A89B-5970C9655C44}" type="slidenum">
              <a:rPr lang="en-US" smtClean="0"/>
              <a:t>‹#›</a:t>
            </a:fld>
            <a:endParaRPr lang="en-US"/>
          </a:p>
        </p:txBody>
      </p:sp>
    </p:spTree>
    <p:extLst>
      <p:ext uri="{BB962C8B-B14F-4D97-AF65-F5344CB8AC3E}">
        <p14:creationId xmlns:p14="http://schemas.microsoft.com/office/powerpoint/2010/main" val="34542949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572C117-ADBA-BF00-80DE-BF7784252B6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 xmlns:a16="http://schemas.microsoft.com/office/drawing/2014/main" id="{229AEA4C-D8B5-1463-FCF5-CEEF9CC90F3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2E988A47-BCD7-48DD-5E12-C7592974C2D0}"/>
              </a:ext>
            </a:extLst>
          </p:cNvPr>
          <p:cNvSpPr>
            <a:spLocks noGrp="1"/>
          </p:cNvSpPr>
          <p:nvPr>
            <p:ph type="dt" sz="half" idx="10"/>
          </p:nvPr>
        </p:nvSpPr>
        <p:spPr/>
        <p:txBody>
          <a:bodyPr/>
          <a:lstStyle/>
          <a:p>
            <a:fld id="{C16C12B5-D153-0D4A-94BE-1E5D5C8A73D6}" type="datetimeFigureOut">
              <a:rPr lang="en-US" smtClean="0"/>
              <a:t>10/14/2025</a:t>
            </a:fld>
            <a:endParaRPr lang="en-US"/>
          </a:p>
        </p:txBody>
      </p:sp>
      <p:sp>
        <p:nvSpPr>
          <p:cNvPr id="5" name="Footer Placeholder 4">
            <a:extLst>
              <a:ext uri="{FF2B5EF4-FFF2-40B4-BE49-F238E27FC236}">
                <a16:creationId xmlns="" xmlns:a16="http://schemas.microsoft.com/office/drawing/2014/main" id="{0EB17C2E-6352-7FBC-C213-D08303FAC1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773FF3CA-7006-84AF-B5F1-C9AC841A03DC}"/>
              </a:ext>
            </a:extLst>
          </p:cNvPr>
          <p:cNvSpPr>
            <a:spLocks noGrp="1"/>
          </p:cNvSpPr>
          <p:nvPr>
            <p:ph type="sldNum" sz="quarter" idx="12"/>
          </p:nvPr>
        </p:nvSpPr>
        <p:spPr/>
        <p:txBody>
          <a:bodyPr/>
          <a:lstStyle/>
          <a:p>
            <a:fld id="{C988D931-79D9-8E4F-A89B-5970C9655C44}" type="slidenum">
              <a:rPr lang="en-US" smtClean="0"/>
              <a:t>‹#›</a:t>
            </a:fld>
            <a:endParaRPr lang="en-US"/>
          </a:p>
        </p:txBody>
      </p:sp>
    </p:spTree>
    <p:extLst>
      <p:ext uri="{BB962C8B-B14F-4D97-AF65-F5344CB8AC3E}">
        <p14:creationId xmlns:p14="http://schemas.microsoft.com/office/powerpoint/2010/main" val="4208930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3AA8E17-06B9-C761-261F-242AF0E75036}"/>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 xmlns:a16="http://schemas.microsoft.com/office/drawing/2014/main" id="{C4F395F8-B66B-0A2B-D6CF-932ECB60980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 xmlns:a16="http://schemas.microsoft.com/office/drawing/2014/main" id="{BAE54FE3-CD86-DEDE-E22F-439C65BD5DE4}"/>
              </a:ext>
            </a:extLst>
          </p:cNvPr>
          <p:cNvSpPr>
            <a:spLocks noGrp="1"/>
          </p:cNvSpPr>
          <p:nvPr>
            <p:ph type="dt" sz="half" idx="10"/>
          </p:nvPr>
        </p:nvSpPr>
        <p:spPr/>
        <p:txBody>
          <a:bodyPr/>
          <a:lstStyle/>
          <a:p>
            <a:fld id="{C16C12B5-D153-0D4A-94BE-1E5D5C8A73D6}" type="datetimeFigureOut">
              <a:rPr lang="en-US" smtClean="0"/>
              <a:t>10/14/2025</a:t>
            </a:fld>
            <a:endParaRPr lang="en-US"/>
          </a:p>
        </p:txBody>
      </p:sp>
      <p:sp>
        <p:nvSpPr>
          <p:cNvPr id="5" name="Footer Placeholder 4">
            <a:extLst>
              <a:ext uri="{FF2B5EF4-FFF2-40B4-BE49-F238E27FC236}">
                <a16:creationId xmlns="" xmlns:a16="http://schemas.microsoft.com/office/drawing/2014/main" id="{8701CB9B-7ED8-8E32-94E2-0D4D51DC32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3C40AADF-CF10-3CBC-B870-B74449137E34}"/>
              </a:ext>
            </a:extLst>
          </p:cNvPr>
          <p:cNvSpPr>
            <a:spLocks noGrp="1"/>
          </p:cNvSpPr>
          <p:nvPr>
            <p:ph type="sldNum" sz="quarter" idx="12"/>
          </p:nvPr>
        </p:nvSpPr>
        <p:spPr/>
        <p:txBody>
          <a:bodyPr/>
          <a:lstStyle/>
          <a:p>
            <a:fld id="{C988D931-79D9-8E4F-A89B-5970C9655C44}" type="slidenum">
              <a:rPr lang="en-US" smtClean="0"/>
              <a:t>‹#›</a:t>
            </a:fld>
            <a:endParaRPr lang="en-US"/>
          </a:p>
        </p:txBody>
      </p:sp>
    </p:spTree>
    <p:extLst>
      <p:ext uri="{BB962C8B-B14F-4D97-AF65-F5344CB8AC3E}">
        <p14:creationId xmlns:p14="http://schemas.microsoft.com/office/powerpoint/2010/main" val="9751442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65FDAAF-4413-6D3E-2154-9715594BC16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 xmlns:a16="http://schemas.microsoft.com/office/drawing/2014/main" id="{0217D65E-6FFE-1BBC-7546-0029125C1AA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 xmlns:a16="http://schemas.microsoft.com/office/drawing/2014/main" id="{F200C843-85E0-A5F3-67E3-F6942961AF04}"/>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 xmlns:a16="http://schemas.microsoft.com/office/drawing/2014/main" id="{88EA9C77-953A-8C7B-BC01-83102D3A34FB}"/>
              </a:ext>
            </a:extLst>
          </p:cNvPr>
          <p:cNvSpPr>
            <a:spLocks noGrp="1"/>
          </p:cNvSpPr>
          <p:nvPr>
            <p:ph type="dt" sz="half" idx="10"/>
          </p:nvPr>
        </p:nvSpPr>
        <p:spPr/>
        <p:txBody>
          <a:bodyPr/>
          <a:lstStyle/>
          <a:p>
            <a:fld id="{C16C12B5-D153-0D4A-94BE-1E5D5C8A73D6}" type="datetimeFigureOut">
              <a:rPr lang="en-US" smtClean="0"/>
              <a:t>10/14/2025</a:t>
            </a:fld>
            <a:endParaRPr lang="en-US"/>
          </a:p>
        </p:txBody>
      </p:sp>
      <p:sp>
        <p:nvSpPr>
          <p:cNvPr id="6" name="Footer Placeholder 5">
            <a:extLst>
              <a:ext uri="{FF2B5EF4-FFF2-40B4-BE49-F238E27FC236}">
                <a16:creationId xmlns="" xmlns:a16="http://schemas.microsoft.com/office/drawing/2014/main" id="{34767965-A50E-6AA2-E973-244999D691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D90E1E55-D813-6CF1-D9BE-28C54BABA24C}"/>
              </a:ext>
            </a:extLst>
          </p:cNvPr>
          <p:cNvSpPr>
            <a:spLocks noGrp="1"/>
          </p:cNvSpPr>
          <p:nvPr>
            <p:ph type="sldNum" sz="quarter" idx="12"/>
          </p:nvPr>
        </p:nvSpPr>
        <p:spPr/>
        <p:txBody>
          <a:bodyPr/>
          <a:lstStyle/>
          <a:p>
            <a:fld id="{C988D931-79D9-8E4F-A89B-5970C9655C44}" type="slidenum">
              <a:rPr lang="en-US" smtClean="0"/>
              <a:t>‹#›</a:t>
            </a:fld>
            <a:endParaRPr lang="en-US"/>
          </a:p>
        </p:txBody>
      </p:sp>
    </p:spTree>
    <p:extLst>
      <p:ext uri="{BB962C8B-B14F-4D97-AF65-F5344CB8AC3E}">
        <p14:creationId xmlns:p14="http://schemas.microsoft.com/office/powerpoint/2010/main" val="1772922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4D15780-5C09-0286-77F6-060C68C7C9AA}"/>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 xmlns:a16="http://schemas.microsoft.com/office/drawing/2014/main" id="{3ADD9F1B-D3EB-8562-1BA2-17493A6CE7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 xmlns:a16="http://schemas.microsoft.com/office/drawing/2014/main" id="{A57AD6BA-D67E-838E-FD70-36E1A248D8A8}"/>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 xmlns:a16="http://schemas.microsoft.com/office/drawing/2014/main" id="{E24AF652-AF0C-45DA-ED15-3FA9343FE2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 xmlns:a16="http://schemas.microsoft.com/office/drawing/2014/main" id="{1004081E-A5D9-A453-1D85-D3132E54F8F0}"/>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 xmlns:a16="http://schemas.microsoft.com/office/drawing/2014/main" id="{92DC32E0-92B5-09FF-0765-7F95845242E5}"/>
              </a:ext>
            </a:extLst>
          </p:cNvPr>
          <p:cNvSpPr>
            <a:spLocks noGrp="1"/>
          </p:cNvSpPr>
          <p:nvPr>
            <p:ph type="dt" sz="half" idx="10"/>
          </p:nvPr>
        </p:nvSpPr>
        <p:spPr/>
        <p:txBody>
          <a:bodyPr/>
          <a:lstStyle/>
          <a:p>
            <a:fld id="{C16C12B5-D153-0D4A-94BE-1E5D5C8A73D6}" type="datetimeFigureOut">
              <a:rPr lang="en-US" smtClean="0"/>
              <a:t>10/14/2025</a:t>
            </a:fld>
            <a:endParaRPr lang="en-US"/>
          </a:p>
        </p:txBody>
      </p:sp>
      <p:sp>
        <p:nvSpPr>
          <p:cNvPr id="8" name="Footer Placeholder 7">
            <a:extLst>
              <a:ext uri="{FF2B5EF4-FFF2-40B4-BE49-F238E27FC236}">
                <a16:creationId xmlns="" xmlns:a16="http://schemas.microsoft.com/office/drawing/2014/main" id="{61CA7E7B-184B-74E3-B6D4-4FA940AFDD8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 xmlns:a16="http://schemas.microsoft.com/office/drawing/2014/main" id="{07C839B7-AD5E-70FB-A592-9B883B953F76}"/>
              </a:ext>
            </a:extLst>
          </p:cNvPr>
          <p:cNvSpPr>
            <a:spLocks noGrp="1"/>
          </p:cNvSpPr>
          <p:nvPr>
            <p:ph type="sldNum" sz="quarter" idx="12"/>
          </p:nvPr>
        </p:nvSpPr>
        <p:spPr/>
        <p:txBody>
          <a:bodyPr/>
          <a:lstStyle/>
          <a:p>
            <a:fld id="{C988D931-79D9-8E4F-A89B-5970C9655C44}" type="slidenum">
              <a:rPr lang="en-US" smtClean="0"/>
              <a:t>‹#›</a:t>
            </a:fld>
            <a:endParaRPr lang="en-US"/>
          </a:p>
        </p:txBody>
      </p:sp>
    </p:spTree>
    <p:extLst>
      <p:ext uri="{BB962C8B-B14F-4D97-AF65-F5344CB8AC3E}">
        <p14:creationId xmlns:p14="http://schemas.microsoft.com/office/powerpoint/2010/main" val="23211029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551F1D8-A57F-8FD5-F51D-22C134A298DC}"/>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 xmlns:a16="http://schemas.microsoft.com/office/drawing/2014/main" id="{B176D0E8-7C82-7CE1-F27D-09DEA7060B63}"/>
              </a:ext>
            </a:extLst>
          </p:cNvPr>
          <p:cNvSpPr>
            <a:spLocks noGrp="1"/>
          </p:cNvSpPr>
          <p:nvPr>
            <p:ph type="dt" sz="half" idx="10"/>
          </p:nvPr>
        </p:nvSpPr>
        <p:spPr/>
        <p:txBody>
          <a:bodyPr/>
          <a:lstStyle/>
          <a:p>
            <a:fld id="{C16C12B5-D153-0D4A-94BE-1E5D5C8A73D6}" type="datetimeFigureOut">
              <a:rPr lang="en-US" smtClean="0"/>
              <a:t>10/14/2025</a:t>
            </a:fld>
            <a:endParaRPr lang="en-US"/>
          </a:p>
        </p:txBody>
      </p:sp>
      <p:sp>
        <p:nvSpPr>
          <p:cNvPr id="4" name="Footer Placeholder 3">
            <a:extLst>
              <a:ext uri="{FF2B5EF4-FFF2-40B4-BE49-F238E27FC236}">
                <a16:creationId xmlns="" xmlns:a16="http://schemas.microsoft.com/office/drawing/2014/main" id="{B27DBF11-8169-8F30-97FC-80AECF8B5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 xmlns:a16="http://schemas.microsoft.com/office/drawing/2014/main" id="{3590F2AE-B33C-F17A-2179-DE6D98B4495A}"/>
              </a:ext>
            </a:extLst>
          </p:cNvPr>
          <p:cNvSpPr>
            <a:spLocks noGrp="1"/>
          </p:cNvSpPr>
          <p:nvPr>
            <p:ph type="sldNum" sz="quarter" idx="12"/>
          </p:nvPr>
        </p:nvSpPr>
        <p:spPr/>
        <p:txBody>
          <a:bodyPr/>
          <a:lstStyle/>
          <a:p>
            <a:fld id="{C988D931-79D9-8E4F-A89B-5970C9655C44}" type="slidenum">
              <a:rPr lang="en-US" smtClean="0"/>
              <a:t>‹#›</a:t>
            </a:fld>
            <a:endParaRPr lang="en-US"/>
          </a:p>
        </p:txBody>
      </p:sp>
    </p:spTree>
    <p:extLst>
      <p:ext uri="{BB962C8B-B14F-4D97-AF65-F5344CB8AC3E}">
        <p14:creationId xmlns:p14="http://schemas.microsoft.com/office/powerpoint/2010/main" val="6200030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87703E7D-8DB4-FF3B-96D4-FF11DBECC633}"/>
              </a:ext>
            </a:extLst>
          </p:cNvPr>
          <p:cNvSpPr>
            <a:spLocks noGrp="1"/>
          </p:cNvSpPr>
          <p:nvPr>
            <p:ph type="dt" sz="half" idx="10"/>
          </p:nvPr>
        </p:nvSpPr>
        <p:spPr/>
        <p:txBody>
          <a:bodyPr/>
          <a:lstStyle/>
          <a:p>
            <a:fld id="{C16C12B5-D153-0D4A-94BE-1E5D5C8A73D6}" type="datetimeFigureOut">
              <a:rPr lang="en-US" smtClean="0"/>
              <a:t>10/14/2025</a:t>
            </a:fld>
            <a:endParaRPr lang="en-US"/>
          </a:p>
        </p:txBody>
      </p:sp>
      <p:sp>
        <p:nvSpPr>
          <p:cNvPr id="3" name="Footer Placeholder 2">
            <a:extLst>
              <a:ext uri="{FF2B5EF4-FFF2-40B4-BE49-F238E27FC236}">
                <a16:creationId xmlns="" xmlns:a16="http://schemas.microsoft.com/office/drawing/2014/main" id="{71BA7DA2-0C2A-16F3-FA79-A4956AD2A3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 xmlns:a16="http://schemas.microsoft.com/office/drawing/2014/main" id="{FBBAABAB-E711-106D-DD13-D40D32B0082C}"/>
              </a:ext>
            </a:extLst>
          </p:cNvPr>
          <p:cNvSpPr>
            <a:spLocks noGrp="1"/>
          </p:cNvSpPr>
          <p:nvPr>
            <p:ph type="sldNum" sz="quarter" idx="12"/>
          </p:nvPr>
        </p:nvSpPr>
        <p:spPr/>
        <p:txBody>
          <a:bodyPr/>
          <a:lstStyle/>
          <a:p>
            <a:fld id="{C988D931-79D9-8E4F-A89B-5970C9655C44}" type="slidenum">
              <a:rPr lang="en-US" smtClean="0"/>
              <a:t>‹#›</a:t>
            </a:fld>
            <a:endParaRPr lang="en-US"/>
          </a:p>
        </p:txBody>
      </p:sp>
    </p:spTree>
    <p:extLst>
      <p:ext uri="{BB962C8B-B14F-4D97-AF65-F5344CB8AC3E}">
        <p14:creationId xmlns:p14="http://schemas.microsoft.com/office/powerpoint/2010/main" val="527124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C18B751-64B9-58D1-9F96-7D248FA39A3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 xmlns:a16="http://schemas.microsoft.com/office/drawing/2014/main" id="{ADE173A3-7A17-E67D-403A-8E7CC986C1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 xmlns:a16="http://schemas.microsoft.com/office/drawing/2014/main" id="{70CA2CDF-3B89-AD16-53B5-99EAA64912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 xmlns:a16="http://schemas.microsoft.com/office/drawing/2014/main" id="{2AFCD965-F3A5-C794-55A8-35499C11D815}"/>
              </a:ext>
            </a:extLst>
          </p:cNvPr>
          <p:cNvSpPr>
            <a:spLocks noGrp="1"/>
          </p:cNvSpPr>
          <p:nvPr>
            <p:ph type="dt" sz="half" idx="10"/>
          </p:nvPr>
        </p:nvSpPr>
        <p:spPr/>
        <p:txBody>
          <a:bodyPr/>
          <a:lstStyle/>
          <a:p>
            <a:fld id="{C16C12B5-D153-0D4A-94BE-1E5D5C8A73D6}" type="datetimeFigureOut">
              <a:rPr lang="en-US" smtClean="0"/>
              <a:t>10/14/2025</a:t>
            </a:fld>
            <a:endParaRPr lang="en-US"/>
          </a:p>
        </p:txBody>
      </p:sp>
      <p:sp>
        <p:nvSpPr>
          <p:cNvPr id="6" name="Footer Placeholder 5">
            <a:extLst>
              <a:ext uri="{FF2B5EF4-FFF2-40B4-BE49-F238E27FC236}">
                <a16:creationId xmlns="" xmlns:a16="http://schemas.microsoft.com/office/drawing/2014/main" id="{2909668F-6966-8081-E16E-76055E3420E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9E4582E6-8E03-39D5-B3C9-F44DE99B80BE}"/>
              </a:ext>
            </a:extLst>
          </p:cNvPr>
          <p:cNvSpPr>
            <a:spLocks noGrp="1"/>
          </p:cNvSpPr>
          <p:nvPr>
            <p:ph type="sldNum" sz="quarter" idx="12"/>
          </p:nvPr>
        </p:nvSpPr>
        <p:spPr/>
        <p:txBody>
          <a:bodyPr/>
          <a:lstStyle/>
          <a:p>
            <a:fld id="{C988D931-79D9-8E4F-A89B-5970C9655C44}" type="slidenum">
              <a:rPr lang="en-US" smtClean="0"/>
              <a:t>‹#›</a:t>
            </a:fld>
            <a:endParaRPr lang="en-US"/>
          </a:p>
        </p:txBody>
      </p:sp>
    </p:spTree>
    <p:extLst>
      <p:ext uri="{BB962C8B-B14F-4D97-AF65-F5344CB8AC3E}">
        <p14:creationId xmlns:p14="http://schemas.microsoft.com/office/powerpoint/2010/main" val="25445273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DE45DC4-3323-93B8-8D78-E33FB918F8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 xmlns:a16="http://schemas.microsoft.com/office/drawing/2014/main" id="{99CCB21E-AF21-E90D-B8B9-CC9C238E66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 xmlns:a16="http://schemas.microsoft.com/office/drawing/2014/main" id="{96C49736-AF6C-AAE2-E48C-A5A47262A1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 xmlns:a16="http://schemas.microsoft.com/office/drawing/2014/main" id="{4998B028-3B18-5D0B-3AB3-385D45C9998C}"/>
              </a:ext>
            </a:extLst>
          </p:cNvPr>
          <p:cNvSpPr>
            <a:spLocks noGrp="1"/>
          </p:cNvSpPr>
          <p:nvPr>
            <p:ph type="dt" sz="half" idx="10"/>
          </p:nvPr>
        </p:nvSpPr>
        <p:spPr/>
        <p:txBody>
          <a:bodyPr/>
          <a:lstStyle/>
          <a:p>
            <a:fld id="{C16C12B5-D153-0D4A-94BE-1E5D5C8A73D6}" type="datetimeFigureOut">
              <a:rPr lang="en-US" smtClean="0"/>
              <a:t>10/14/2025</a:t>
            </a:fld>
            <a:endParaRPr lang="en-US"/>
          </a:p>
        </p:txBody>
      </p:sp>
      <p:sp>
        <p:nvSpPr>
          <p:cNvPr id="6" name="Footer Placeholder 5">
            <a:extLst>
              <a:ext uri="{FF2B5EF4-FFF2-40B4-BE49-F238E27FC236}">
                <a16:creationId xmlns="" xmlns:a16="http://schemas.microsoft.com/office/drawing/2014/main" id="{6CA64C1A-8804-AD47-8B82-FA4D9607ED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90C68616-49E5-CC14-EDF2-72DB4EA798EE}"/>
              </a:ext>
            </a:extLst>
          </p:cNvPr>
          <p:cNvSpPr>
            <a:spLocks noGrp="1"/>
          </p:cNvSpPr>
          <p:nvPr>
            <p:ph type="sldNum" sz="quarter" idx="12"/>
          </p:nvPr>
        </p:nvSpPr>
        <p:spPr/>
        <p:txBody>
          <a:bodyPr/>
          <a:lstStyle/>
          <a:p>
            <a:fld id="{C988D931-79D9-8E4F-A89B-5970C9655C44}" type="slidenum">
              <a:rPr lang="en-US" smtClean="0"/>
              <a:t>‹#›</a:t>
            </a:fld>
            <a:endParaRPr lang="en-US"/>
          </a:p>
        </p:txBody>
      </p:sp>
    </p:spTree>
    <p:extLst>
      <p:ext uri="{BB962C8B-B14F-4D97-AF65-F5344CB8AC3E}">
        <p14:creationId xmlns:p14="http://schemas.microsoft.com/office/powerpoint/2010/main" val="2112546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86E28BF-6BE1-F41C-CC34-C511C010E835}"/>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 xmlns:a16="http://schemas.microsoft.com/office/drawing/2014/main" id="{7FDBB039-7787-8A81-45C8-56CF9FD0EF2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C1025A24-CFB1-27C4-51D6-77C2163D24E4}"/>
              </a:ext>
            </a:extLst>
          </p:cNvPr>
          <p:cNvSpPr>
            <a:spLocks noGrp="1"/>
          </p:cNvSpPr>
          <p:nvPr>
            <p:ph type="dt" sz="half" idx="10"/>
          </p:nvPr>
        </p:nvSpPr>
        <p:spPr/>
        <p:txBody>
          <a:bodyPr/>
          <a:lstStyle/>
          <a:p>
            <a:fld id="{C16C12B5-D153-0D4A-94BE-1E5D5C8A73D6}" type="datetimeFigureOut">
              <a:rPr lang="en-US" smtClean="0"/>
              <a:t>10/14/2025</a:t>
            </a:fld>
            <a:endParaRPr lang="en-US"/>
          </a:p>
        </p:txBody>
      </p:sp>
      <p:sp>
        <p:nvSpPr>
          <p:cNvPr id="5" name="Footer Placeholder 4">
            <a:extLst>
              <a:ext uri="{FF2B5EF4-FFF2-40B4-BE49-F238E27FC236}">
                <a16:creationId xmlns="" xmlns:a16="http://schemas.microsoft.com/office/drawing/2014/main" id="{30C9C355-698D-A487-299E-4522D67A31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0974AF67-75FF-16DD-8F39-90E54EE84629}"/>
              </a:ext>
            </a:extLst>
          </p:cNvPr>
          <p:cNvSpPr>
            <a:spLocks noGrp="1"/>
          </p:cNvSpPr>
          <p:nvPr>
            <p:ph type="sldNum" sz="quarter" idx="12"/>
          </p:nvPr>
        </p:nvSpPr>
        <p:spPr/>
        <p:txBody>
          <a:bodyPr/>
          <a:lstStyle/>
          <a:p>
            <a:fld id="{C988D931-79D9-8E4F-A89B-5970C9655C44}" type="slidenum">
              <a:rPr lang="en-US" smtClean="0"/>
              <a:t>‹#›</a:t>
            </a:fld>
            <a:endParaRPr lang="en-US"/>
          </a:p>
        </p:txBody>
      </p:sp>
    </p:spTree>
    <p:extLst>
      <p:ext uri="{BB962C8B-B14F-4D97-AF65-F5344CB8AC3E}">
        <p14:creationId xmlns:p14="http://schemas.microsoft.com/office/powerpoint/2010/main" val="3804503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56433F06-381B-B2DD-84A7-B4BE236E66E5}"/>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 xmlns:a16="http://schemas.microsoft.com/office/drawing/2014/main" id="{529BEC10-34F9-5E45-9F09-0829A2F5D5A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FE9FDF4F-7C16-DBB3-8332-B8923DF0380E}"/>
              </a:ext>
            </a:extLst>
          </p:cNvPr>
          <p:cNvSpPr>
            <a:spLocks noGrp="1"/>
          </p:cNvSpPr>
          <p:nvPr>
            <p:ph type="dt" sz="half" idx="10"/>
          </p:nvPr>
        </p:nvSpPr>
        <p:spPr/>
        <p:txBody>
          <a:bodyPr/>
          <a:lstStyle/>
          <a:p>
            <a:fld id="{C16C12B5-D153-0D4A-94BE-1E5D5C8A73D6}" type="datetimeFigureOut">
              <a:rPr lang="en-US" smtClean="0"/>
              <a:t>10/14/2025</a:t>
            </a:fld>
            <a:endParaRPr lang="en-US"/>
          </a:p>
        </p:txBody>
      </p:sp>
      <p:sp>
        <p:nvSpPr>
          <p:cNvPr id="5" name="Footer Placeholder 4">
            <a:extLst>
              <a:ext uri="{FF2B5EF4-FFF2-40B4-BE49-F238E27FC236}">
                <a16:creationId xmlns="" xmlns:a16="http://schemas.microsoft.com/office/drawing/2014/main" id="{AE2B4429-A7A4-85EA-46FE-2771F88A03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479205FF-2ACD-8E0F-FBAB-E81D31AD32FD}"/>
              </a:ext>
            </a:extLst>
          </p:cNvPr>
          <p:cNvSpPr>
            <a:spLocks noGrp="1"/>
          </p:cNvSpPr>
          <p:nvPr>
            <p:ph type="sldNum" sz="quarter" idx="12"/>
          </p:nvPr>
        </p:nvSpPr>
        <p:spPr/>
        <p:txBody>
          <a:bodyPr/>
          <a:lstStyle/>
          <a:p>
            <a:fld id="{C988D931-79D9-8E4F-A89B-5970C9655C44}" type="slidenum">
              <a:rPr lang="en-US" smtClean="0"/>
              <a:t>‹#›</a:t>
            </a:fld>
            <a:endParaRPr lang="en-US"/>
          </a:p>
        </p:txBody>
      </p:sp>
    </p:spTree>
    <p:extLst>
      <p:ext uri="{BB962C8B-B14F-4D97-AF65-F5344CB8AC3E}">
        <p14:creationId xmlns:p14="http://schemas.microsoft.com/office/powerpoint/2010/main" val="1796092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trellis">
          <a:fgClr>
            <a:srgbClr val="941651"/>
          </a:fgClr>
          <a:bgClr>
            <a:schemeClr val="bg1"/>
          </a:bgClr>
        </a:patt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63EA1EFF-6828-D68C-C0C3-3053391947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 xmlns:a16="http://schemas.microsoft.com/office/drawing/2014/main" id="{3ABE6295-79D3-EA6D-00A1-132DF25B74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BAFC5FE9-ECA2-9874-D1A3-B67C9C0E189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16C12B5-D153-0D4A-94BE-1E5D5C8A73D6}" type="datetimeFigureOut">
              <a:rPr lang="en-US" smtClean="0"/>
              <a:t>10/14/2025</a:t>
            </a:fld>
            <a:endParaRPr lang="en-US"/>
          </a:p>
        </p:txBody>
      </p:sp>
      <p:sp>
        <p:nvSpPr>
          <p:cNvPr id="5" name="Footer Placeholder 4">
            <a:extLst>
              <a:ext uri="{FF2B5EF4-FFF2-40B4-BE49-F238E27FC236}">
                <a16:creationId xmlns="" xmlns:a16="http://schemas.microsoft.com/office/drawing/2014/main" id="{3A63CD27-54DF-7A0D-1BF2-8C6BE738DD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 xmlns:a16="http://schemas.microsoft.com/office/drawing/2014/main" id="{099054CC-FF2B-32C6-33EB-E89586FB5F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988D931-79D9-8E4F-A89B-5970C9655C44}" type="slidenum">
              <a:rPr lang="en-US" smtClean="0"/>
              <a:t>‹#›</a:t>
            </a:fld>
            <a:endParaRPr lang="en-US"/>
          </a:p>
        </p:txBody>
      </p:sp>
    </p:spTree>
    <p:extLst>
      <p:ext uri="{BB962C8B-B14F-4D97-AF65-F5344CB8AC3E}">
        <p14:creationId xmlns:p14="http://schemas.microsoft.com/office/powerpoint/2010/main" val="15618288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3.emf"/><Relationship Id="rId5" Type="http://schemas.openxmlformats.org/officeDocument/2006/relationships/oleObject" Target="../embeddings/oleObject2.bin"/><Relationship Id="rId4" Type="http://schemas.openxmlformats.org/officeDocument/2006/relationships/image" Target="../media/image2.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13.emf"/><Relationship Id="rId4" Type="http://schemas.openxmlformats.org/officeDocument/2006/relationships/oleObject" Target="../embeddings/oleObject3.bin"/></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15.emf"/></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oleObject" Target="../embeddings/oleObject5.bin"/><Relationship Id="rId7" Type="http://schemas.openxmlformats.org/officeDocument/2006/relationships/image" Target="../media/image21.png"/><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8.emf"/><Relationship Id="rId11" Type="http://schemas.openxmlformats.org/officeDocument/2006/relationships/image" Target="../media/image20.emf"/><Relationship Id="rId5" Type="http://schemas.openxmlformats.org/officeDocument/2006/relationships/oleObject" Target="../embeddings/oleObject6.bin"/><Relationship Id="rId10" Type="http://schemas.openxmlformats.org/officeDocument/2006/relationships/oleObject" Target="../embeddings/oleObject8.bin"/><Relationship Id="rId4" Type="http://schemas.openxmlformats.org/officeDocument/2006/relationships/image" Target="../media/image17.emf"/><Relationship Id="rId9" Type="http://schemas.openxmlformats.org/officeDocument/2006/relationships/image" Target="../media/image19.emf"/></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52476D3A-29E6-2ACE-18BD-16813DA49C4D}"/>
              </a:ext>
            </a:extLst>
          </p:cNvPr>
          <p:cNvSpPr txBox="1"/>
          <p:nvPr/>
        </p:nvSpPr>
        <p:spPr>
          <a:xfrm>
            <a:off x="96819" y="3001013"/>
            <a:ext cx="11920125" cy="3421449"/>
          </a:xfrm>
          <a:prstGeom prst="rect">
            <a:avLst/>
          </a:prstGeom>
          <a:solidFill>
            <a:schemeClr val="bg1"/>
          </a:solidFill>
          <a:ln w="38100">
            <a:solidFill>
              <a:srgbClr val="941651"/>
            </a:solidFill>
          </a:ln>
        </p:spPr>
        <p:txBody>
          <a:bodyPr wrap="square">
            <a:spAutoFit/>
          </a:bodyPr>
          <a:lstStyle/>
          <a:p>
            <a:pPr algn="just">
              <a:spcAft>
                <a:spcPts val="1000"/>
              </a:spcAft>
            </a:pPr>
            <a:r>
              <a:rPr lang="en-US" sz="260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Introduction to magnetic materials, origin of magnetic moment-classification of magnetic materials, hysteresis, Weiss domain theory of ferromagnetism, soft and hard magnetic materials, synthesis of ferrimagnetic materials using sol-gel method, applications: magnetic hyperthermia for cancer treatment, magnets for EV, Giant Magneto Resistance (GMR) device.</a:t>
            </a:r>
            <a:endParaRPr lang="en-IN" sz="260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endParaRPr>
          </a:p>
          <a:p>
            <a:pPr algn="just">
              <a:spcAft>
                <a:spcPts val="1000"/>
              </a:spcAft>
            </a:pPr>
            <a:r>
              <a:rPr lang="en-US" sz="260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Introduction to dielectric materials, types of polarization (qualitative): electronics, ionic &amp; orientation; ferroelectric, piezoelectric, pyroelectric materials and their applications: Ferroelectric Random-Access Memory (Fe-RAM), load cell and fire sensor.</a:t>
            </a:r>
            <a:endParaRPr lang="en-IN" sz="260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 xmlns:a16="http://schemas.microsoft.com/office/drawing/2014/main" id="{FC6DFD59-7563-91F8-33EC-C3D5080F7A4E}"/>
              </a:ext>
            </a:extLst>
          </p:cNvPr>
          <p:cNvSpPr txBox="1"/>
          <p:nvPr/>
        </p:nvSpPr>
        <p:spPr>
          <a:xfrm>
            <a:off x="96819" y="1131042"/>
            <a:ext cx="11905711" cy="1754326"/>
          </a:xfrm>
          <a:prstGeom prst="rect">
            <a:avLst/>
          </a:prstGeom>
          <a:solidFill>
            <a:schemeClr val="bg1"/>
          </a:solidFill>
          <a:ln w="28575">
            <a:solidFill>
              <a:srgbClr val="941651"/>
            </a:solidFill>
          </a:ln>
        </p:spPr>
        <p:txBody>
          <a:bodyPr wrap="square">
            <a:spAutoFit/>
          </a:bodyPr>
          <a:lstStyle/>
          <a:p>
            <a:pPr algn="ctr"/>
            <a:r>
              <a:rPr lang="en-US" sz="5400" b="1" dirty="0" smtClean="0">
                <a:solidFill>
                  <a:srgbClr val="941651"/>
                </a:solidFill>
                <a:effectLst/>
                <a:latin typeface="Times New Roman" panose="02020603050405020304" pitchFamily="18" charset="0"/>
                <a:ea typeface="Calibri" panose="020F0502020204030204" pitchFamily="34" charset="0"/>
                <a:cs typeface="Times New Roman" panose="02020603050405020304" pitchFamily="18" charset="0"/>
              </a:rPr>
              <a:t>UNIT-3 </a:t>
            </a:r>
            <a:endParaRPr lang="en-US" sz="5400" b="1" dirty="0">
              <a:solidFill>
                <a:srgbClr val="941651"/>
              </a:solidFill>
              <a:effectLst/>
              <a:latin typeface="Times New Roman" panose="02020603050405020304" pitchFamily="18" charset="0"/>
              <a:ea typeface="Calibri" panose="020F0502020204030204" pitchFamily="34" charset="0"/>
              <a:cs typeface="Times New Roman" panose="02020603050405020304" pitchFamily="18" charset="0"/>
            </a:endParaRPr>
          </a:p>
          <a:p>
            <a:pPr algn="ctr"/>
            <a:r>
              <a:rPr lang="en-US" sz="5400" b="1" dirty="0">
                <a:solidFill>
                  <a:srgbClr val="941651"/>
                </a:solidFill>
                <a:effectLst/>
                <a:latin typeface="Times New Roman" panose="02020603050405020304" pitchFamily="18" charset="0"/>
                <a:ea typeface="Calibri" panose="020F0502020204030204" pitchFamily="34" charset="0"/>
                <a:cs typeface="Times New Roman" panose="02020603050405020304" pitchFamily="18" charset="0"/>
              </a:rPr>
              <a:t>Magnetic and Dielectric Materials</a:t>
            </a:r>
            <a:endParaRPr lang="en-US" sz="5400" dirty="0">
              <a:solidFill>
                <a:srgbClr val="941651"/>
              </a:solidFill>
            </a:endParaRPr>
          </a:p>
        </p:txBody>
      </p:sp>
      <p:sp>
        <p:nvSpPr>
          <p:cNvPr id="6" name="TextBox 5">
            <a:extLst>
              <a:ext uri="{FF2B5EF4-FFF2-40B4-BE49-F238E27FC236}">
                <a16:creationId xmlns="" xmlns:a16="http://schemas.microsoft.com/office/drawing/2014/main" id="{B2CAC9C6-481E-6263-DDA2-FE63FD86309D}"/>
              </a:ext>
            </a:extLst>
          </p:cNvPr>
          <p:cNvSpPr txBox="1"/>
          <p:nvPr/>
        </p:nvSpPr>
        <p:spPr>
          <a:xfrm>
            <a:off x="111233" y="159450"/>
            <a:ext cx="11905711" cy="830997"/>
          </a:xfrm>
          <a:prstGeom prst="rect">
            <a:avLst/>
          </a:prstGeom>
          <a:solidFill>
            <a:schemeClr val="bg1"/>
          </a:solidFill>
          <a:ln w="38100">
            <a:solidFill>
              <a:srgbClr val="941651"/>
            </a:solidFill>
          </a:ln>
        </p:spPr>
        <p:txBody>
          <a:bodyPr wrap="square">
            <a:spAutoFit/>
          </a:bodyPr>
          <a:lstStyle/>
          <a:p>
            <a:pPr algn="ctr"/>
            <a:r>
              <a:rPr lang="en-US" sz="4800" b="1"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ADVANCED ENGINEERG PHYSICS</a:t>
            </a:r>
            <a:endParaRPr lang="en-US" sz="4800" dirty="0">
              <a:solidFill>
                <a:srgbClr val="002060"/>
              </a:solidFill>
            </a:endParaRPr>
          </a:p>
        </p:txBody>
      </p:sp>
    </p:spTree>
    <p:extLst>
      <p:ext uri="{BB962C8B-B14F-4D97-AF65-F5344CB8AC3E}">
        <p14:creationId xmlns:p14="http://schemas.microsoft.com/office/powerpoint/2010/main" val="19135411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BEBF4939-B29B-4A57-4AF4-35ACB3737825}"/>
              </a:ext>
            </a:extLst>
          </p:cNvPr>
          <p:cNvSpPr txBox="1"/>
          <p:nvPr/>
        </p:nvSpPr>
        <p:spPr>
          <a:xfrm>
            <a:off x="189471" y="284995"/>
            <a:ext cx="11813060" cy="523220"/>
          </a:xfrm>
          <a:prstGeom prst="rect">
            <a:avLst/>
          </a:prstGeom>
          <a:solidFill>
            <a:schemeClr val="bg1"/>
          </a:solidFill>
          <a:ln w="28575">
            <a:solidFill>
              <a:srgbClr val="941651"/>
            </a:solidFill>
          </a:ln>
        </p:spPr>
        <p:txBody>
          <a:bodyPr wrap="square">
            <a:spAutoFit/>
          </a:bodyPr>
          <a:lstStyle/>
          <a:p>
            <a:pPr algn="l"/>
            <a:r>
              <a:rPr lang="en-IN" sz="2800" b="1" i="0" u="none" strike="noStrike" dirty="0">
                <a:solidFill>
                  <a:srgbClr val="941651"/>
                </a:solidFill>
                <a:effectLst/>
                <a:latin typeface="Times New Roman" panose="02020603050405020304" pitchFamily="18" charset="0"/>
                <a:cs typeface="Times New Roman" panose="02020603050405020304" pitchFamily="18" charset="0"/>
              </a:rPr>
              <a:t>Introduction to Magnetic Materials:</a:t>
            </a:r>
          </a:p>
        </p:txBody>
      </p:sp>
      <p:sp>
        <p:nvSpPr>
          <p:cNvPr id="7" name="TextBox 6">
            <a:extLst>
              <a:ext uri="{FF2B5EF4-FFF2-40B4-BE49-F238E27FC236}">
                <a16:creationId xmlns="" xmlns:a16="http://schemas.microsoft.com/office/drawing/2014/main" id="{ABB019FB-A704-583E-848E-E5D6AF308EA1}"/>
              </a:ext>
            </a:extLst>
          </p:cNvPr>
          <p:cNvSpPr txBox="1"/>
          <p:nvPr/>
        </p:nvSpPr>
        <p:spPr>
          <a:xfrm>
            <a:off x="189471" y="908143"/>
            <a:ext cx="11813059" cy="5262979"/>
          </a:xfrm>
          <a:prstGeom prst="rect">
            <a:avLst/>
          </a:prstGeom>
          <a:solidFill>
            <a:schemeClr val="bg1"/>
          </a:solidFill>
          <a:ln w="28575">
            <a:solidFill>
              <a:srgbClr val="941651"/>
            </a:solidFill>
          </a:ln>
        </p:spPr>
        <p:txBody>
          <a:bodyPr wrap="square">
            <a:spAutoFit/>
          </a:bodyPr>
          <a:lstStyle/>
          <a:p>
            <a:pPr marL="342900" indent="-342900">
              <a:buFont typeface="Arial" panose="020B0604020202020204" pitchFamily="34" charset="0"/>
              <a:buChar char="•"/>
            </a:pPr>
            <a:r>
              <a:rPr lang="en-IN" sz="2800" b="0" i="0" u="none" strike="noStrike" dirty="0">
                <a:solidFill>
                  <a:srgbClr val="002060"/>
                </a:solidFill>
                <a:effectLst/>
                <a:latin typeface="Times New Roman" panose="02020603050405020304" pitchFamily="18" charset="0"/>
                <a:cs typeface="Times New Roman" panose="02020603050405020304" pitchFamily="18" charset="0"/>
              </a:rPr>
              <a:t>Magnetic materials are substances that respond to an applied magnetic field and can be magnetized to produce their own magnetic field. </a:t>
            </a:r>
          </a:p>
          <a:p>
            <a:pPr marL="342900" indent="-342900">
              <a:buFont typeface="Arial" panose="020B0604020202020204" pitchFamily="34" charset="0"/>
              <a:buChar char="•"/>
            </a:pPr>
            <a:r>
              <a:rPr lang="en-IN" sz="2800" b="0" i="0" u="none" strike="noStrike" dirty="0">
                <a:solidFill>
                  <a:srgbClr val="002060"/>
                </a:solidFill>
                <a:effectLst/>
                <a:latin typeface="Times New Roman" panose="02020603050405020304" pitchFamily="18" charset="0"/>
                <a:cs typeface="Times New Roman" panose="02020603050405020304" pitchFamily="18" charset="0"/>
              </a:rPr>
              <a:t>Their unique behavior arises from the motion of electrons, particularly the </a:t>
            </a:r>
            <a:r>
              <a:rPr lang="en-IN" sz="2800" b="1" i="0" u="none" strike="noStrike" dirty="0">
                <a:solidFill>
                  <a:srgbClr val="002060"/>
                </a:solidFill>
                <a:effectLst/>
                <a:latin typeface="Times New Roman" panose="02020603050405020304" pitchFamily="18" charset="0"/>
                <a:cs typeface="Times New Roman" panose="02020603050405020304" pitchFamily="18" charset="0"/>
              </a:rPr>
              <a:t>spin and orbital angular momentum</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 which give rise to </a:t>
            </a:r>
            <a:r>
              <a:rPr lang="en-IN" sz="2800" b="1" i="0" u="none" strike="noStrike" dirty="0">
                <a:solidFill>
                  <a:srgbClr val="002060"/>
                </a:solidFill>
                <a:effectLst/>
                <a:latin typeface="Times New Roman" panose="02020603050405020304" pitchFamily="18" charset="0"/>
                <a:cs typeface="Times New Roman" panose="02020603050405020304" pitchFamily="18" charset="0"/>
              </a:rPr>
              <a:t>magnetic dipole moments</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IN" sz="2800" b="0" i="0" u="none" strike="noStrike" dirty="0">
                <a:solidFill>
                  <a:srgbClr val="002060"/>
                </a:solidFill>
                <a:effectLst/>
                <a:latin typeface="Times New Roman" panose="02020603050405020304" pitchFamily="18" charset="0"/>
                <a:cs typeface="Times New Roman" panose="02020603050405020304" pitchFamily="18" charset="0"/>
              </a:rPr>
              <a:t>The collective alignment of these dipole moments determines the overall magnetic properties of the material. Magnetic materials play a vital role in science and technology. </a:t>
            </a:r>
          </a:p>
          <a:p>
            <a:pPr marL="342900" indent="-342900">
              <a:buFont typeface="Arial" panose="020B0604020202020204" pitchFamily="34" charset="0"/>
              <a:buChar char="•"/>
            </a:pPr>
            <a:r>
              <a:rPr lang="en-IN" sz="2800" b="0" i="0" u="none" strike="noStrike" dirty="0">
                <a:solidFill>
                  <a:srgbClr val="002060"/>
                </a:solidFill>
                <a:effectLst/>
                <a:latin typeface="Times New Roman" panose="02020603050405020304" pitchFamily="18" charset="0"/>
                <a:cs typeface="Times New Roman" panose="02020603050405020304" pitchFamily="18" charset="0"/>
              </a:rPr>
              <a:t>They are used in </a:t>
            </a:r>
            <a:r>
              <a:rPr lang="en-IN" sz="2800" b="1" i="0" u="none" strike="noStrike" dirty="0">
                <a:solidFill>
                  <a:srgbClr val="002060"/>
                </a:solidFill>
                <a:effectLst/>
                <a:latin typeface="Times New Roman" panose="02020603050405020304" pitchFamily="18" charset="0"/>
                <a:cs typeface="Times New Roman" panose="02020603050405020304" pitchFamily="18" charset="0"/>
              </a:rPr>
              <a:t>transformers, electric motors, data storage devices, sensors, medical imaging, and communication systems</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 Advances in nanotechnology and spintronics are also expanding their applications in quantum computing and next-generation electronics.</a:t>
            </a:r>
          </a:p>
        </p:txBody>
      </p:sp>
    </p:spTree>
    <p:extLst>
      <p:ext uri="{BB962C8B-B14F-4D97-AF65-F5344CB8AC3E}">
        <p14:creationId xmlns:p14="http://schemas.microsoft.com/office/powerpoint/2010/main" val="3840707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2336D496-52F0-5A4F-E628-943732766BA6}"/>
              </a:ext>
            </a:extLst>
          </p:cNvPr>
          <p:cNvSpPr txBox="1"/>
          <p:nvPr/>
        </p:nvSpPr>
        <p:spPr>
          <a:xfrm>
            <a:off x="150471" y="206260"/>
            <a:ext cx="11884450" cy="523220"/>
          </a:xfrm>
          <a:prstGeom prst="rect">
            <a:avLst/>
          </a:prstGeom>
          <a:solidFill>
            <a:schemeClr val="bg1"/>
          </a:solidFill>
          <a:ln w="28575">
            <a:solidFill>
              <a:srgbClr val="941651"/>
            </a:solidFill>
          </a:ln>
        </p:spPr>
        <p:txBody>
          <a:bodyPr wrap="square">
            <a:spAutoFit/>
          </a:bodyPr>
          <a:lstStyle/>
          <a:p>
            <a:pPr algn="l"/>
            <a:r>
              <a:rPr lang="en-IN" sz="2800" b="1" i="0" u="none" strike="noStrike" dirty="0">
                <a:solidFill>
                  <a:srgbClr val="941651"/>
                </a:solidFill>
                <a:effectLst/>
                <a:latin typeface="Times New Roman" panose="02020603050405020304" pitchFamily="18" charset="0"/>
                <a:cs typeface="Times New Roman" panose="02020603050405020304" pitchFamily="18" charset="0"/>
              </a:rPr>
              <a:t>Origin of Magnetic Moment:</a:t>
            </a:r>
          </a:p>
        </p:txBody>
      </p:sp>
      <p:sp>
        <p:nvSpPr>
          <p:cNvPr id="5" name="TextBox 4">
            <a:extLst>
              <a:ext uri="{FF2B5EF4-FFF2-40B4-BE49-F238E27FC236}">
                <a16:creationId xmlns="" xmlns:a16="http://schemas.microsoft.com/office/drawing/2014/main" id="{230522D0-F53A-1AA4-B283-BC14DC8DA3A5}"/>
              </a:ext>
            </a:extLst>
          </p:cNvPr>
          <p:cNvSpPr txBox="1"/>
          <p:nvPr/>
        </p:nvSpPr>
        <p:spPr>
          <a:xfrm>
            <a:off x="162223" y="866492"/>
            <a:ext cx="7519549" cy="3970318"/>
          </a:xfrm>
          <a:prstGeom prst="rect">
            <a:avLst/>
          </a:prstGeom>
          <a:solidFill>
            <a:schemeClr val="bg1"/>
          </a:solidFill>
          <a:ln w="28575">
            <a:solidFill>
              <a:srgbClr val="941651"/>
            </a:solidFill>
          </a:ln>
        </p:spPr>
        <p:txBody>
          <a:bodyPr wrap="square">
            <a:spAutoFit/>
          </a:bodyPr>
          <a:lstStyle/>
          <a:p>
            <a:pPr algn="l"/>
            <a:r>
              <a:rPr lang="en-IN" sz="2800" b="0" i="0" u="none" strike="noStrike" dirty="0">
                <a:solidFill>
                  <a:srgbClr val="002060"/>
                </a:solidFill>
                <a:effectLst/>
                <a:latin typeface="Times New Roman" panose="02020603050405020304" pitchFamily="18" charset="0"/>
                <a:cs typeface="Times New Roman" panose="02020603050405020304" pitchFamily="18" charset="0"/>
              </a:rPr>
              <a:t>The magnetic moment in materials originates from the </a:t>
            </a:r>
            <a:r>
              <a:rPr lang="en-IN" sz="2800" b="1" i="0" u="none" strike="noStrike" dirty="0">
                <a:solidFill>
                  <a:srgbClr val="002060"/>
                </a:solidFill>
                <a:effectLst/>
                <a:latin typeface="Times New Roman" panose="02020603050405020304" pitchFamily="18" charset="0"/>
                <a:cs typeface="Times New Roman" panose="02020603050405020304" pitchFamily="18" charset="0"/>
              </a:rPr>
              <a:t>motion of electrons</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 mainly due to:</a:t>
            </a:r>
          </a:p>
          <a:p>
            <a:pPr marL="457200" indent="-457200" algn="l">
              <a:buFont typeface="Arial" panose="020B0604020202020204" pitchFamily="34" charset="0"/>
              <a:buChar char="•"/>
            </a:pPr>
            <a:r>
              <a:rPr lang="en-IN" sz="2800" b="1" i="0" u="none" strike="noStrike" dirty="0">
                <a:solidFill>
                  <a:srgbClr val="002060"/>
                </a:solidFill>
                <a:effectLst/>
                <a:latin typeface="Times New Roman" panose="02020603050405020304" pitchFamily="18" charset="0"/>
                <a:cs typeface="Times New Roman" panose="02020603050405020304" pitchFamily="18" charset="0"/>
              </a:rPr>
              <a:t>Orbital motion</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 of electrons around the nucleus.</a:t>
            </a:r>
          </a:p>
          <a:p>
            <a:pPr marL="457200" indent="-457200" algn="l">
              <a:buFont typeface="Arial" panose="020B0604020202020204" pitchFamily="34" charset="0"/>
              <a:buChar char="•"/>
            </a:pPr>
            <a:r>
              <a:rPr lang="en-IN" sz="2800" b="1" i="0" u="none" strike="noStrike" dirty="0">
                <a:solidFill>
                  <a:srgbClr val="002060"/>
                </a:solidFill>
                <a:effectLst/>
                <a:latin typeface="Times New Roman" panose="02020603050405020304" pitchFamily="18" charset="0"/>
                <a:cs typeface="Times New Roman" panose="02020603050405020304" pitchFamily="18" charset="0"/>
              </a:rPr>
              <a:t>Spin of electrons</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 on their own axis.</a:t>
            </a:r>
          </a:p>
          <a:p>
            <a:pPr algn="l"/>
            <a:r>
              <a:rPr lang="en-IN" sz="2800" b="0" i="0" u="none" strike="noStrike" dirty="0">
                <a:solidFill>
                  <a:srgbClr val="002060"/>
                </a:solidFill>
                <a:effectLst/>
                <a:latin typeface="Times New Roman" panose="02020603050405020304" pitchFamily="18" charset="0"/>
                <a:cs typeface="Times New Roman" panose="02020603050405020304" pitchFamily="18" charset="0"/>
              </a:rPr>
              <a:t>The net magnetic moment of an atom is the vector </a:t>
            </a:r>
          </a:p>
          <a:p>
            <a:pPr algn="l"/>
            <a:r>
              <a:rPr lang="en-IN" sz="2800" b="0" i="0" u="none" strike="noStrike" dirty="0">
                <a:solidFill>
                  <a:srgbClr val="002060"/>
                </a:solidFill>
                <a:effectLst/>
                <a:latin typeface="Times New Roman" panose="02020603050405020304" pitchFamily="18" charset="0"/>
                <a:cs typeface="Times New Roman" panose="02020603050405020304" pitchFamily="18" charset="0"/>
              </a:rPr>
              <a:t>sum of these contributions. In solids, the interaction and alignment of these moments among atoms lead to different types of magnetism.</a:t>
            </a:r>
          </a:p>
        </p:txBody>
      </p:sp>
      <p:sp>
        <p:nvSpPr>
          <p:cNvPr id="17" name="TextBox 16">
            <a:extLst>
              <a:ext uri="{FF2B5EF4-FFF2-40B4-BE49-F238E27FC236}">
                <a16:creationId xmlns="" xmlns:a16="http://schemas.microsoft.com/office/drawing/2014/main" id="{2BF2279B-67F6-6CA5-E8D5-2E49CC4FDC87}"/>
              </a:ext>
            </a:extLst>
          </p:cNvPr>
          <p:cNvSpPr txBox="1"/>
          <p:nvPr/>
        </p:nvSpPr>
        <p:spPr>
          <a:xfrm>
            <a:off x="82952" y="4940799"/>
            <a:ext cx="12026096" cy="1815882"/>
          </a:xfrm>
          <a:prstGeom prst="rect">
            <a:avLst/>
          </a:prstGeom>
          <a:solidFill>
            <a:schemeClr val="bg1"/>
          </a:solidFill>
          <a:ln w="38100">
            <a:solidFill>
              <a:srgbClr val="941651"/>
            </a:solidFill>
          </a:ln>
        </p:spPr>
        <p:txBody>
          <a:bodyPr wrap="square">
            <a:spAutoFit/>
          </a:bodyPr>
          <a:lstStyle/>
          <a:p>
            <a:pPr algn="just" eaLnBrk="1" hangingPunct="1">
              <a:defRPr/>
            </a:pPr>
            <a:r>
              <a:rPr lang="en-US" altLang="en-US" sz="2800" dirty="0">
                <a:solidFill>
                  <a:srgbClr val="002060"/>
                </a:solidFill>
                <a:latin typeface="Times New Roman" panose="02020603050405020304" pitchFamily="18" charset="0"/>
                <a:cs typeface="Times New Roman" panose="02020603050405020304" pitchFamily="18" charset="0"/>
              </a:rPr>
              <a:t>The magnetic moment in a material originates from the orbital motion and spinning motion of electrons in an atom. Consider an atom &amp; each electron in that, orbiting around the nucleus produces a loop current  i = q/t (or) i = </a:t>
            </a:r>
            <a:r>
              <a:rPr lang="en-US" altLang="en-US" sz="2800" dirty="0" err="1">
                <a:solidFill>
                  <a:srgbClr val="002060"/>
                </a:solidFill>
                <a:latin typeface="Times New Roman" panose="02020603050405020304" pitchFamily="18" charset="0"/>
                <a:cs typeface="Times New Roman" panose="02020603050405020304" pitchFamily="18" charset="0"/>
              </a:rPr>
              <a:t>qf</a:t>
            </a:r>
            <a:r>
              <a:rPr lang="en-US" altLang="en-US" sz="2800" dirty="0">
                <a:solidFill>
                  <a:srgbClr val="002060"/>
                </a:solidFill>
                <a:latin typeface="Times New Roman" panose="02020603050405020304" pitchFamily="18" charset="0"/>
                <a:cs typeface="Times New Roman" panose="02020603050405020304" pitchFamily="18" charset="0"/>
              </a:rPr>
              <a:t>,  where ‘f’ is a frequency of the electron. </a:t>
            </a:r>
          </a:p>
        </p:txBody>
      </p:sp>
      <p:pic>
        <p:nvPicPr>
          <p:cNvPr id="20" name="Picture 19" descr="A diagram of a nucleus&#10;&#10;Description automatically generated">
            <a:extLst>
              <a:ext uri="{FF2B5EF4-FFF2-40B4-BE49-F238E27FC236}">
                <a16:creationId xmlns="" xmlns:a16="http://schemas.microsoft.com/office/drawing/2014/main" id="{F12431AE-274C-FD96-F68B-8E8A545CE893}"/>
              </a:ext>
            </a:extLst>
          </p:cNvPr>
          <p:cNvPicPr>
            <a:picLocks noChangeAspect="1"/>
          </p:cNvPicPr>
          <p:nvPr/>
        </p:nvPicPr>
        <p:blipFill>
          <a:blip r:embed="rId2"/>
          <a:stretch>
            <a:fillRect/>
          </a:stretch>
        </p:blipFill>
        <p:spPr>
          <a:xfrm>
            <a:off x="7786306" y="833469"/>
            <a:ext cx="4167271" cy="4003341"/>
          </a:xfrm>
          <a:prstGeom prst="rect">
            <a:avLst/>
          </a:prstGeom>
          <a:ln w="38100">
            <a:solidFill>
              <a:srgbClr val="941651"/>
            </a:solidFill>
          </a:ln>
        </p:spPr>
      </p:pic>
    </p:spTree>
    <p:extLst>
      <p:ext uri="{BB962C8B-B14F-4D97-AF65-F5344CB8AC3E}">
        <p14:creationId xmlns:p14="http://schemas.microsoft.com/office/powerpoint/2010/main" val="3039316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387" name="Object 4">
            <a:extLst>
              <a:ext uri="{FF2B5EF4-FFF2-40B4-BE49-F238E27FC236}">
                <a16:creationId xmlns="" xmlns:a16="http://schemas.microsoft.com/office/drawing/2014/main" id="{E7EBD162-593A-06DB-BFD3-BD4701DB3F27}"/>
              </a:ext>
            </a:extLst>
          </p:cNvPr>
          <p:cNvGraphicFramePr>
            <a:graphicFrameLocks noChangeAspect="1"/>
          </p:cNvGraphicFramePr>
          <p:nvPr>
            <p:extLst>
              <p:ext uri="{D42A27DB-BD31-4B8C-83A1-F6EECF244321}">
                <p14:modId xmlns:p14="http://schemas.microsoft.com/office/powerpoint/2010/main" val="4178293224"/>
              </p:ext>
            </p:extLst>
          </p:nvPr>
        </p:nvGraphicFramePr>
        <p:xfrm>
          <a:off x="1259304" y="1178086"/>
          <a:ext cx="3071395" cy="4422614"/>
        </p:xfrm>
        <a:graphic>
          <a:graphicData uri="http://schemas.openxmlformats.org/presentationml/2006/ole">
            <mc:AlternateContent xmlns:mc="http://schemas.openxmlformats.org/markup-compatibility/2006">
              <mc:Choice xmlns:v="urn:schemas-microsoft-com:vml" Requires="v">
                <p:oleObj spid="_x0000_s2054" name="Equation" r:id="rId3" imgW="31597600" imgH="71386700" progId="Equation.3">
                  <p:embed/>
                </p:oleObj>
              </mc:Choice>
              <mc:Fallback>
                <p:oleObj name="Equation" r:id="rId3" imgW="31597600" imgH="71386700" progId="Equation.3">
                  <p:embed/>
                  <p:pic>
                    <p:nvPicPr>
                      <p:cNvPr id="16387" name="Object 4">
                        <a:extLst>
                          <a:ext uri="{FF2B5EF4-FFF2-40B4-BE49-F238E27FC236}">
                            <a16:creationId xmlns="" xmlns:a16="http://schemas.microsoft.com/office/drawing/2014/main" id="{E7EBD162-593A-06DB-BFD3-BD4701DB3F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9304" y="1178086"/>
                        <a:ext cx="3071395" cy="4422614"/>
                      </a:xfrm>
                      <a:prstGeom prst="rect">
                        <a:avLst/>
                      </a:prstGeom>
                      <a:solidFill>
                        <a:schemeClr val="bg1"/>
                      </a:solidFill>
                      <a:ln w="28575">
                        <a:solidFill>
                          <a:srgbClr val="941651"/>
                        </a:solidFill>
                        <a:miter lim="800000"/>
                        <a:headEnd/>
                        <a:tailEnd/>
                      </a:ln>
                    </p:spPr>
                  </p:pic>
                </p:oleObj>
              </mc:Fallback>
            </mc:AlternateContent>
          </a:graphicData>
        </a:graphic>
      </p:graphicFrame>
      <p:graphicFrame>
        <p:nvGraphicFramePr>
          <p:cNvPr id="16388" name="Object 4">
            <a:extLst>
              <a:ext uri="{FF2B5EF4-FFF2-40B4-BE49-F238E27FC236}">
                <a16:creationId xmlns="" xmlns:a16="http://schemas.microsoft.com/office/drawing/2014/main" id="{DE12BB5A-8B34-E55F-1986-5E7AC71872F2}"/>
              </a:ext>
            </a:extLst>
          </p:cNvPr>
          <p:cNvGraphicFramePr>
            <a:graphicFrameLocks noChangeAspect="1"/>
          </p:cNvGraphicFramePr>
          <p:nvPr>
            <p:extLst>
              <p:ext uri="{D42A27DB-BD31-4B8C-83A1-F6EECF244321}">
                <p14:modId xmlns:p14="http://schemas.microsoft.com/office/powerpoint/2010/main" val="4290946836"/>
              </p:ext>
            </p:extLst>
          </p:nvPr>
        </p:nvGraphicFramePr>
        <p:xfrm>
          <a:off x="4436971" y="1165386"/>
          <a:ext cx="5998418" cy="4422614"/>
        </p:xfrm>
        <a:graphic>
          <a:graphicData uri="http://schemas.openxmlformats.org/presentationml/2006/ole">
            <mc:AlternateContent xmlns:mc="http://schemas.openxmlformats.org/markup-compatibility/2006">
              <mc:Choice xmlns:v="urn:schemas-microsoft-com:vml" Requires="v">
                <p:oleObj spid="_x0000_s2055" name="Equation" r:id="rId5" imgW="86601300" imgH="62611000" progId="Equation.3">
                  <p:embed/>
                </p:oleObj>
              </mc:Choice>
              <mc:Fallback>
                <p:oleObj name="Equation" r:id="rId5" imgW="86601300" imgH="62611000" progId="Equation.3">
                  <p:embed/>
                  <p:pic>
                    <p:nvPicPr>
                      <p:cNvPr id="16388" name="Object 4">
                        <a:extLst>
                          <a:ext uri="{FF2B5EF4-FFF2-40B4-BE49-F238E27FC236}">
                            <a16:creationId xmlns="" xmlns:a16="http://schemas.microsoft.com/office/drawing/2014/main" id="{DE12BB5A-8B34-E55F-1986-5E7AC71872F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36971" y="1165386"/>
                        <a:ext cx="5998418" cy="4422614"/>
                      </a:xfrm>
                      <a:prstGeom prst="rect">
                        <a:avLst/>
                      </a:prstGeom>
                      <a:solidFill>
                        <a:schemeClr val="bg1"/>
                      </a:solidFill>
                      <a:ln w="28575">
                        <a:solidFill>
                          <a:srgbClr val="941651"/>
                        </a:solidFill>
                        <a:miter lim="800000"/>
                        <a:headEnd/>
                        <a:tailEnd/>
                      </a:ln>
                    </p:spPr>
                  </p:pic>
                </p:oleObj>
              </mc:Fallback>
            </mc:AlternateContent>
          </a:graphicData>
        </a:graphic>
      </p:graphicFrame>
      <p:sp>
        <p:nvSpPr>
          <p:cNvPr id="16390" name="TextBox 30">
            <a:extLst>
              <a:ext uri="{FF2B5EF4-FFF2-40B4-BE49-F238E27FC236}">
                <a16:creationId xmlns="" xmlns:a16="http://schemas.microsoft.com/office/drawing/2014/main" id="{20887011-D0BF-D006-95C4-47DE00113F3F}"/>
              </a:ext>
            </a:extLst>
          </p:cNvPr>
          <p:cNvSpPr txBox="1">
            <a:spLocks noChangeArrowheads="1"/>
          </p:cNvSpPr>
          <p:nvPr/>
        </p:nvSpPr>
        <p:spPr bwMode="auto">
          <a:xfrm>
            <a:off x="82955" y="106243"/>
            <a:ext cx="12026089" cy="954107"/>
          </a:xfrm>
          <a:prstGeom prst="rect">
            <a:avLst/>
          </a:prstGeom>
          <a:solidFill>
            <a:schemeClr val="bg1"/>
          </a:solidFill>
          <a:ln w="38100">
            <a:solidFill>
              <a:srgbClr val="941651"/>
            </a:solidFill>
            <a:miter lim="800000"/>
            <a:headEnd/>
            <a:tailEnd/>
          </a:ln>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800" dirty="0">
                <a:solidFill>
                  <a:srgbClr val="002060"/>
                </a:solidFill>
                <a:latin typeface="Times New Roman" panose="02020603050405020304" pitchFamily="18" charset="0"/>
                <a:cs typeface="Times New Roman" panose="02020603050405020304" pitchFamily="18" charset="0"/>
              </a:rPr>
              <a:t>If ‘L’ is the angular momentum of electron, the magnetic moment of the electron </a:t>
            </a:r>
          </a:p>
          <a:p>
            <a:pPr algn="ctr" eaLnBrk="1" hangingPunct="1">
              <a:spcBef>
                <a:spcPct val="0"/>
              </a:spcBef>
              <a:buFontTx/>
              <a:buNone/>
            </a:pPr>
            <a:r>
              <a:rPr lang="en-US" altLang="en-US" sz="2800" dirty="0">
                <a:solidFill>
                  <a:srgbClr val="002060"/>
                </a:solidFill>
                <a:latin typeface="Times New Roman" panose="02020603050405020304" pitchFamily="18" charset="0"/>
                <a:cs typeface="Times New Roman" panose="02020603050405020304" pitchFamily="18" charset="0"/>
              </a:rPr>
              <a:t>µ</a:t>
            </a:r>
            <a:r>
              <a:rPr lang="en-US" altLang="en-US" sz="2800" baseline="-25000" dirty="0" err="1">
                <a:solidFill>
                  <a:srgbClr val="002060"/>
                </a:solidFill>
                <a:latin typeface="Times New Roman" panose="02020603050405020304" pitchFamily="18" charset="0"/>
                <a:cs typeface="Times New Roman" panose="02020603050405020304" pitchFamily="18" charset="0"/>
              </a:rPr>
              <a:t>lm</a:t>
            </a:r>
            <a:r>
              <a:rPr lang="en-US" altLang="en-US" sz="2800" dirty="0">
                <a:solidFill>
                  <a:srgbClr val="002060"/>
                </a:solidFill>
                <a:latin typeface="Times New Roman" panose="02020603050405020304" pitchFamily="18" charset="0"/>
                <a:cs typeface="Times New Roman" panose="02020603050405020304" pitchFamily="18" charset="0"/>
              </a:rPr>
              <a:t> = (area of the loop) x (current in the loop)</a:t>
            </a:r>
          </a:p>
        </p:txBody>
      </p:sp>
      <p:sp>
        <p:nvSpPr>
          <p:cNvPr id="3" name="TextBox 2">
            <a:extLst>
              <a:ext uri="{FF2B5EF4-FFF2-40B4-BE49-F238E27FC236}">
                <a16:creationId xmlns="" xmlns:a16="http://schemas.microsoft.com/office/drawing/2014/main" id="{FA62D0D6-3BDA-B0F1-F659-BF3B227F75BB}"/>
              </a:ext>
            </a:extLst>
          </p:cNvPr>
          <p:cNvSpPr txBox="1"/>
          <p:nvPr/>
        </p:nvSpPr>
        <p:spPr>
          <a:xfrm>
            <a:off x="115111" y="5718436"/>
            <a:ext cx="12026089" cy="954107"/>
          </a:xfrm>
          <a:prstGeom prst="rect">
            <a:avLst/>
          </a:prstGeom>
          <a:solidFill>
            <a:schemeClr val="bg1"/>
          </a:solidFill>
          <a:ln w="28575">
            <a:solidFill>
              <a:srgbClr val="941651"/>
            </a:solidFill>
          </a:ln>
        </p:spPr>
        <p:txBody>
          <a:bodyPr wrap="square">
            <a:spAutoFit/>
          </a:bodyPr>
          <a:lstStyle/>
          <a:p>
            <a:r>
              <a:rPr lang="en-IN" sz="2800" b="0" i="0" u="none" strike="noStrike" dirty="0">
                <a:solidFill>
                  <a:srgbClr val="000000"/>
                </a:solidFill>
                <a:effectLst/>
                <a:latin typeface="Times New Roman" panose="02020603050405020304" pitchFamily="18" charset="0"/>
                <a:cs typeface="Times New Roman" panose="02020603050405020304" pitchFamily="18" charset="0"/>
              </a:rPr>
              <a:t>Bohr magneton is the natural unit used to express the magnetic moment </a:t>
            </a:r>
          </a:p>
          <a:p>
            <a:r>
              <a:rPr lang="en-IN" sz="2800" b="0" i="0" u="none" strike="noStrike" dirty="0">
                <a:solidFill>
                  <a:srgbClr val="000000"/>
                </a:solidFill>
                <a:effectLst/>
                <a:latin typeface="Times New Roman" panose="02020603050405020304" pitchFamily="18" charset="0"/>
                <a:cs typeface="Times New Roman" panose="02020603050405020304" pitchFamily="18" charset="0"/>
              </a:rPr>
              <a:t>of electrons in atoms</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55332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45FD2130-8928-32B2-029F-0A41DE04FA5B}"/>
              </a:ext>
            </a:extLst>
          </p:cNvPr>
          <p:cNvSpPr txBox="1"/>
          <p:nvPr/>
        </p:nvSpPr>
        <p:spPr>
          <a:xfrm>
            <a:off x="150469" y="666686"/>
            <a:ext cx="11852059" cy="6124754"/>
          </a:xfrm>
          <a:prstGeom prst="rect">
            <a:avLst/>
          </a:prstGeom>
          <a:solidFill>
            <a:schemeClr val="bg1"/>
          </a:solidFill>
          <a:ln w="28575">
            <a:solidFill>
              <a:srgbClr val="941651"/>
            </a:solidFill>
          </a:ln>
        </p:spPr>
        <p:txBody>
          <a:bodyPr wrap="square">
            <a:spAutoFit/>
          </a:bodyPr>
          <a:lstStyle/>
          <a:p>
            <a:pPr algn="l"/>
            <a:r>
              <a:rPr lang="en-IN" sz="2800" b="0" i="0" u="none" strike="noStrike" dirty="0">
                <a:solidFill>
                  <a:srgbClr val="002060"/>
                </a:solidFill>
                <a:effectLst/>
                <a:latin typeface="Times New Roman" panose="02020603050405020304" pitchFamily="18" charset="0"/>
                <a:cs typeface="Times New Roman" panose="02020603050405020304" pitchFamily="18" charset="0"/>
              </a:rPr>
              <a:t>Magnetic materials are broadly classified based on their response to external magnetic fields:</a:t>
            </a:r>
          </a:p>
          <a:p>
            <a:pPr marL="514350" indent="-514350" algn="l">
              <a:buFont typeface="+mj-lt"/>
              <a:buAutoNum type="arabicPeriod"/>
            </a:pPr>
            <a:r>
              <a:rPr lang="en-IN" sz="2800" b="1" i="0" u="none" strike="noStrike" dirty="0">
                <a:solidFill>
                  <a:srgbClr val="002060"/>
                </a:solidFill>
                <a:effectLst/>
                <a:latin typeface="Times New Roman" panose="02020603050405020304" pitchFamily="18" charset="0"/>
                <a:cs typeface="Times New Roman" panose="02020603050405020304" pitchFamily="18" charset="0"/>
              </a:rPr>
              <a:t>Diamagnetic materials</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 – Exhibit very weak, negative susceptibility and are repelled by a magnetic field (e.g., copper, bismuth).</a:t>
            </a:r>
          </a:p>
          <a:p>
            <a:pPr marL="514350" indent="-514350" algn="l">
              <a:buFont typeface="+mj-lt"/>
              <a:buAutoNum type="arabicPeriod"/>
            </a:pPr>
            <a:r>
              <a:rPr lang="en-IN" sz="2800" b="1" i="0" u="none" strike="noStrike" dirty="0">
                <a:solidFill>
                  <a:srgbClr val="002060"/>
                </a:solidFill>
                <a:effectLst/>
                <a:latin typeface="Times New Roman" panose="02020603050405020304" pitchFamily="18" charset="0"/>
                <a:cs typeface="Times New Roman" panose="02020603050405020304" pitchFamily="18" charset="0"/>
              </a:rPr>
              <a:t>Paramagnetic materials</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 – Have small, positive susceptibility and are weakly attracted to a magnetic field due to unpaired electrons (e.g., </a:t>
            </a:r>
            <a:r>
              <a:rPr lang="en-IN" sz="2800" b="0" i="0" u="none" strike="noStrike" dirty="0" err="1">
                <a:solidFill>
                  <a:srgbClr val="002060"/>
                </a:solidFill>
                <a:effectLst/>
                <a:latin typeface="Times New Roman" panose="02020603050405020304" pitchFamily="18" charset="0"/>
                <a:cs typeface="Times New Roman" panose="02020603050405020304" pitchFamily="18" charset="0"/>
              </a:rPr>
              <a:t>aluminum</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 platinum).</a:t>
            </a:r>
          </a:p>
          <a:p>
            <a:pPr marL="514350" indent="-514350" algn="l">
              <a:buFont typeface="+mj-lt"/>
              <a:buAutoNum type="arabicPeriod"/>
            </a:pPr>
            <a:r>
              <a:rPr lang="en-IN" sz="2800" b="1" i="0" u="none" strike="noStrike" dirty="0">
                <a:solidFill>
                  <a:srgbClr val="002060"/>
                </a:solidFill>
                <a:effectLst/>
                <a:latin typeface="Times New Roman" panose="02020603050405020304" pitchFamily="18" charset="0"/>
                <a:cs typeface="Times New Roman" panose="02020603050405020304" pitchFamily="18" charset="0"/>
              </a:rPr>
              <a:t>Ferromagnetic materials</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 – Show strong magnetization even after removal of the external field because of parallel alignment of magnetic domains (e.g., iron, cobalt, nickel).</a:t>
            </a:r>
          </a:p>
          <a:p>
            <a:pPr marL="514350" indent="-514350" algn="l">
              <a:buFont typeface="+mj-lt"/>
              <a:buAutoNum type="arabicPeriod"/>
            </a:pPr>
            <a:r>
              <a:rPr lang="en-IN" sz="2800" b="1" i="0" u="none" strike="noStrike" dirty="0">
                <a:solidFill>
                  <a:srgbClr val="002060"/>
                </a:solidFill>
                <a:effectLst/>
                <a:latin typeface="Times New Roman" panose="02020603050405020304" pitchFamily="18" charset="0"/>
                <a:cs typeface="Times New Roman" panose="02020603050405020304" pitchFamily="18" charset="0"/>
              </a:rPr>
              <a:t>Antiferromagnetic materials</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 – Exhibit ordered but opposite alignment of magnetic moments, resulting in no net magnetization (e.g., MnO).</a:t>
            </a:r>
          </a:p>
          <a:p>
            <a:pPr marL="514350" indent="-514350" algn="l">
              <a:buFont typeface="+mj-lt"/>
              <a:buAutoNum type="arabicPeriod"/>
            </a:pPr>
            <a:r>
              <a:rPr lang="en-IN" sz="2800" b="1" i="0" u="none" strike="noStrike" dirty="0">
                <a:solidFill>
                  <a:srgbClr val="002060"/>
                </a:solidFill>
                <a:effectLst/>
                <a:latin typeface="Times New Roman" panose="02020603050405020304" pitchFamily="18" charset="0"/>
                <a:cs typeface="Times New Roman" panose="02020603050405020304" pitchFamily="18" charset="0"/>
              </a:rPr>
              <a:t>Ferrimagnetic materials</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 – Similar to antiferromagnetic, but unequal opposing moments produce a net magnetization (e.g., magnetite </a:t>
            </a:r>
            <a:r>
              <a:rPr lang="en-IN" sz="2800" b="0" i="0" u="none" strike="noStrike" dirty="0" err="1">
                <a:solidFill>
                  <a:srgbClr val="002060"/>
                </a:solidFill>
                <a:effectLst/>
                <a:latin typeface="Times New Roman" panose="02020603050405020304" pitchFamily="18" charset="0"/>
                <a:cs typeface="Times New Roman" panose="02020603050405020304" pitchFamily="18" charset="0"/>
              </a:rPr>
              <a:t>Fe₃O</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₄).</a:t>
            </a:r>
          </a:p>
        </p:txBody>
      </p:sp>
      <p:sp>
        <p:nvSpPr>
          <p:cNvPr id="2" name="TextBox 1">
            <a:extLst>
              <a:ext uri="{FF2B5EF4-FFF2-40B4-BE49-F238E27FC236}">
                <a16:creationId xmlns="" xmlns:a16="http://schemas.microsoft.com/office/drawing/2014/main" id="{3601383D-3EBE-644B-15F0-18E478C319FD}"/>
              </a:ext>
            </a:extLst>
          </p:cNvPr>
          <p:cNvSpPr txBox="1"/>
          <p:nvPr/>
        </p:nvSpPr>
        <p:spPr>
          <a:xfrm>
            <a:off x="150470" y="79260"/>
            <a:ext cx="11852059" cy="523220"/>
          </a:xfrm>
          <a:prstGeom prst="rect">
            <a:avLst/>
          </a:prstGeom>
          <a:solidFill>
            <a:schemeClr val="bg1"/>
          </a:solidFill>
          <a:ln w="28575">
            <a:solidFill>
              <a:srgbClr val="941651"/>
            </a:solidFill>
          </a:ln>
        </p:spPr>
        <p:txBody>
          <a:bodyPr wrap="square">
            <a:spAutoFit/>
          </a:bodyPr>
          <a:lstStyle/>
          <a:p>
            <a:pPr algn="l"/>
            <a:r>
              <a:rPr lang="en-IN" sz="2800" b="1" i="0" u="none" strike="noStrike" dirty="0">
                <a:solidFill>
                  <a:srgbClr val="941651"/>
                </a:solidFill>
                <a:effectLst/>
                <a:latin typeface="Times New Roman" panose="02020603050405020304" pitchFamily="18" charset="0"/>
                <a:cs typeface="Times New Roman" panose="02020603050405020304" pitchFamily="18" charset="0"/>
              </a:rPr>
              <a:t>Classification of Magnetic Materials:</a:t>
            </a:r>
          </a:p>
        </p:txBody>
      </p:sp>
    </p:spTree>
    <p:extLst>
      <p:ext uri="{BB962C8B-B14F-4D97-AF65-F5344CB8AC3E}">
        <p14:creationId xmlns:p14="http://schemas.microsoft.com/office/powerpoint/2010/main" val="5410766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 xmlns:a16="http://schemas.microsoft.com/office/drawing/2014/main" id="{D44D35F3-09E4-45B8-FC5B-3FC3D2B86F78}"/>
              </a:ext>
            </a:extLst>
          </p:cNvPr>
          <p:cNvSpPr txBox="1"/>
          <p:nvPr/>
        </p:nvSpPr>
        <p:spPr>
          <a:xfrm>
            <a:off x="155616" y="101600"/>
            <a:ext cx="11918868" cy="1255728"/>
          </a:xfrm>
          <a:prstGeom prst="rect">
            <a:avLst/>
          </a:prstGeom>
          <a:solidFill>
            <a:schemeClr val="bg1"/>
          </a:solidFill>
          <a:ln w="28575">
            <a:solidFill>
              <a:srgbClr val="941651"/>
            </a:solidFill>
          </a:ln>
        </p:spPr>
        <p:txBody>
          <a:bodyPr wrap="square">
            <a:spAutoFit/>
          </a:bodyPr>
          <a:lstStyle/>
          <a:p>
            <a:pPr eaLnBrk="1" hangingPunct="1">
              <a:lnSpc>
                <a:spcPct val="90000"/>
              </a:lnSpc>
              <a:defRPr/>
            </a:pPr>
            <a:r>
              <a:rPr lang="en-US" altLang="en-US" sz="2800" b="1" dirty="0">
                <a:solidFill>
                  <a:srgbClr val="941651"/>
                </a:solidFill>
                <a:latin typeface="Times New Roman" panose="02020603050405020304" pitchFamily="18" charset="0"/>
                <a:cs typeface="Times New Roman" panose="02020603050405020304" pitchFamily="18" charset="0"/>
              </a:rPr>
              <a:t>Hysteresis: Ferromagnetic Material M-H (or) B-H Curve   </a:t>
            </a:r>
          </a:p>
          <a:p>
            <a:pPr algn="just" eaLnBrk="1" hangingPunct="1">
              <a:lnSpc>
                <a:spcPct val="90000"/>
              </a:lnSpc>
              <a:defRPr/>
            </a:pPr>
            <a:r>
              <a:rPr lang="en-US" altLang="en-US" sz="2800" dirty="0">
                <a:solidFill>
                  <a:srgbClr val="002060"/>
                </a:solidFill>
                <a:latin typeface="Times New Roman" panose="02020603050405020304" pitchFamily="18" charset="0"/>
                <a:cs typeface="Times New Roman" panose="02020603050405020304" pitchFamily="18" charset="0"/>
              </a:rPr>
              <a:t>Hysteresis is the characteristic curve, and a relation between magnetization and the strength of magnetic field about ferro magnetic material. </a:t>
            </a:r>
            <a:endParaRPr lang="en-IN" altLang="en-US" sz="2800" dirty="0">
              <a:solidFill>
                <a:srgbClr val="002060"/>
              </a:solidFill>
              <a:latin typeface="Times New Roman" panose="02020603050405020304" pitchFamily="18" charset="0"/>
              <a:cs typeface="Times New Roman" panose="02020603050405020304" pitchFamily="18" charset="0"/>
            </a:endParaRPr>
          </a:p>
        </p:txBody>
      </p:sp>
      <p:pic>
        <p:nvPicPr>
          <p:cNvPr id="18434" name="Picture 33" descr="Diagram&#10;&#10;Description automatically generated">
            <a:extLst>
              <a:ext uri="{FF2B5EF4-FFF2-40B4-BE49-F238E27FC236}">
                <a16:creationId xmlns="" xmlns:a16="http://schemas.microsoft.com/office/drawing/2014/main" id="{FB9E50FC-03EA-B8E6-8574-1488CBF99EF1}"/>
              </a:ext>
            </a:extLst>
          </p:cNvPr>
          <p:cNvPicPr>
            <a:picLocks noChangeAspect="1" noChangeArrowheads="1"/>
          </p:cNvPicPr>
          <p:nvPr/>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68316" y="1480460"/>
            <a:ext cx="5191084" cy="5267950"/>
          </a:xfrm>
          <a:prstGeom prst="rect">
            <a:avLst/>
          </a:prstGeom>
          <a:noFill/>
          <a:ln w="38100">
            <a:solidFill>
              <a:srgbClr val="941651"/>
            </a:solidFill>
            <a:miter lim="800000"/>
            <a:headEnd/>
            <a:tailEnd/>
          </a:ln>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 xmlns:a16="http://schemas.microsoft.com/office/drawing/2014/main" id="{A8A5232F-DB33-FF97-266D-16E69F763944}"/>
              </a:ext>
            </a:extLst>
          </p:cNvPr>
          <p:cNvSpPr txBox="1"/>
          <p:nvPr/>
        </p:nvSpPr>
        <p:spPr>
          <a:xfrm>
            <a:off x="5461000" y="1460031"/>
            <a:ext cx="6613484" cy="5262979"/>
          </a:xfrm>
          <a:prstGeom prst="rect">
            <a:avLst/>
          </a:prstGeom>
          <a:solidFill>
            <a:schemeClr val="bg1"/>
          </a:solidFill>
          <a:ln w="38100">
            <a:solidFill>
              <a:srgbClr val="941651"/>
            </a:solidFill>
          </a:ln>
        </p:spPr>
        <p:txBody>
          <a:bodyPr wrap="square">
            <a:spAutoFit/>
          </a:bodyPr>
          <a:lstStyle/>
          <a:p>
            <a:pPr algn="l"/>
            <a:r>
              <a:rPr lang="en-IN" sz="2800" b="1" i="0" u="none" strike="noStrike" dirty="0">
                <a:solidFill>
                  <a:srgbClr val="002060"/>
                </a:solidFill>
                <a:effectLst/>
                <a:latin typeface="Times New Roman" panose="02020603050405020304" pitchFamily="18" charset="0"/>
                <a:cs typeface="Times New Roman" panose="02020603050405020304" pitchFamily="18" charset="0"/>
              </a:rPr>
              <a:t>Definition</a:t>
            </a:r>
          </a:p>
          <a:p>
            <a:pPr marL="342900" indent="-342900" algn="l">
              <a:buFont typeface="Arial" panose="020B0604020202020204" pitchFamily="34" charset="0"/>
              <a:buChar char="•"/>
            </a:pPr>
            <a:r>
              <a:rPr lang="en-IN" sz="2800" b="0" u="none" strike="noStrike" dirty="0">
                <a:solidFill>
                  <a:srgbClr val="002060"/>
                </a:solidFill>
                <a:effectLst/>
                <a:latin typeface="Times New Roman" panose="02020603050405020304" pitchFamily="18" charset="0"/>
                <a:cs typeface="Times New Roman" panose="02020603050405020304" pitchFamily="18" charset="0"/>
              </a:rPr>
              <a:t>Hysteresis is the lagging of magnetization M (or magnetic flux density B) behind the applied magnetic field H.</a:t>
            </a:r>
            <a:endParaRPr lang="en-IN" sz="2800" dirty="0">
              <a:solidFill>
                <a:srgbClr val="002060"/>
              </a:solidFill>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IN" sz="2800" b="0" u="none" strike="noStrike" dirty="0">
                <a:solidFill>
                  <a:srgbClr val="002060"/>
                </a:solidFill>
                <a:effectLst/>
                <a:latin typeface="Times New Roman" panose="02020603050405020304" pitchFamily="18" charset="0"/>
                <a:cs typeface="Times New Roman" panose="02020603050405020304" pitchFamily="18" charset="0"/>
              </a:rPr>
              <a:t>In other words, when a magnetic material is magnetized by an external magnetic field and then the field is reduced or reversed, the material does not return to its original unmagnetized state immediately. Instead, it retains some magnetization — this delayed response is called </a:t>
            </a:r>
            <a:r>
              <a:rPr lang="en-IN" sz="2800" b="1" u="none" strike="noStrike" dirty="0">
                <a:solidFill>
                  <a:srgbClr val="002060"/>
                </a:solidFill>
                <a:effectLst/>
                <a:latin typeface="Times New Roman" panose="02020603050405020304" pitchFamily="18" charset="0"/>
                <a:cs typeface="Times New Roman" panose="02020603050405020304" pitchFamily="18" charset="0"/>
              </a:rPr>
              <a:t>hysteresis</a:t>
            </a:r>
            <a:r>
              <a:rPr lang="en-IN" sz="2800" b="0" u="none" strike="noStrike" dirty="0">
                <a:solidFill>
                  <a:srgbClr val="002060"/>
                </a:solidFill>
                <a:effectLst/>
                <a:latin typeface="Times New Roman" panose="02020603050405020304" pitchFamily="18" charset="0"/>
                <a:cs typeface="Times New Roman" panose="02020603050405020304" pitchFamily="18" charset="0"/>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43FC7D12-1E6A-DF18-681F-7DD3B271E523}"/>
              </a:ext>
            </a:extLst>
          </p:cNvPr>
          <p:cNvSpPr txBox="1"/>
          <p:nvPr/>
        </p:nvSpPr>
        <p:spPr>
          <a:xfrm>
            <a:off x="127000" y="366623"/>
            <a:ext cx="11938000" cy="6124754"/>
          </a:xfrm>
          <a:prstGeom prst="rect">
            <a:avLst/>
          </a:prstGeom>
          <a:solidFill>
            <a:schemeClr val="bg1"/>
          </a:solidFill>
          <a:ln w="38100">
            <a:solidFill>
              <a:srgbClr val="941651"/>
            </a:solidFill>
          </a:ln>
        </p:spPr>
        <p:txBody>
          <a:bodyPr wrap="square">
            <a:spAutoFit/>
          </a:bodyPr>
          <a:lstStyle/>
          <a:p>
            <a:pPr>
              <a:buNone/>
            </a:pPr>
            <a:r>
              <a:rPr lang="en-IN" sz="2800" b="1" i="0" u="none" strike="noStrike" dirty="0">
                <a:solidFill>
                  <a:srgbClr val="941651"/>
                </a:solidFill>
                <a:effectLst/>
                <a:latin typeface="Times New Roman" panose="02020603050405020304" pitchFamily="18" charset="0"/>
                <a:cs typeface="Times New Roman" panose="02020603050405020304" pitchFamily="18" charset="0"/>
              </a:rPr>
              <a:t>Key features of the loop:</a:t>
            </a:r>
          </a:p>
          <a:p>
            <a:pPr marL="457200" indent="-457200" algn="l">
              <a:buFont typeface="Arial" panose="020B0604020202020204" pitchFamily="34" charset="0"/>
              <a:buChar char="•"/>
            </a:pPr>
            <a:r>
              <a:rPr lang="en-IN" sz="2600" b="1" i="0" u="none" strike="noStrike" dirty="0">
                <a:solidFill>
                  <a:srgbClr val="002060"/>
                </a:solidFill>
                <a:effectLst/>
                <a:latin typeface="Times New Roman" panose="02020603050405020304" pitchFamily="18" charset="0"/>
                <a:cs typeface="Times New Roman" panose="02020603050405020304" pitchFamily="18" charset="0"/>
              </a:rPr>
              <a:t>Initial Magnetization Curve</a:t>
            </a:r>
            <a:r>
              <a:rPr lang="en-IN" sz="2600" b="0" i="0" u="none" strike="noStrike" dirty="0">
                <a:solidFill>
                  <a:srgbClr val="002060"/>
                </a:solidFill>
                <a:effectLst/>
                <a:latin typeface="Times New Roman" panose="02020603050405020304" pitchFamily="18" charset="0"/>
                <a:cs typeface="Times New Roman" panose="02020603050405020304" pitchFamily="18" charset="0"/>
              </a:rPr>
              <a:t>:</a:t>
            </a:r>
            <a:br>
              <a:rPr lang="en-IN" sz="2600" b="0" i="0" u="none" strike="noStrike" dirty="0">
                <a:solidFill>
                  <a:srgbClr val="002060"/>
                </a:solidFill>
                <a:effectLst/>
                <a:latin typeface="Times New Roman" panose="02020603050405020304" pitchFamily="18" charset="0"/>
                <a:cs typeface="Times New Roman" panose="02020603050405020304" pitchFamily="18" charset="0"/>
              </a:rPr>
            </a:br>
            <a:r>
              <a:rPr lang="en-IN" sz="2600" b="0" i="0" u="none" strike="noStrike" dirty="0">
                <a:solidFill>
                  <a:srgbClr val="002060"/>
                </a:solidFill>
                <a:effectLst/>
                <a:latin typeface="Times New Roman" panose="02020603050405020304" pitchFamily="18" charset="0"/>
                <a:cs typeface="Times New Roman" panose="02020603050405020304" pitchFamily="18" charset="0"/>
              </a:rPr>
              <a:t>When H increases from zero, B (or M) rises and eventually saturates (all magnetic domains aligned).</a:t>
            </a:r>
          </a:p>
          <a:p>
            <a:pPr marL="457200" indent="-457200" algn="l">
              <a:buFont typeface="Arial" panose="020B0604020202020204" pitchFamily="34" charset="0"/>
              <a:buChar char="•"/>
            </a:pPr>
            <a:r>
              <a:rPr lang="en-IN" sz="2600" b="1" i="0" u="none" strike="noStrike" dirty="0">
                <a:solidFill>
                  <a:srgbClr val="002060"/>
                </a:solidFill>
                <a:effectLst/>
                <a:latin typeface="Times New Roman" panose="02020603050405020304" pitchFamily="18" charset="0"/>
                <a:cs typeface="Times New Roman" panose="02020603050405020304" pitchFamily="18" charset="0"/>
              </a:rPr>
              <a:t>Remanence (Residual Magnetism, Br​)</a:t>
            </a:r>
            <a:r>
              <a:rPr lang="en-IN" sz="2600" b="0" i="0" u="none" strike="noStrike" dirty="0">
                <a:solidFill>
                  <a:srgbClr val="002060"/>
                </a:solidFill>
                <a:effectLst/>
                <a:latin typeface="Times New Roman" panose="02020603050405020304" pitchFamily="18" charset="0"/>
                <a:cs typeface="Times New Roman" panose="02020603050405020304" pitchFamily="18" charset="0"/>
              </a:rPr>
              <a:t>:</a:t>
            </a:r>
            <a:br>
              <a:rPr lang="en-IN" sz="2600" b="0" i="0" u="none" strike="noStrike" dirty="0">
                <a:solidFill>
                  <a:srgbClr val="002060"/>
                </a:solidFill>
                <a:effectLst/>
                <a:latin typeface="Times New Roman" panose="02020603050405020304" pitchFamily="18" charset="0"/>
                <a:cs typeface="Times New Roman" panose="02020603050405020304" pitchFamily="18" charset="0"/>
              </a:rPr>
            </a:br>
            <a:r>
              <a:rPr lang="en-IN" sz="2600" b="0" i="0" u="none" strike="noStrike" dirty="0">
                <a:solidFill>
                  <a:srgbClr val="002060"/>
                </a:solidFill>
                <a:effectLst/>
                <a:latin typeface="Times New Roman" panose="02020603050405020304" pitchFamily="18" charset="0"/>
                <a:cs typeface="Times New Roman" panose="02020603050405020304" pitchFamily="18" charset="0"/>
              </a:rPr>
              <a:t>When H=0 after saturation, B does not fall to zero. The material retains some magnetization — this is called remanence.</a:t>
            </a:r>
          </a:p>
          <a:p>
            <a:pPr marL="457200" indent="-457200" algn="l">
              <a:buFont typeface="Arial" panose="020B0604020202020204" pitchFamily="34" charset="0"/>
              <a:buChar char="•"/>
            </a:pPr>
            <a:r>
              <a:rPr lang="en-IN" sz="2600" b="1" i="0" u="none" strike="noStrike" dirty="0">
                <a:solidFill>
                  <a:srgbClr val="002060"/>
                </a:solidFill>
                <a:effectLst/>
                <a:latin typeface="Times New Roman" panose="02020603050405020304" pitchFamily="18" charset="0"/>
                <a:cs typeface="Times New Roman" panose="02020603050405020304" pitchFamily="18" charset="0"/>
              </a:rPr>
              <a:t>Coercivity (</a:t>
            </a:r>
            <a:r>
              <a:rPr lang="en-IN" sz="2600" b="1" i="0" u="none" strike="noStrike" dirty="0" err="1">
                <a:solidFill>
                  <a:srgbClr val="002060"/>
                </a:solidFill>
                <a:effectLst/>
                <a:latin typeface="Times New Roman" panose="02020603050405020304" pitchFamily="18" charset="0"/>
                <a:cs typeface="Times New Roman" panose="02020603050405020304" pitchFamily="18" charset="0"/>
              </a:rPr>
              <a:t>Hc</a:t>
            </a:r>
            <a:r>
              <a:rPr lang="en-IN" sz="2600" b="1" i="0" u="none" strike="noStrike" dirty="0">
                <a:solidFill>
                  <a:srgbClr val="002060"/>
                </a:solidFill>
                <a:effectLst/>
                <a:latin typeface="Times New Roman" panose="02020603050405020304" pitchFamily="18" charset="0"/>
                <a:cs typeface="Times New Roman" panose="02020603050405020304" pitchFamily="18" charset="0"/>
              </a:rPr>
              <a:t>​)</a:t>
            </a:r>
            <a:r>
              <a:rPr lang="en-IN" sz="2600" b="0" i="0" u="none" strike="noStrike" dirty="0">
                <a:solidFill>
                  <a:srgbClr val="002060"/>
                </a:solidFill>
                <a:effectLst/>
                <a:latin typeface="Times New Roman" panose="02020603050405020304" pitchFamily="18" charset="0"/>
                <a:cs typeface="Times New Roman" panose="02020603050405020304" pitchFamily="18" charset="0"/>
              </a:rPr>
              <a:t>:</a:t>
            </a:r>
            <a:br>
              <a:rPr lang="en-IN" sz="2600" b="0" i="0" u="none" strike="noStrike" dirty="0">
                <a:solidFill>
                  <a:srgbClr val="002060"/>
                </a:solidFill>
                <a:effectLst/>
                <a:latin typeface="Times New Roman" panose="02020603050405020304" pitchFamily="18" charset="0"/>
                <a:cs typeface="Times New Roman" panose="02020603050405020304" pitchFamily="18" charset="0"/>
              </a:rPr>
            </a:br>
            <a:r>
              <a:rPr lang="en-IN" sz="2600" b="0" i="0" u="none" strike="noStrike" dirty="0">
                <a:solidFill>
                  <a:srgbClr val="002060"/>
                </a:solidFill>
                <a:effectLst/>
                <a:latin typeface="Times New Roman" panose="02020603050405020304" pitchFamily="18" charset="0"/>
                <a:cs typeface="Times New Roman" panose="02020603050405020304" pitchFamily="18" charset="0"/>
              </a:rPr>
              <a:t>The negative field required to bring B (or M) back to zero is called coercive field.</a:t>
            </a:r>
          </a:p>
          <a:p>
            <a:pPr marL="457200" indent="-457200" algn="l">
              <a:buFont typeface="Arial" panose="020B0604020202020204" pitchFamily="34" charset="0"/>
              <a:buChar char="•"/>
            </a:pPr>
            <a:r>
              <a:rPr lang="en-IN" sz="2600" b="1" i="0" u="none" strike="noStrike" dirty="0">
                <a:solidFill>
                  <a:srgbClr val="002060"/>
                </a:solidFill>
                <a:effectLst/>
                <a:latin typeface="Times New Roman" panose="02020603050405020304" pitchFamily="18" charset="0"/>
                <a:cs typeface="Times New Roman" panose="02020603050405020304" pitchFamily="18" charset="0"/>
              </a:rPr>
              <a:t>Saturation</a:t>
            </a:r>
            <a:r>
              <a:rPr lang="en-IN" sz="2600" b="0" i="0" u="none" strike="noStrike" dirty="0">
                <a:solidFill>
                  <a:srgbClr val="002060"/>
                </a:solidFill>
                <a:effectLst/>
                <a:latin typeface="Times New Roman" panose="02020603050405020304" pitchFamily="18" charset="0"/>
                <a:cs typeface="Times New Roman" panose="02020603050405020304" pitchFamily="18" charset="0"/>
              </a:rPr>
              <a:t>:</a:t>
            </a:r>
            <a:br>
              <a:rPr lang="en-IN" sz="2600" b="0" i="0" u="none" strike="noStrike" dirty="0">
                <a:solidFill>
                  <a:srgbClr val="002060"/>
                </a:solidFill>
                <a:effectLst/>
                <a:latin typeface="Times New Roman" panose="02020603050405020304" pitchFamily="18" charset="0"/>
                <a:cs typeface="Times New Roman" panose="02020603050405020304" pitchFamily="18" charset="0"/>
              </a:rPr>
            </a:br>
            <a:r>
              <a:rPr lang="en-IN" sz="2600" b="0" i="0" u="none" strike="noStrike" dirty="0">
                <a:solidFill>
                  <a:srgbClr val="002060"/>
                </a:solidFill>
                <a:effectLst/>
                <a:latin typeface="Times New Roman" panose="02020603050405020304" pitchFamily="18" charset="0"/>
                <a:cs typeface="Times New Roman" panose="02020603050405020304" pitchFamily="18" charset="0"/>
              </a:rPr>
              <a:t>At very high H, further increase in H does not increase B, because all domains are aligned.</a:t>
            </a:r>
          </a:p>
          <a:p>
            <a:pPr marL="457200" indent="-457200" algn="l">
              <a:buFont typeface="Arial" panose="020B0604020202020204" pitchFamily="34" charset="0"/>
              <a:buChar char="•"/>
            </a:pPr>
            <a:r>
              <a:rPr lang="en-IN" sz="2600" b="1" i="0" u="none" strike="noStrike" dirty="0">
                <a:solidFill>
                  <a:srgbClr val="002060"/>
                </a:solidFill>
                <a:effectLst/>
                <a:latin typeface="Times New Roman" panose="02020603050405020304" pitchFamily="18" charset="0"/>
                <a:cs typeface="Times New Roman" panose="02020603050405020304" pitchFamily="18" charset="0"/>
              </a:rPr>
              <a:t>Energy Loss</a:t>
            </a:r>
            <a:r>
              <a:rPr lang="en-IN" sz="2600" b="0" i="0" u="none" strike="noStrike" dirty="0">
                <a:solidFill>
                  <a:srgbClr val="002060"/>
                </a:solidFill>
                <a:effectLst/>
                <a:latin typeface="Times New Roman" panose="02020603050405020304" pitchFamily="18" charset="0"/>
                <a:cs typeface="Times New Roman" panose="02020603050405020304" pitchFamily="18" charset="0"/>
              </a:rPr>
              <a:t>:</a:t>
            </a:r>
            <a:br>
              <a:rPr lang="en-IN" sz="2600" b="0" i="0" u="none" strike="noStrike" dirty="0">
                <a:solidFill>
                  <a:srgbClr val="002060"/>
                </a:solidFill>
                <a:effectLst/>
                <a:latin typeface="Times New Roman" panose="02020603050405020304" pitchFamily="18" charset="0"/>
                <a:cs typeface="Times New Roman" panose="02020603050405020304" pitchFamily="18" charset="0"/>
              </a:rPr>
            </a:br>
            <a:r>
              <a:rPr lang="en-IN" sz="2600" b="0" i="0" u="none" strike="noStrike" dirty="0">
                <a:solidFill>
                  <a:srgbClr val="002060"/>
                </a:solidFill>
                <a:effectLst/>
                <a:latin typeface="Times New Roman" panose="02020603050405020304" pitchFamily="18" charset="0"/>
                <a:cs typeface="Times New Roman" panose="02020603050405020304" pitchFamily="18" charset="0"/>
              </a:rPr>
              <a:t>The area inside the hysteresis loop represents </a:t>
            </a:r>
            <a:r>
              <a:rPr lang="en-IN" sz="2600" b="1" i="0" u="none" strike="noStrike" dirty="0">
                <a:solidFill>
                  <a:srgbClr val="002060"/>
                </a:solidFill>
                <a:effectLst/>
                <a:latin typeface="Times New Roman" panose="02020603050405020304" pitchFamily="18" charset="0"/>
                <a:cs typeface="Times New Roman" panose="02020603050405020304" pitchFamily="18" charset="0"/>
              </a:rPr>
              <a:t>energy loss per unit volume per cycle</a:t>
            </a:r>
            <a:r>
              <a:rPr lang="en-IN" sz="2600" b="0" i="0" u="none" strike="noStrike" dirty="0">
                <a:solidFill>
                  <a:srgbClr val="002060"/>
                </a:solidFill>
                <a:effectLst/>
                <a:latin typeface="Times New Roman" panose="02020603050405020304" pitchFamily="18" charset="0"/>
                <a:cs typeface="Times New Roman" panose="02020603050405020304" pitchFamily="18" charset="0"/>
              </a:rPr>
              <a:t>, mainly as heat, due to domain realignment.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A6F2F885-46C0-06B9-233C-0AE65AA96C70}"/>
              </a:ext>
            </a:extLst>
          </p:cNvPr>
          <p:cNvSpPr txBox="1"/>
          <p:nvPr/>
        </p:nvSpPr>
        <p:spPr>
          <a:xfrm>
            <a:off x="127000" y="858441"/>
            <a:ext cx="11938000" cy="523220"/>
          </a:xfrm>
          <a:prstGeom prst="rect">
            <a:avLst/>
          </a:prstGeom>
          <a:solidFill>
            <a:schemeClr val="bg1"/>
          </a:solidFill>
          <a:ln w="28575">
            <a:solidFill>
              <a:srgbClr val="941651"/>
            </a:solidFill>
          </a:ln>
        </p:spPr>
        <p:txBody>
          <a:bodyPr wrap="square">
            <a:spAutoFit/>
          </a:bodyPr>
          <a:lstStyle/>
          <a:p>
            <a:pPr algn="l"/>
            <a:r>
              <a:rPr lang="en-IN" sz="2800" b="1" i="0" u="none" strike="noStrike" dirty="0">
                <a:solidFill>
                  <a:srgbClr val="941651"/>
                </a:solidFill>
                <a:effectLst/>
                <a:latin typeface="Times New Roman" panose="02020603050405020304" pitchFamily="18" charset="0"/>
                <a:cs typeface="Times New Roman" panose="02020603050405020304" pitchFamily="18" charset="0"/>
              </a:rPr>
              <a:t>Types of Magnetic Materials (based on hysteresis loop)</a:t>
            </a:r>
          </a:p>
        </p:txBody>
      </p:sp>
      <p:sp>
        <p:nvSpPr>
          <p:cNvPr id="5" name="TextBox 4">
            <a:extLst>
              <a:ext uri="{FF2B5EF4-FFF2-40B4-BE49-F238E27FC236}">
                <a16:creationId xmlns="" xmlns:a16="http://schemas.microsoft.com/office/drawing/2014/main" id="{FBD0218E-8791-5372-5334-647BB22549F9}"/>
              </a:ext>
            </a:extLst>
          </p:cNvPr>
          <p:cNvSpPr txBox="1"/>
          <p:nvPr/>
        </p:nvSpPr>
        <p:spPr>
          <a:xfrm>
            <a:off x="127000" y="1483767"/>
            <a:ext cx="11938000" cy="4401205"/>
          </a:xfrm>
          <a:prstGeom prst="rect">
            <a:avLst/>
          </a:prstGeom>
          <a:solidFill>
            <a:schemeClr val="bg1"/>
          </a:solidFill>
          <a:ln w="28575">
            <a:solidFill>
              <a:srgbClr val="941651"/>
            </a:solidFill>
          </a:ln>
        </p:spPr>
        <p:txBody>
          <a:bodyPr wrap="square">
            <a:spAutoFit/>
          </a:bodyPr>
          <a:lstStyle/>
          <a:p>
            <a:pPr marL="342900" indent="-342900" algn="l">
              <a:buFont typeface="Arial" panose="020B0604020202020204" pitchFamily="34" charset="0"/>
              <a:buChar char="•"/>
            </a:pPr>
            <a:r>
              <a:rPr lang="en-IN" sz="2800" b="1" i="0" u="none" strike="noStrike" dirty="0">
                <a:solidFill>
                  <a:srgbClr val="002060"/>
                </a:solidFill>
                <a:effectLst/>
                <a:latin typeface="Times New Roman" panose="02020603050405020304" pitchFamily="18" charset="0"/>
                <a:cs typeface="Times New Roman" panose="02020603050405020304" pitchFamily="18" charset="0"/>
              </a:rPr>
              <a:t>Soft Magnetic Materials</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a:t>
            </a:r>
          </a:p>
          <a:p>
            <a:pPr marL="800100" lvl="1" indent="-342900" algn="l">
              <a:buFont typeface="Arial" panose="020B0604020202020204" pitchFamily="34" charset="0"/>
              <a:buChar char="•"/>
            </a:pPr>
            <a:r>
              <a:rPr lang="en-IN" sz="2800" b="0" i="0" u="none" strike="noStrike" dirty="0">
                <a:solidFill>
                  <a:srgbClr val="002060"/>
                </a:solidFill>
                <a:effectLst/>
                <a:latin typeface="Times New Roman" panose="02020603050405020304" pitchFamily="18" charset="0"/>
                <a:cs typeface="Times New Roman" panose="02020603050405020304" pitchFamily="18" charset="0"/>
              </a:rPr>
              <a:t>Narrow hysteresis loop</a:t>
            </a:r>
          </a:p>
          <a:p>
            <a:pPr marL="800100" lvl="1" indent="-342900" algn="l">
              <a:buFont typeface="Arial" panose="020B0604020202020204" pitchFamily="34" charset="0"/>
              <a:buChar char="•"/>
            </a:pPr>
            <a:r>
              <a:rPr lang="en-IN" sz="2800" b="0" i="0" u="none" strike="noStrike" dirty="0">
                <a:solidFill>
                  <a:srgbClr val="002060"/>
                </a:solidFill>
                <a:effectLst/>
                <a:latin typeface="Times New Roman" panose="02020603050405020304" pitchFamily="18" charset="0"/>
                <a:cs typeface="Times New Roman" panose="02020603050405020304" pitchFamily="18" charset="0"/>
              </a:rPr>
              <a:t>Low coercivity &amp; remanence</a:t>
            </a:r>
          </a:p>
          <a:p>
            <a:pPr marL="800100" lvl="1" indent="-342900" algn="l">
              <a:buFont typeface="Arial" panose="020B0604020202020204" pitchFamily="34" charset="0"/>
              <a:buChar char="•"/>
            </a:pPr>
            <a:r>
              <a:rPr lang="en-IN" sz="2800" b="0" i="0" u="none" strike="noStrike" dirty="0">
                <a:solidFill>
                  <a:srgbClr val="002060"/>
                </a:solidFill>
                <a:effectLst/>
                <a:latin typeface="Times New Roman" panose="02020603050405020304" pitchFamily="18" charset="0"/>
                <a:cs typeface="Times New Roman" panose="02020603050405020304" pitchFamily="18" charset="0"/>
              </a:rPr>
              <a:t>Small energy loss</a:t>
            </a:r>
          </a:p>
          <a:p>
            <a:pPr marL="800100" lvl="1" indent="-342900" algn="l">
              <a:buFont typeface="Arial" panose="020B0604020202020204" pitchFamily="34" charset="0"/>
              <a:buChar char="•"/>
            </a:pPr>
            <a:r>
              <a:rPr lang="en-IN" sz="2800" b="0" i="0" u="none" strike="noStrike" dirty="0">
                <a:solidFill>
                  <a:srgbClr val="002060"/>
                </a:solidFill>
                <a:effectLst/>
                <a:latin typeface="Times New Roman" panose="02020603050405020304" pitchFamily="18" charset="0"/>
                <a:cs typeface="Times New Roman" panose="02020603050405020304" pitchFamily="18" charset="0"/>
              </a:rPr>
              <a:t>Used in transformer cores, electromagnets</a:t>
            </a:r>
          </a:p>
          <a:p>
            <a:pPr marL="342900" indent="-342900" algn="l">
              <a:buFont typeface="Arial" panose="020B0604020202020204" pitchFamily="34" charset="0"/>
              <a:buChar char="•"/>
            </a:pPr>
            <a:r>
              <a:rPr lang="en-IN" sz="2800" b="1" i="0" u="none" strike="noStrike" dirty="0">
                <a:solidFill>
                  <a:srgbClr val="002060"/>
                </a:solidFill>
                <a:effectLst/>
                <a:latin typeface="Times New Roman" panose="02020603050405020304" pitchFamily="18" charset="0"/>
                <a:cs typeface="Times New Roman" panose="02020603050405020304" pitchFamily="18" charset="0"/>
              </a:rPr>
              <a:t>Hard Magnetic Materials</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a:t>
            </a:r>
          </a:p>
          <a:p>
            <a:pPr marL="800100" lvl="1" indent="-342900" algn="l">
              <a:buFont typeface="Arial" panose="020B0604020202020204" pitchFamily="34" charset="0"/>
              <a:buChar char="•"/>
            </a:pPr>
            <a:r>
              <a:rPr lang="en-IN" sz="2800" b="0" i="0" u="none" strike="noStrike" dirty="0">
                <a:solidFill>
                  <a:srgbClr val="002060"/>
                </a:solidFill>
                <a:effectLst/>
                <a:latin typeface="Times New Roman" panose="02020603050405020304" pitchFamily="18" charset="0"/>
                <a:cs typeface="Times New Roman" panose="02020603050405020304" pitchFamily="18" charset="0"/>
              </a:rPr>
              <a:t>Wide hysteresis loop</a:t>
            </a:r>
          </a:p>
          <a:p>
            <a:pPr marL="800100" lvl="1" indent="-342900" algn="l">
              <a:buFont typeface="Arial" panose="020B0604020202020204" pitchFamily="34" charset="0"/>
              <a:buChar char="•"/>
            </a:pPr>
            <a:r>
              <a:rPr lang="en-IN" sz="2800" b="0" i="0" u="none" strike="noStrike" dirty="0">
                <a:solidFill>
                  <a:srgbClr val="002060"/>
                </a:solidFill>
                <a:effectLst/>
                <a:latin typeface="Times New Roman" panose="02020603050405020304" pitchFamily="18" charset="0"/>
                <a:cs typeface="Times New Roman" panose="02020603050405020304" pitchFamily="18" charset="0"/>
              </a:rPr>
              <a:t>High coercivity &amp; remanence</a:t>
            </a:r>
          </a:p>
          <a:p>
            <a:pPr marL="800100" lvl="1" indent="-342900" algn="l">
              <a:buFont typeface="Arial" panose="020B0604020202020204" pitchFamily="34" charset="0"/>
              <a:buChar char="•"/>
            </a:pPr>
            <a:r>
              <a:rPr lang="en-IN" sz="2800" b="0" i="0" u="none" strike="noStrike" dirty="0">
                <a:solidFill>
                  <a:srgbClr val="002060"/>
                </a:solidFill>
                <a:effectLst/>
                <a:latin typeface="Times New Roman" panose="02020603050405020304" pitchFamily="18" charset="0"/>
                <a:cs typeface="Times New Roman" panose="02020603050405020304" pitchFamily="18" charset="0"/>
              </a:rPr>
              <a:t>Large energy loss but strong permanent magnetization</a:t>
            </a:r>
          </a:p>
          <a:p>
            <a:pPr marL="800100" lvl="1" indent="-342900" algn="l">
              <a:buFont typeface="Arial" panose="020B0604020202020204" pitchFamily="34" charset="0"/>
              <a:buChar char="•"/>
            </a:pPr>
            <a:r>
              <a:rPr lang="en-IN" sz="2800" b="0" i="0" u="none" strike="noStrike" dirty="0">
                <a:solidFill>
                  <a:srgbClr val="002060"/>
                </a:solidFill>
                <a:effectLst/>
                <a:latin typeface="Times New Roman" panose="02020603050405020304" pitchFamily="18" charset="0"/>
                <a:cs typeface="Times New Roman" panose="02020603050405020304" pitchFamily="18" charset="0"/>
              </a:rPr>
              <a:t>Used in permanent magnets, magnetic storage devices</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82526" y="4216087"/>
            <a:ext cx="2454442" cy="1390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9437" y="1716505"/>
            <a:ext cx="599321" cy="1291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271785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40FD3522-2669-20EE-0ACB-4FC2F73EEDA0}"/>
              </a:ext>
            </a:extLst>
          </p:cNvPr>
          <p:cNvSpPr txBox="1"/>
          <p:nvPr/>
        </p:nvSpPr>
        <p:spPr>
          <a:xfrm>
            <a:off x="140825" y="925361"/>
            <a:ext cx="11910350" cy="5632311"/>
          </a:xfrm>
          <a:prstGeom prst="rect">
            <a:avLst/>
          </a:prstGeom>
          <a:solidFill>
            <a:schemeClr val="bg1"/>
          </a:solidFill>
          <a:ln>
            <a:solidFill>
              <a:srgbClr val="941651"/>
            </a:solidFill>
          </a:ln>
        </p:spPr>
        <p:txBody>
          <a:bodyPr wrap="square">
            <a:spAutoFit/>
          </a:bodyPr>
          <a:lstStyle/>
          <a:p>
            <a:pPr algn="l"/>
            <a:r>
              <a:rPr lang="en-IN" sz="2400" b="0" i="0" u="none" strike="noStrike" dirty="0">
                <a:solidFill>
                  <a:srgbClr val="002060"/>
                </a:solidFill>
                <a:effectLst/>
                <a:latin typeface="Times New Roman" panose="02020603050405020304" pitchFamily="18" charset="0"/>
                <a:cs typeface="Times New Roman" panose="02020603050405020304" pitchFamily="18" charset="0"/>
              </a:rPr>
              <a:t>The </a:t>
            </a:r>
            <a:r>
              <a:rPr lang="en-IN" sz="2400" b="1" i="0" u="none" strike="noStrike" dirty="0">
                <a:solidFill>
                  <a:srgbClr val="002060"/>
                </a:solidFill>
                <a:effectLst/>
                <a:latin typeface="Times New Roman" panose="02020603050405020304" pitchFamily="18" charset="0"/>
                <a:cs typeface="Times New Roman" panose="02020603050405020304" pitchFamily="18" charset="0"/>
              </a:rPr>
              <a:t>Weiss domain theory</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 proposed by Pierre Weiss (1907), explains the origin of ferromagnetism in materials like iron, cobalt, and nickel. It resolves why these materials exhibit spontaneous magnetization even without an external magnetic field.</a:t>
            </a:r>
          </a:p>
          <a:p>
            <a:pPr marL="342900" indent="-342900" algn="l">
              <a:buFont typeface="Arial" panose="020B0604020202020204" pitchFamily="34" charset="0"/>
              <a:buChar char="•"/>
            </a:pPr>
            <a:r>
              <a:rPr lang="en-IN" sz="2400" b="1" i="0" u="none" strike="noStrike" dirty="0">
                <a:solidFill>
                  <a:srgbClr val="002060"/>
                </a:solidFill>
                <a:effectLst/>
                <a:latin typeface="Times New Roman" panose="02020603050405020304" pitchFamily="18" charset="0"/>
                <a:cs typeface="Times New Roman" panose="02020603050405020304" pitchFamily="18" charset="0"/>
              </a:rPr>
              <a:t>Spontaneous Magnetization</a:t>
            </a:r>
            <a:r>
              <a:rPr lang="en-IN" sz="2400" dirty="0">
                <a:solidFill>
                  <a:srgbClr val="002060"/>
                </a:solidFill>
                <a:latin typeface="Times New Roman" panose="02020603050405020304" pitchFamily="18" charset="0"/>
                <a:cs typeface="Times New Roman" panose="02020603050405020304" pitchFamily="18" charset="0"/>
              </a:rPr>
              <a:t>: </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In ferromagnetic materials, groups of atomic magnetic moments align parallel to each other due to a strong internal interaction called the </a:t>
            </a:r>
            <a:r>
              <a:rPr lang="en-IN" sz="2400" b="1" i="0" u="none" strike="noStrike" dirty="0">
                <a:solidFill>
                  <a:srgbClr val="002060"/>
                </a:solidFill>
                <a:effectLst/>
                <a:latin typeface="Times New Roman" panose="02020603050405020304" pitchFamily="18" charset="0"/>
                <a:cs typeface="Times New Roman" panose="02020603050405020304" pitchFamily="18" charset="0"/>
              </a:rPr>
              <a:t>exchange interaction</a:t>
            </a:r>
            <a:r>
              <a:rPr lang="en-IN" sz="2400" dirty="0">
                <a:solidFill>
                  <a:srgbClr val="002060"/>
                </a:solidFill>
                <a:latin typeface="Times New Roman" panose="02020603050405020304" pitchFamily="18" charset="0"/>
                <a:cs typeface="Times New Roman" panose="02020603050405020304" pitchFamily="18" charset="0"/>
              </a:rPr>
              <a:t>. </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This produces a region of uniform magnetization even in the absence of an external magnetic field.</a:t>
            </a:r>
          </a:p>
          <a:p>
            <a:pPr marL="342900" indent="-342900" algn="l">
              <a:buFont typeface="Arial" panose="020B0604020202020204" pitchFamily="34" charset="0"/>
              <a:buChar char="•"/>
            </a:pPr>
            <a:r>
              <a:rPr lang="en-IN" sz="2400" b="1" i="0" u="none" strike="noStrike" dirty="0">
                <a:solidFill>
                  <a:srgbClr val="002060"/>
                </a:solidFill>
                <a:effectLst/>
                <a:latin typeface="Times New Roman" panose="02020603050405020304" pitchFamily="18" charset="0"/>
                <a:cs typeface="Times New Roman" panose="02020603050405020304" pitchFamily="18" charset="0"/>
              </a:rPr>
              <a:t>Formation of Magnetic Domains</a:t>
            </a:r>
            <a:r>
              <a:rPr lang="en-IN" sz="2400" dirty="0">
                <a:solidFill>
                  <a:srgbClr val="002060"/>
                </a:solidFill>
                <a:latin typeface="Times New Roman" panose="02020603050405020304" pitchFamily="18" charset="0"/>
                <a:cs typeface="Times New Roman" panose="02020603050405020304" pitchFamily="18" charset="0"/>
              </a:rPr>
              <a:t>: </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The entire crystal does not align in one direction. Instead, the material splits into small regions called </a:t>
            </a:r>
            <a:r>
              <a:rPr lang="en-IN" sz="2400" b="1" i="0" u="none" strike="noStrike" dirty="0">
                <a:solidFill>
                  <a:srgbClr val="002060"/>
                </a:solidFill>
                <a:effectLst/>
                <a:latin typeface="Times New Roman" panose="02020603050405020304" pitchFamily="18" charset="0"/>
                <a:cs typeface="Times New Roman" panose="02020603050405020304" pitchFamily="18" charset="0"/>
              </a:rPr>
              <a:t>Weiss domains</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 each magnetized to saturation but oriented in different directions. This domain arrangement minimizes the total </a:t>
            </a:r>
            <a:r>
              <a:rPr lang="en-IN" sz="2400" b="1" i="0" u="none" strike="noStrike" dirty="0">
                <a:solidFill>
                  <a:srgbClr val="002060"/>
                </a:solidFill>
                <a:effectLst/>
                <a:latin typeface="Times New Roman" panose="02020603050405020304" pitchFamily="18" charset="0"/>
                <a:cs typeface="Times New Roman" panose="02020603050405020304" pitchFamily="18" charset="0"/>
              </a:rPr>
              <a:t>magnetostatic energy</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 of the crystal, keeping the bulk specimen unmagnetized in the absence of an external field.</a:t>
            </a:r>
          </a:p>
          <a:p>
            <a:pPr marL="342900" indent="-342900" algn="l">
              <a:buFont typeface="Arial" panose="020B0604020202020204" pitchFamily="34" charset="0"/>
              <a:buChar char="•"/>
            </a:pPr>
            <a:r>
              <a:rPr lang="en-IN" sz="2400" b="1" i="0" u="none" strike="noStrike" dirty="0">
                <a:solidFill>
                  <a:srgbClr val="002060"/>
                </a:solidFill>
                <a:effectLst/>
                <a:latin typeface="Times New Roman" panose="02020603050405020304" pitchFamily="18" charset="0"/>
                <a:cs typeface="Times New Roman" panose="02020603050405020304" pitchFamily="18" charset="0"/>
              </a:rPr>
              <a:t>Effect of an External Magnetic Field</a:t>
            </a:r>
            <a:r>
              <a:rPr lang="en-IN" sz="2400" dirty="0">
                <a:solidFill>
                  <a:srgbClr val="002060"/>
                </a:solidFill>
                <a:latin typeface="Times New Roman" panose="02020603050405020304" pitchFamily="18" charset="0"/>
                <a:cs typeface="Times New Roman" panose="02020603050405020304" pitchFamily="18" charset="0"/>
              </a:rPr>
              <a:t>: </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When an external magnetic field is applied, domains </a:t>
            </a:r>
            <a:r>
              <a:rPr lang="en-IN" sz="2400" b="0" i="0" u="none" strike="noStrike" dirty="0" err="1">
                <a:solidFill>
                  <a:srgbClr val="002060"/>
                </a:solidFill>
                <a:effectLst/>
                <a:latin typeface="Times New Roman" panose="02020603050405020304" pitchFamily="18" charset="0"/>
                <a:cs typeface="Times New Roman" panose="02020603050405020304" pitchFamily="18" charset="0"/>
              </a:rPr>
              <a:t>favorably</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 oriented with the field grow at the expense of others (domain wall motion). At higher field strengths, all domains align, and the material reaches </a:t>
            </a:r>
            <a:r>
              <a:rPr lang="en-IN" sz="2400" b="1" i="0" u="none" strike="noStrike" dirty="0">
                <a:solidFill>
                  <a:srgbClr val="002060"/>
                </a:solidFill>
                <a:effectLst/>
                <a:latin typeface="Times New Roman" panose="02020603050405020304" pitchFamily="18" charset="0"/>
                <a:cs typeface="Times New Roman" panose="02020603050405020304" pitchFamily="18" charset="0"/>
              </a:rPr>
              <a:t>saturation magnetization</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a:t>
            </a:r>
          </a:p>
        </p:txBody>
      </p:sp>
      <p:sp>
        <p:nvSpPr>
          <p:cNvPr id="5" name="TextBox 4">
            <a:extLst>
              <a:ext uri="{FF2B5EF4-FFF2-40B4-BE49-F238E27FC236}">
                <a16:creationId xmlns="" xmlns:a16="http://schemas.microsoft.com/office/drawing/2014/main" id="{866A40F0-D05C-BD1D-D35B-B9228B4DCEDC}"/>
              </a:ext>
            </a:extLst>
          </p:cNvPr>
          <p:cNvSpPr txBox="1"/>
          <p:nvPr/>
        </p:nvSpPr>
        <p:spPr>
          <a:xfrm>
            <a:off x="140825" y="286925"/>
            <a:ext cx="11910350" cy="523220"/>
          </a:xfrm>
          <a:prstGeom prst="rect">
            <a:avLst/>
          </a:prstGeom>
          <a:solidFill>
            <a:schemeClr val="bg1"/>
          </a:solidFill>
        </p:spPr>
        <p:txBody>
          <a:bodyPr wrap="square">
            <a:spAutoFit/>
          </a:bodyPr>
          <a:lstStyle/>
          <a:p>
            <a:pPr algn="l"/>
            <a:r>
              <a:rPr lang="en-IN" sz="2800" b="1" i="0" u="none" strike="noStrike" dirty="0">
                <a:solidFill>
                  <a:srgbClr val="941651"/>
                </a:solidFill>
                <a:effectLst/>
                <a:latin typeface="Times New Roman" panose="02020603050405020304" pitchFamily="18" charset="0"/>
                <a:cs typeface="Times New Roman" panose="02020603050405020304" pitchFamily="18" charset="0"/>
              </a:rPr>
              <a:t>Weiss Domain Theory of Ferromagnetism</a:t>
            </a:r>
          </a:p>
        </p:txBody>
      </p:sp>
    </p:spTree>
    <p:extLst>
      <p:ext uri="{BB962C8B-B14F-4D97-AF65-F5344CB8AC3E}">
        <p14:creationId xmlns:p14="http://schemas.microsoft.com/office/powerpoint/2010/main" val="31559593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0C54CD64-261A-A3A4-8E11-1EBC5344F562}"/>
              </a:ext>
            </a:extLst>
          </p:cNvPr>
          <p:cNvSpPr txBox="1"/>
          <p:nvPr/>
        </p:nvSpPr>
        <p:spPr>
          <a:xfrm>
            <a:off x="158187" y="243512"/>
            <a:ext cx="11875626" cy="6370975"/>
          </a:xfrm>
          <a:prstGeom prst="rect">
            <a:avLst/>
          </a:prstGeom>
          <a:solidFill>
            <a:schemeClr val="bg1"/>
          </a:solidFill>
          <a:ln w="28575">
            <a:solidFill>
              <a:srgbClr val="941651"/>
            </a:solidFill>
          </a:ln>
        </p:spPr>
        <p:txBody>
          <a:bodyPr wrap="square">
            <a:spAutoFit/>
          </a:bodyPr>
          <a:lstStyle/>
          <a:p>
            <a:pPr marL="342900" indent="-342900" algn="l">
              <a:buFont typeface="Arial" panose="020B0604020202020204" pitchFamily="34" charset="0"/>
              <a:buChar char="•"/>
            </a:pPr>
            <a:r>
              <a:rPr lang="en-IN" sz="2400" b="1" i="0" u="none" strike="noStrike" dirty="0">
                <a:solidFill>
                  <a:srgbClr val="002060"/>
                </a:solidFill>
                <a:effectLst/>
                <a:latin typeface="Times New Roman" panose="02020603050405020304" pitchFamily="18" charset="0"/>
                <a:cs typeface="Times New Roman" panose="02020603050405020304" pitchFamily="18" charset="0"/>
              </a:rPr>
              <a:t>Weiss Molecular Field Hypothesis</a:t>
            </a:r>
            <a:endParaRPr lang="en-IN" sz="2400" b="0" i="0" u="none" strike="noStrike" dirty="0">
              <a:solidFill>
                <a:srgbClr val="002060"/>
              </a:solidFill>
              <a:effectLst/>
              <a:latin typeface="Times New Roman" panose="02020603050405020304" pitchFamily="18" charset="0"/>
              <a:cs typeface="Times New Roman" panose="02020603050405020304" pitchFamily="18" charset="0"/>
            </a:endParaRPr>
          </a:p>
          <a:p>
            <a:pPr marL="800100" lvl="1" indent="-342900" algn="l">
              <a:buFont typeface="Arial" panose="020B0604020202020204" pitchFamily="34" charset="0"/>
              <a:buChar char="•"/>
            </a:pPr>
            <a:r>
              <a:rPr lang="en-IN" sz="2400" b="0" i="0" u="none" strike="noStrike" dirty="0">
                <a:solidFill>
                  <a:srgbClr val="002060"/>
                </a:solidFill>
                <a:effectLst/>
                <a:latin typeface="Times New Roman" panose="02020603050405020304" pitchFamily="18" charset="0"/>
                <a:cs typeface="Times New Roman" panose="02020603050405020304" pitchFamily="18" charset="0"/>
              </a:rPr>
              <a:t>Weiss proposed the existence of an </a:t>
            </a:r>
            <a:r>
              <a:rPr lang="en-IN" sz="2400" b="1" i="0" u="none" strike="noStrike" dirty="0">
                <a:solidFill>
                  <a:srgbClr val="002060"/>
                </a:solidFill>
                <a:effectLst/>
                <a:latin typeface="Times New Roman" panose="02020603050405020304" pitchFamily="18" charset="0"/>
                <a:cs typeface="Times New Roman" panose="02020603050405020304" pitchFamily="18" charset="0"/>
              </a:rPr>
              <a:t>internal molecular field</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 (Weiss field) acting on each magnetic moment.</a:t>
            </a:r>
          </a:p>
          <a:p>
            <a:pPr marL="800100" lvl="1" indent="-342900" algn="l">
              <a:buFont typeface="Arial" panose="020B0604020202020204" pitchFamily="34" charset="0"/>
              <a:buChar char="•"/>
            </a:pPr>
            <a:r>
              <a:rPr lang="en-IN" sz="2400" b="0" i="0" u="none" strike="noStrike" dirty="0">
                <a:solidFill>
                  <a:srgbClr val="002060"/>
                </a:solidFill>
                <a:effectLst/>
                <a:latin typeface="Times New Roman" panose="02020603050405020304" pitchFamily="18" charset="0"/>
                <a:cs typeface="Times New Roman" panose="02020603050405020304" pitchFamily="18" charset="0"/>
              </a:rPr>
              <a:t>This field is proportional to the overall magnetization M:</a:t>
            </a:r>
          </a:p>
          <a:p>
            <a:pPr marL="800100" lvl="1" indent="-342900" algn="l">
              <a:buFont typeface="Arial" panose="020B0604020202020204" pitchFamily="34" charset="0"/>
              <a:buChar char="•"/>
            </a:pPr>
            <a:r>
              <a:rPr lang="en-IN" sz="2400" b="0" i="0" u="none" strike="noStrike" dirty="0">
                <a:solidFill>
                  <a:srgbClr val="002060"/>
                </a:solidFill>
                <a:effectLst/>
                <a:latin typeface="Times New Roman" panose="02020603050405020304" pitchFamily="18" charset="0"/>
                <a:cs typeface="Times New Roman" panose="02020603050405020304" pitchFamily="18" charset="0"/>
              </a:rPr>
              <a:t>Hint=</a:t>
            </a:r>
            <a:r>
              <a:rPr lang="el-GR" sz="2400" b="0" i="0" u="none" strike="noStrike" dirty="0">
                <a:solidFill>
                  <a:srgbClr val="002060"/>
                </a:solidFill>
                <a:effectLst/>
                <a:latin typeface="Times New Roman" panose="02020603050405020304" pitchFamily="18" charset="0"/>
                <a:cs typeface="Times New Roman" panose="02020603050405020304" pitchFamily="18" charset="0"/>
              </a:rPr>
              <a:t>λ</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M where </a:t>
            </a:r>
            <a:r>
              <a:rPr lang="el-GR" sz="2400" b="0" i="0" u="none" strike="noStrike" dirty="0">
                <a:solidFill>
                  <a:srgbClr val="002060"/>
                </a:solidFill>
                <a:effectLst/>
                <a:latin typeface="Times New Roman" panose="02020603050405020304" pitchFamily="18" charset="0"/>
                <a:cs typeface="Times New Roman" panose="02020603050405020304" pitchFamily="18" charset="0"/>
              </a:rPr>
              <a:t>λ </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is the Weiss constant.</a:t>
            </a:r>
          </a:p>
          <a:p>
            <a:pPr marL="800100" lvl="1" indent="-342900" algn="l">
              <a:buFont typeface="Arial" panose="020B0604020202020204" pitchFamily="34" charset="0"/>
              <a:buChar char="•"/>
            </a:pPr>
            <a:r>
              <a:rPr lang="en-IN" sz="2400" b="0" i="0" u="none" strike="noStrike" dirty="0">
                <a:solidFill>
                  <a:srgbClr val="002060"/>
                </a:solidFill>
                <a:effectLst/>
                <a:latin typeface="Times New Roman" panose="02020603050405020304" pitchFamily="18" charset="0"/>
                <a:cs typeface="Times New Roman" panose="02020603050405020304" pitchFamily="18" charset="0"/>
              </a:rPr>
              <a:t>This molecular field is responsible for the parallel alignment of spins.</a:t>
            </a:r>
          </a:p>
          <a:p>
            <a:pPr lvl="1" algn="l"/>
            <a:endParaRPr lang="en-IN" sz="2400" b="0" i="0" u="none" strike="noStrike" dirty="0">
              <a:solidFill>
                <a:srgbClr val="002060"/>
              </a:solidFill>
              <a:effectLst/>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IN" sz="2400" b="1" i="0" u="none" strike="noStrike" dirty="0">
                <a:solidFill>
                  <a:srgbClr val="002060"/>
                </a:solidFill>
                <a:effectLst/>
                <a:latin typeface="Times New Roman" panose="02020603050405020304" pitchFamily="18" charset="0"/>
                <a:cs typeface="Times New Roman" panose="02020603050405020304" pitchFamily="18" charset="0"/>
              </a:rPr>
              <a:t>Curie–Weiss Law</a:t>
            </a:r>
            <a:endParaRPr lang="en-IN" sz="2400" b="0" i="0" u="none" strike="noStrike" dirty="0">
              <a:solidFill>
                <a:srgbClr val="002060"/>
              </a:solidFill>
              <a:effectLst/>
              <a:latin typeface="Times New Roman" panose="02020603050405020304" pitchFamily="18" charset="0"/>
              <a:cs typeface="Times New Roman" panose="02020603050405020304" pitchFamily="18" charset="0"/>
            </a:endParaRPr>
          </a:p>
          <a:p>
            <a:pPr marL="800100" lvl="1" indent="-342900" algn="l">
              <a:buFont typeface="Arial" panose="020B0604020202020204" pitchFamily="34" charset="0"/>
              <a:buChar char="•"/>
            </a:pPr>
            <a:r>
              <a:rPr lang="en-IN" sz="2400" b="0" i="0" u="none" strike="noStrike" dirty="0">
                <a:solidFill>
                  <a:srgbClr val="002060"/>
                </a:solidFill>
                <a:effectLst/>
                <a:latin typeface="Times New Roman" panose="02020603050405020304" pitchFamily="18" charset="0"/>
                <a:cs typeface="Times New Roman" panose="02020603050405020304" pitchFamily="18" charset="0"/>
              </a:rPr>
              <a:t>Above the Curie temperature (T</a:t>
            </a:r>
            <a:r>
              <a:rPr lang="en-IN" sz="2400" b="0" i="0" u="none" strike="noStrike" baseline="-25000" dirty="0">
                <a:solidFill>
                  <a:srgbClr val="002060"/>
                </a:solidFill>
                <a:effectLst/>
                <a:latin typeface="Times New Roman" panose="02020603050405020304" pitchFamily="18" charset="0"/>
                <a:cs typeface="Times New Roman" panose="02020603050405020304" pitchFamily="18" charset="0"/>
              </a:rPr>
              <a:t>C</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 ferromagnetic materials lose their spontaneous magnetization and behave as paramagnets.</a:t>
            </a:r>
          </a:p>
          <a:p>
            <a:pPr marL="800100" lvl="1" indent="-342900" algn="l">
              <a:buFont typeface="Arial" panose="020B0604020202020204" pitchFamily="34" charset="0"/>
              <a:buChar char="•"/>
            </a:pPr>
            <a:r>
              <a:rPr lang="en-IN" sz="2400" b="0" i="0" u="none" strike="noStrike" dirty="0">
                <a:solidFill>
                  <a:srgbClr val="002060"/>
                </a:solidFill>
                <a:effectLst/>
                <a:latin typeface="Times New Roman" panose="02020603050405020304" pitchFamily="18" charset="0"/>
                <a:cs typeface="Times New Roman" panose="02020603050405020304" pitchFamily="18" charset="0"/>
              </a:rPr>
              <a:t>The magnetic susceptibility follows:</a:t>
            </a:r>
          </a:p>
          <a:p>
            <a:pPr marL="800100" lvl="1" indent="-342900" algn="l">
              <a:buFont typeface="Arial" panose="020B0604020202020204" pitchFamily="34" charset="0"/>
              <a:buChar char="•"/>
            </a:pPr>
            <a:r>
              <a:rPr lang="el-GR" sz="2400" b="0" i="0" u="none" strike="noStrike" dirty="0">
                <a:solidFill>
                  <a:srgbClr val="002060"/>
                </a:solidFill>
                <a:effectLst/>
                <a:latin typeface="Times New Roman" panose="02020603050405020304" pitchFamily="18" charset="0"/>
                <a:cs typeface="Times New Roman" panose="02020603050405020304" pitchFamily="18" charset="0"/>
              </a:rPr>
              <a:t>Χ</a:t>
            </a:r>
            <a:r>
              <a:rPr lang="en-US" sz="2400" b="0" i="0" u="none" strike="noStrike" dirty="0">
                <a:solidFill>
                  <a:srgbClr val="002060"/>
                </a:solidFill>
                <a:effectLst/>
                <a:latin typeface="Times New Roman" panose="02020603050405020304" pitchFamily="18" charset="0"/>
                <a:cs typeface="Times New Roman" panose="02020603050405020304" pitchFamily="18" charset="0"/>
              </a:rPr>
              <a:t> </a:t>
            </a:r>
            <a:r>
              <a:rPr lang="el-GR" sz="2400" b="0" i="0" u="none" strike="noStrike" dirty="0">
                <a:solidFill>
                  <a:srgbClr val="002060"/>
                </a:solidFill>
                <a:effectLst/>
                <a:latin typeface="Times New Roman" panose="02020603050405020304" pitchFamily="18" charset="0"/>
                <a:cs typeface="Times New Roman" panose="02020603050405020304" pitchFamily="18" charset="0"/>
              </a:rPr>
              <a:t>=</a:t>
            </a:r>
            <a:r>
              <a:rPr lang="en-US" sz="2400" b="0" i="0" u="none" strike="noStrike" dirty="0">
                <a:solidFill>
                  <a:srgbClr val="002060"/>
                </a:solidFill>
                <a:effectLst/>
                <a:latin typeface="Times New Roman" panose="02020603050405020304" pitchFamily="18" charset="0"/>
                <a:cs typeface="Times New Roman" panose="02020603050405020304" pitchFamily="18" charset="0"/>
              </a:rPr>
              <a:t> </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CT−</a:t>
            </a:r>
            <a:r>
              <a:rPr lang="el-GR" sz="2400" b="0" i="0" u="none" strike="noStrike" dirty="0">
                <a:solidFill>
                  <a:srgbClr val="002060"/>
                </a:solidFill>
                <a:effectLst/>
                <a:latin typeface="Times New Roman" panose="02020603050405020304" pitchFamily="18" charset="0"/>
                <a:cs typeface="Times New Roman" panose="02020603050405020304" pitchFamily="18" charset="0"/>
              </a:rPr>
              <a:t>θ</a:t>
            </a:r>
            <a:r>
              <a:rPr lang="en-US" sz="2400" dirty="0">
                <a:solidFill>
                  <a:srgbClr val="002060"/>
                </a:solidFill>
                <a:latin typeface="Times New Roman" panose="02020603050405020304" pitchFamily="18" charset="0"/>
                <a:cs typeface="Times New Roman" panose="02020603050405020304" pitchFamily="18" charset="0"/>
              </a:rPr>
              <a:t>, </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​where C is the Curie constant and </a:t>
            </a:r>
            <a:r>
              <a:rPr lang="el-GR" sz="2400" b="0" i="0" u="none" strike="noStrike" dirty="0">
                <a:solidFill>
                  <a:srgbClr val="002060"/>
                </a:solidFill>
                <a:effectLst/>
                <a:latin typeface="Times New Roman" panose="02020603050405020304" pitchFamily="18" charset="0"/>
                <a:cs typeface="Times New Roman" panose="02020603050405020304" pitchFamily="18" charset="0"/>
              </a:rPr>
              <a:t>θ≈</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T</a:t>
            </a:r>
            <a:r>
              <a:rPr lang="en-IN" sz="2400" b="0" i="0" u="none" strike="noStrike" baseline="-25000" dirty="0">
                <a:solidFill>
                  <a:srgbClr val="002060"/>
                </a:solidFill>
                <a:effectLst/>
                <a:latin typeface="Times New Roman" panose="02020603050405020304" pitchFamily="18" charset="0"/>
                <a:cs typeface="Times New Roman" panose="02020603050405020304" pitchFamily="18" charset="0"/>
              </a:rPr>
              <a:t>C</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a:t>
            </a:r>
          </a:p>
          <a:p>
            <a:pPr marL="342900" indent="-342900" algn="l">
              <a:buFont typeface="Arial" panose="020B0604020202020204" pitchFamily="34" charset="0"/>
              <a:buChar char="•"/>
            </a:pPr>
            <a:endParaRPr lang="en-IN" sz="2400" b="0" i="0" u="none" strike="noStrike" dirty="0">
              <a:solidFill>
                <a:srgbClr val="002060"/>
              </a:solidFill>
              <a:effectLst/>
              <a:latin typeface="Times New Roman" panose="02020603050405020304" pitchFamily="18" charset="0"/>
              <a:cs typeface="Times New Roman" panose="02020603050405020304" pitchFamily="18" charset="0"/>
            </a:endParaRPr>
          </a:p>
          <a:p>
            <a:pPr algn="l"/>
            <a:r>
              <a:rPr lang="en-IN" sz="2400" b="0" i="0" u="none" strike="noStrike" dirty="0">
                <a:solidFill>
                  <a:srgbClr val="002060"/>
                </a:solidFill>
                <a:effectLst/>
                <a:latin typeface="Times New Roman" panose="02020603050405020304" pitchFamily="18" charset="0"/>
                <a:cs typeface="Times New Roman" panose="02020603050405020304" pitchFamily="18" charset="0"/>
              </a:rPr>
              <a:t>The </a:t>
            </a:r>
            <a:r>
              <a:rPr lang="en-IN" sz="2400" b="1" i="0" u="none" strike="noStrike" dirty="0">
                <a:solidFill>
                  <a:srgbClr val="002060"/>
                </a:solidFill>
                <a:effectLst/>
                <a:latin typeface="Times New Roman" panose="02020603050405020304" pitchFamily="18" charset="0"/>
                <a:cs typeface="Times New Roman" panose="02020603050405020304" pitchFamily="18" charset="0"/>
              </a:rPr>
              <a:t>Weiss domain theory</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 explains ferromagnetism by introducing the idea of </a:t>
            </a:r>
            <a:r>
              <a:rPr lang="en-IN" sz="2400" b="1" i="0" u="none" strike="noStrike" dirty="0">
                <a:solidFill>
                  <a:srgbClr val="002060"/>
                </a:solidFill>
                <a:effectLst/>
                <a:latin typeface="Times New Roman" panose="02020603050405020304" pitchFamily="18" charset="0"/>
                <a:cs typeface="Times New Roman" panose="02020603050405020304" pitchFamily="18" charset="0"/>
              </a:rPr>
              <a:t>magnetic domains</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 and a strong </a:t>
            </a:r>
            <a:r>
              <a:rPr lang="en-IN" sz="2400" b="1" i="0" u="none" strike="noStrike" dirty="0">
                <a:solidFill>
                  <a:srgbClr val="002060"/>
                </a:solidFill>
                <a:effectLst/>
                <a:latin typeface="Times New Roman" panose="02020603050405020304" pitchFamily="18" charset="0"/>
                <a:cs typeface="Times New Roman" panose="02020603050405020304" pitchFamily="18" charset="0"/>
              </a:rPr>
              <a:t>exchange interaction (Weiss molecular field)</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 In the absence of an external field, random domain orientations cancel overall magnetization, but under an applied field, domain alignment gives rise to strong ferromagnetic behavior.</a:t>
            </a:r>
          </a:p>
        </p:txBody>
      </p:sp>
    </p:spTree>
    <p:extLst>
      <p:ext uri="{BB962C8B-B14F-4D97-AF65-F5344CB8AC3E}">
        <p14:creationId xmlns:p14="http://schemas.microsoft.com/office/powerpoint/2010/main" val="17073697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06ADA968-86AA-1AFF-D265-C6CA49C25B96}"/>
              </a:ext>
            </a:extLst>
          </p:cNvPr>
          <p:cNvSpPr txBox="1"/>
          <p:nvPr/>
        </p:nvSpPr>
        <p:spPr>
          <a:xfrm>
            <a:off x="171450" y="762218"/>
            <a:ext cx="11849100" cy="1692771"/>
          </a:xfrm>
          <a:prstGeom prst="rect">
            <a:avLst/>
          </a:prstGeom>
          <a:solidFill>
            <a:schemeClr val="bg1"/>
          </a:solidFill>
          <a:ln w="38100">
            <a:solidFill>
              <a:srgbClr val="941651"/>
            </a:solidFill>
          </a:ln>
        </p:spPr>
        <p:txBody>
          <a:bodyPr wrap="square">
            <a:spAutoFit/>
          </a:bodyPr>
          <a:lstStyle/>
          <a:p>
            <a:r>
              <a:rPr lang="en-IN" sz="2600" b="0" i="0" u="none" strike="noStrike" dirty="0">
                <a:solidFill>
                  <a:srgbClr val="002060"/>
                </a:solidFill>
                <a:effectLst/>
                <a:latin typeface="Times New Roman" panose="02020603050405020304" pitchFamily="18" charset="0"/>
                <a:cs typeface="Times New Roman" panose="02020603050405020304" pitchFamily="18" charset="0"/>
              </a:rPr>
              <a:t>The </a:t>
            </a:r>
            <a:r>
              <a:rPr lang="en-IN" sz="2600" b="1" i="0" u="none" strike="noStrike" dirty="0">
                <a:solidFill>
                  <a:srgbClr val="002060"/>
                </a:solidFill>
                <a:effectLst/>
                <a:latin typeface="Times New Roman" panose="02020603050405020304" pitchFamily="18" charset="0"/>
                <a:cs typeface="Times New Roman" panose="02020603050405020304" pitchFamily="18" charset="0"/>
              </a:rPr>
              <a:t>sol–gel method</a:t>
            </a:r>
            <a:r>
              <a:rPr lang="en-IN" sz="2600" b="0" i="0" u="none" strike="noStrike" dirty="0">
                <a:solidFill>
                  <a:srgbClr val="002060"/>
                </a:solidFill>
                <a:effectLst/>
                <a:latin typeface="Times New Roman" panose="02020603050405020304" pitchFamily="18" charset="0"/>
                <a:cs typeface="Times New Roman" panose="02020603050405020304" pitchFamily="18" charset="0"/>
              </a:rPr>
              <a:t> is one of the most widely used wet-chemical synthesis routes for preparing ferrimagnetic materials such as ferrites (MFe</a:t>
            </a:r>
            <a:r>
              <a:rPr lang="en-IN" sz="2600" b="0" i="0" u="none" strike="noStrike" baseline="-25000" dirty="0">
                <a:solidFill>
                  <a:srgbClr val="002060"/>
                </a:solidFill>
                <a:effectLst/>
                <a:latin typeface="Times New Roman" panose="02020603050405020304" pitchFamily="18" charset="0"/>
                <a:cs typeface="Times New Roman" panose="02020603050405020304" pitchFamily="18" charset="0"/>
              </a:rPr>
              <a:t>2</a:t>
            </a:r>
            <a:r>
              <a:rPr lang="en-IN" sz="2600" b="0" i="0" u="none" strike="noStrike" dirty="0">
                <a:solidFill>
                  <a:srgbClr val="002060"/>
                </a:solidFill>
                <a:effectLst/>
                <a:latin typeface="Times New Roman" panose="02020603050405020304" pitchFamily="18" charset="0"/>
                <a:cs typeface="Times New Roman" panose="02020603050405020304" pitchFamily="18" charset="0"/>
              </a:rPr>
              <a:t>O</a:t>
            </a:r>
            <a:r>
              <a:rPr lang="en-IN" sz="2600" b="0" i="0" u="none" strike="noStrike" baseline="-25000" dirty="0">
                <a:solidFill>
                  <a:srgbClr val="002060"/>
                </a:solidFill>
                <a:effectLst/>
                <a:latin typeface="Times New Roman" panose="02020603050405020304" pitchFamily="18" charset="0"/>
                <a:cs typeface="Times New Roman" panose="02020603050405020304" pitchFamily="18" charset="0"/>
              </a:rPr>
              <a:t>4</a:t>
            </a:r>
            <a:r>
              <a:rPr lang="en-IN" sz="2600" b="0" i="0" u="none" strike="noStrike" dirty="0">
                <a:solidFill>
                  <a:srgbClr val="002060"/>
                </a:solidFill>
                <a:effectLst/>
                <a:latin typeface="Times New Roman" panose="02020603050405020304" pitchFamily="18" charset="0"/>
                <a:cs typeface="Times New Roman" panose="02020603050405020304" pitchFamily="18" charset="0"/>
              </a:rPr>
              <a:t>, where M = Co, Ni, Mn, Zn, etc.). It offers good control over particle size, stoichiometry, and homogeneity at relatively low processing temperatures.</a:t>
            </a:r>
            <a:endParaRPr lang="en-US" sz="2600" dirty="0">
              <a:solidFill>
                <a:srgbClr val="00206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 xmlns:a16="http://schemas.microsoft.com/office/drawing/2014/main" id="{86F0CB74-DA42-92F8-98CB-4EFBE2ACDC4E}"/>
              </a:ext>
            </a:extLst>
          </p:cNvPr>
          <p:cNvSpPr txBox="1"/>
          <p:nvPr/>
        </p:nvSpPr>
        <p:spPr>
          <a:xfrm>
            <a:off x="171450" y="145534"/>
            <a:ext cx="11849100" cy="523220"/>
          </a:xfrm>
          <a:prstGeom prst="rect">
            <a:avLst/>
          </a:prstGeom>
          <a:solidFill>
            <a:schemeClr val="bg1"/>
          </a:solidFill>
          <a:ln w="38100">
            <a:solidFill>
              <a:srgbClr val="941651"/>
            </a:solidFill>
          </a:ln>
        </p:spPr>
        <p:txBody>
          <a:bodyPr wrap="square">
            <a:spAutoFit/>
          </a:bodyPr>
          <a:lstStyle/>
          <a:p>
            <a:r>
              <a:rPr lang="en-US" sz="2800" b="1" dirty="0">
                <a:solidFill>
                  <a:srgbClr val="941651"/>
                </a:solidFill>
                <a:latin typeface="Times New Roman" panose="02020603050405020304" pitchFamily="18" charset="0"/>
                <a:ea typeface="Calibri" panose="020F0502020204030204" pitchFamily="34" charset="0"/>
                <a:cs typeface="Times New Roman" panose="02020603050405020304" pitchFamily="18" charset="0"/>
              </a:rPr>
              <a:t>S</a:t>
            </a:r>
            <a:r>
              <a:rPr lang="en-US" sz="2800" b="1" dirty="0">
                <a:solidFill>
                  <a:srgbClr val="941651"/>
                </a:solidFill>
                <a:effectLst/>
                <a:latin typeface="Times New Roman" panose="02020603050405020304" pitchFamily="18" charset="0"/>
                <a:ea typeface="Calibri" panose="020F0502020204030204" pitchFamily="34" charset="0"/>
                <a:cs typeface="Times New Roman" panose="02020603050405020304" pitchFamily="18" charset="0"/>
              </a:rPr>
              <a:t>ynthesis of ferrimagnetic materials using sol-gel method</a:t>
            </a:r>
            <a:endParaRPr lang="en-US" sz="2800" b="1" dirty="0">
              <a:solidFill>
                <a:srgbClr val="941651"/>
              </a:solidFill>
            </a:endParaRPr>
          </a:p>
        </p:txBody>
      </p:sp>
      <p:sp>
        <p:nvSpPr>
          <p:cNvPr id="7" name="TextBox 6">
            <a:extLst>
              <a:ext uri="{FF2B5EF4-FFF2-40B4-BE49-F238E27FC236}">
                <a16:creationId xmlns="" xmlns:a16="http://schemas.microsoft.com/office/drawing/2014/main" id="{E5267631-7B66-B075-8EE6-71C4FF117814}"/>
              </a:ext>
            </a:extLst>
          </p:cNvPr>
          <p:cNvSpPr txBox="1"/>
          <p:nvPr/>
        </p:nvSpPr>
        <p:spPr>
          <a:xfrm>
            <a:off x="171450" y="2523053"/>
            <a:ext cx="11849100" cy="2092881"/>
          </a:xfrm>
          <a:prstGeom prst="rect">
            <a:avLst/>
          </a:prstGeom>
          <a:solidFill>
            <a:schemeClr val="bg1"/>
          </a:solidFill>
          <a:ln w="28575">
            <a:solidFill>
              <a:srgbClr val="941651"/>
            </a:solidFill>
          </a:ln>
        </p:spPr>
        <p:txBody>
          <a:bodyPr wrap="square">
            <a:spAutoFit/>
          </a:bodyPr>
          <a:lstStyle/>
          <a:p>
            <a:pPr algn="l"/>
            <a:r>
              <a:rPr lang="en-IN" sz="2600" b="0" i="0" u="none" strike="noStrike" dirty="0">
                <a:solidFill>
                  <a:srgbClr val="002060"/>
                </a:solidFill>
                <a:effectLst/>
                <a:latin typeface="Times New Roman" panose="02020603050405020304" pitchFamily="18" charset="0"/>
                <a:cs typeface="Times New Roman" panose="02020603050405020304" pitchFamily="18" charset="0"/>
              </a:rPr>
              <a:t>In the sol–gel process, metal alkoxides, metal nitrates, or acetates are used as precursors. For ferrites, typically metal nitrates are chosen due to their high solubility in water. For example, to synthesize cobalt ferrite (CoFe</a:t>
            </a:r>
            <a:r>
              <a:rPr lang="en-IN" sz="2600" b="0" i="0" u="none" strike="noStrike" baseline="-25000" dirty="0">
                <a:solidFill>
                  <a:srgbClr val="002060"/>
                </a:solidFill>
                <a:effectLst/>
                <a:latin typeface="Times New Roman" panose="02020603050405020304" pitchFamily="18" charset="0"/>
                <a:cs typeface="Times New Roman" panose="02020603050405020304" pitchFamily="18" charset="0"/>
              </a:rPr>
              <a:t>2</a:t>
            </a:r>
            <a:r>
              <a:rPr lang="en-IN" sz="2600" b="0" i="0" u="none" strike="noStrike" dirty="0">
                <a:solidFill>
                  <a:srgbClr val="002060"/>
                </a:solidFill>
                <a:effectLst/>
                <a:latin typeface="Times New Roman" panose="02020603050405020304" pitchFamily="18" charset="0"/>
                <a:cs typeface="Times New Roman" panose="02020603050405020304" pitchFamily="18" charset="0"/>
              </a:rPr>
              <a:t>O</a:t>
            </a:r>
            <a:r>
              <a:rPr lang="en-IN" sz="2600" b="0" i="0" u="none" strike="noStrike" baseline="-25000" dirty="0">
                <a:solidFill>
                  <a:srgbClr val="002060"/>
                </a:solidFill>
                <a:effectLst/>
                <a:latin typeface="Times New Roman" panose="02020603050405020304" pitchFamily="18" charset="0"/>
                <a:cs typeface="Times New Roman" panose="02020603050405020304" pitchFamily="18" charset="0"/>
              </a:rPr>
              <a:t>4</a:t>
            </a:r>
            <a:r>
              <a:rPr lang="en-IN" sz="2600" b="0" i="0" u="none" strike="noStrike" dirty="0">
                <a:solidFill>
                  <a:srgbClr val="002060"/>
                </a:solidFill>
                <a:effectLst/>
                <a:latin typeface="Times New Roman" panose="02020603050405020304" pitchFamily="18" charset="0"/>
                <a:cs typeface="Times New Roman" panose="02020603050405020304" pitchFamily="18" charset="0"/>
              </a:rPr>
              <a:t>​), cobalt nitrate [Co(NO₃)₂·6H₂O] and ferric nitrate [Fe(NO₃)₃·9H₂O] are taken in the stoichiometric molar ratio of 1:2.</a:t>
            </a:r>
          </a:p>
        </p:txBody>
      </p:sp>
      <p:sp>
        <p:nvSpPr>
          <p:cNvPr id="9" name="TextBox 8">
            <a:extLst>
              <a:ext uri="{FF2B5EF4-FFF2-40B4-BE49-F238E27FC236}">
                <a16:creationId xmlns="" xmlns:a16="http://schemas.microsoft.com/office/drawing/2014/main" id="{8EB9B073-CBB9-9E2D-52A8-196A259B7F9F}"/>
              </a:ext>
            </a:extLst>
          </p:cNvPr>
          <p:cNvSpPr txBox="1"/>
          <p:nvPr/>
        </p:nvSpPr>
        <p:spPr>
          <a:xfrm>
            <a:off x="171450" y="4696698"/>
            <a:ext cx="11849100" cy="2092881"/>
          </a:xfrm>
          <a:prstGeom prst="rect">
            <a:avLst/>
          </a:prstGeom>
          <a:solidFill>
            <a:schemeClr val="bg1"/>
          </a:solidFill>
          <a:ln w="38100">
            <a:solidFill>
              <a:srgbClr val="941651"/>
            </a:solidFill>
          </a:ln>
        </p:spPr>
        <p:txBody>
          <a:bodyPr wrap="square">
            <a:spAutoFit/>
          </a:bodyPr>
          <a:lstStyle/>
          <a:p>
            <a:r>
              <a:rPr lang="en-IN" sz="2600" b="1" dirty="0">
                <a:solidFill>
                  <a:srgbClr val="002060"/>
                </a:solidFill>
                <a:latin typeface="Times New Roman" panose="02020603050405020304" pitchFamily="18" charset="0"/>
                <a:cs typeface="Times New Roman" panose="02020603050405020304" pitchFamily="18" charset="0"/>
              </a:rPr>
              <a:t>Preparation of Solution (Sol Formation): </a:t>
            </a:r>
            <a:r>
              <a:rPr lang="en-IN" sz="2600" dirty="0">
                <a:solidFill>
                  <a:srgbClr val="002060"/>
                </a:solidFill>
                <a:latin typeface="Times New Roman" panose="02020603050405020304" pitchFamily="18" charset="0"/>
                <a:cs typeface="Times New Roman" panose="02020603050405020304" pitchFamily="18" charset="0"/>
              </a:rPr>
              <a:t>The required amounts of metal salts are dissolved in distilled water. A chelating agent such as citric acid or ethylene glycol is added to control hydrolysis and to ensure uniform mixing of cations. The solution is continuously stirred, and the pH is adjusted (usually around 7) using ammonia or another base to promote gel formation.</a:t>
            </a:r>
          </a:p>
        </p:txBody>
      </p:sp>
    </p:spTree>
    <p:extLst>
      <p:ext uri="{BB962C8B-B14F-4D97-AF65-F5344CB8AC3E}">
        <p14:creationId xmlns:p14="http://schemas.microsoft.com/office/powerpoint/2010/main" val="36103327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4BD8F6BE-C7A2-FB30-8F4D-78C8E9728F4A}"/>
              </a:ext>
            </a:extLst>
          </p:cNvPr>
          <p:cNvSpPr txBox="1"/>
          <p:nvPr/>
        </p:nvSpPr>
        <p:spPr>
          <a:xfrm>
            <a:off x="127000" y="140843"/>
            <a:ext cx="11798300" cy="1261884"/>
          </a:xfrm>
          <a:prstGeom prst="rect">
            <a:avLst/>
          </a:prstGeom>
          <a:solidFill>
            <a:schemeClr val="bg1"/>
          </a:solidFill>
          <a:ln w="38100">
            <a:solidFill>
              <a:srgbClr val="941651"/>
            </a:solidFill>
          </a:ln>
        </p:spPr>
        <p:txBody>
          <a:bodyPr wrap="square">
            <a:spAutoFit/>
          </a:bodyPr>
          <a:lstStyle/>
          <a:p>
            <a:r>
              <a:rPr lang="en-IN" sz="2800" b="1" dirty="0">
                <a:solidFill>
                  <a:srgbClr val="002060"/>
                </a:solidFill>
                <a:latin typeface="Times New Roman" panose="02020603050405020304" pitchFamily="18" charset="0"/>
                <a:cs typeface="Times New Roman" panose="02020603050405020304" pitchFamily="18" charset="0"/>
              </a:rPr>
              <a:t>Gel Formation: </a:t>
            </a:r>
            <a:r>
              <a:rPr lang="en-IN" sz="2400" dirty="0">
                <a:solidFill>
                  <a:srgbClr val="002060"/>
                </a:solidFill>
                <a:latin typeface="Times New Roman" panose="02020603050405020304" pitchFamily="18" charset="0"/>
                <a:cs typeface="Times New Roman" panose="02020603050405020304" pitchFamily="18" charset="0"/>
              </a:rPr>
              <a:t>On heating (≈ 70–90 °C), water gradually evaporates, and the solution transforms into a viscous gel through hydrolysis and polycondensation reactions. The chelating agent ensures homogeneous distribution of cations within the gel network.</a:t>
            </a:r>
          </a:p>
        </p:txBody>
      </p:sp>
      <p:sp>
        <p:nvSpPr>
          <p:cNvPr id="12" name="TextBox 11">
            <a:extLst>
              <a:ext uri="{FF2B5EF4-FFF2-40B4-BE49-F238E27FC236}">
                <a16:creationId xmlns="" xmlns:a16="http://schemas.microsoft.com/office/drawing/2014/main" id="{B88A3B16-143E-065F-CA55-4D6893299934}"/>
              </a:ext>
            </a:extLst>
          </p:cNvPr>
          <p:cNvSpPr txBox="1"/>
          <p:nvPr/>
        </p:nvSpPr>
        <p:spPr>
          <a:xfrm>
            <a:off x="196850" y="5493678"/>
            <a:ext cx="11798300" cy="1200329"/>
          </a:xfrm>
          <a:prstGeom prst="rect">
            <a:avLst/>
          </a:prstGeom>
          <a:solidFill>
            <a:schemeClr val="bg1"/>
          </a:solidFill>
          <a:ln w="38100">
            <a:solidFill>
              <a:srgbClr val="941651"/>
            </a:solidFill>
          </a:ln>
        </p:spPr>
        <p:txBody>
          <a:bodyPr wrap="square">
            <a:spAutoFit/>
          </a:bodyPr>
          <a:lstStyle/>
          <a:p>
            <a:r>
              <a:rPr lang="en-IN" sz="2400" b="1" dirty="0">
                <a:solidFill>
                  <a:srgbClr val="002060"/>
                </a:solidFill>
                <a:latin typeface="Times New Roman" panose="02020603050405020304" pitchFamily="18" charset="0"/>
                <a:cs typeface="Times New Roman" panose="02020603050405020304" pitchFamily="18" charset="0"/>
              </a:rPr>
              <a:t>Drying and Decomposition: </a:t>
            </a:r>
            <a:r>
              <a:rPr lang="en-IN" sz="2400" dirty="0">
                <a:solidFill>
                  <a:srgbClr val="002060"/>
                </a:solidFill>
                <a:latin typeface="Times New Roman" panose="02020603050405020304" pitchFamily="18" charset="0"/>
                <a:cs typeface="Times New Roman" panose="02020603050405020304" pitchFamily="18" charset="0"/>
              </a:rPr>
              <a:t>The gel is dried to remove excess solvents, leading to a xerogel. On further heating, the organic components (citric acid/ethylene glycol) decompose, releasing gases (NO₂, CO₂, H₂O), and a porous powder is obtained.</a:t>
            </a:r>
          </a:p>
        </p:txBody>
      </p:sp>
      <p:pic>
        <p:nvPicPr>
          <p:cNvPr id="2" name="Picture 1" descr="A diagram of a scientific experiment&#10;&#10;Description automatically generated">
            <a:extLst>
              <a:ext uri="{FF2B5EF4-FFF2-40B4-BE49-F238E27FC236}">
                <a16:creationId xmlns="" xmlns:a16="http://schemas.microsoft.com/office/drawing/2014/main" id="{E33778FC-109B-E4AB-EC1B-55A11274B2B7}"/>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contrast="20000"/>
                    </a14:imgEffect>
                  </a14:imgLayer>
                </a14:imgProps>
              </a:ext>
            </a:extLst>
          </a:blip>
          <a:stretch>
            <a:fillRect/>
          </a:stretch>
        </p:blipFill>
        <p:spPr>
          <a:xfrm>
            <a:off x="2893671" y="1468010"/>
            <a:ext cx="6792089" cy="3921980"/>
          </a:xfrm>
          <a:prstGeom prst="rect">
            <a:avLst/>
          </a:prstGeom>
          <a:ln w="28575">
            <a:solidFill>
              <a:srgbClr val="941651"/>
            </a:solidFill>
          </a:ln>
        </p:spPr>
      </p:pic>
    </p:spTree>
    <p:extLst>
      <p:ext uri="{BB962C8B-B14F-4D97-AF65-F5344CB8AC3E}">
        <p14:creationId xmlns:p14="http://schemas.microsoft.com/office/powerpoint/2010/main" val="4196150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E36B740C-88AD-E585-AF68-475D9D8837E0}"/>
              </a:ext>
            </a:extLst>
          </p:cNvPr>
          <p:cNvSpPr txBox="1"/>
          <p:nvPr/>
        </p:nvSpPr>
        <p:spPr>
          <a:xfrm>
            <a:off x="82550" y="2475159"/>
            <a:ext cx="12026900" cy="2092881"/>
          </a:xfrm>
          <a:prstGeom prst="rect">
            <a:avLst/>
          </a:prstGeom>
          <a:solidFill>
            <a:schemeClr val="bg1"/>
          </a:solidFill>
          <a:ln w="28575">
            <a:solidFill>
              <a:srgbClr val="941651"/>
            </a:solidFill>
          </a:ln>
        </p:spPr>
        <p:txBody>
          <a:bodyPr wrap="square">
            <a:spAutoFit/>
          </a:bodyPr>
          <a:lstStyle/>
          <a:p>
            <a:r>
              <a:rPr lang="en-IN" sz="2600" b="1" dirty="0">
                <a:solidFill>
                  <a:srgbClr val="002060"/>
                </a:solidFill>
                <a:latin typeface="Times New Roman" panose="02020603050405020304" pitchFamily="18" charset="0"/>
                <a:cs typeface="Times New Roman" panose="02020603050405020304" pitchFamily="18" charset="0"/>
              </a:rPr>
              <a:t>Formation of Ferrimagnetic Phase:</a:t>
            </a:r>
            <a:r>
              <a:rPr lang="en-IN" sz="2600" dirty="0">
                <a:solidFill>
                  <a:srgbClr val="002060"/>
                </a:solidFill>
                <a:latin typeface="Times New Roman" panose="02020603050405020304" pitchFamily="18" charset="0"/>
                <a:cs typeface="Times New Roman" panose="02020603050405020304" pitchFamily="18" charset="0"/>
              </a:rPr>
              <a:t/>
            </a:r>
            <a:br>
              <a:rPr lang="en-IN" sz="2600" dirty="0">
                <a:solidFill>
                  <a:srgbClr val="002060"/>
                </a:solidFill>
                <a:latin typeface="Times New Roman" panose="02020603050405020304" pitchFamily="18" charset="0"/>
                <a:cs typeface="Times New Roman" panose="02020603050405020304" pitchFamily="18" charset="0"/>
              </a:rPr>
            </a:br>
            <a:r>
              <a:rPr lang="en-IN" sz="2600" dirty="0">
                <a:solidFill>
                  <a:srgbClr val="002060"/>
                </a:solidFill>
                <a:latin typeface="Times New Roman" panose="02020603050405020304" pitchFamily="18" charset="0"/>
                <a:cs typeface="Times New Roman" panose="02020603050405020304" pitchFamily="18" charset="0"/>
              </a:rPr>
              <a:t>After calcination, the material typically exhibits a well-defined spinel structure (AB2O4​), where divalent cations occupy tetrahedral (A) sites and trivalent Fe³⁺ ions are distributed between tetrahedral and octahedral (B) sites. The unequal distribution of magnetic moments between A and B sublattices results in ferrimagnetism.</a:t>
            </a:r>
          </a:p>
        </p:txBody>
      </p:sp>
      <p:sp>
        <p:nvSpPr>
          <p:cNvPr id="7" name="TextBox 6">
            <a:extLst>
              <a:ext uri="{FF2B5EF4-FFF2-40B4-BE49-F238E27FC236}">
                <a16:creationId xmlns="" xmlns:a16="http://schemas.microsoft.com/office/drawing/2014/main" id="{A015C59F-9DF7-7021-C469-C4A94BC43C02}"/>
              </a:ext>
            </a:extLst>
          </p:cNvPr>
          <p:cNvSpPr txBox="1"/>
          <p:nvPr/>
        </p:nvSpPr>
        <p:spPr>
          <a:xfrm>
            <a:off x="82550" y="4615383"/>
            <a:ext cx="12026900" cy="2092881"/>
          </a:xfrm>
          <a:prstGeom prst="rect">
            <a:avLst/>
          </a:prstGeom>
          <a:solidFill>
            <a:schemeClr val="bg1"/>
          </a:solidFill>
          <a:ln w="28575">
            <a:solidFill>
              <a:srgbClr val="941651"/>
            </a:solidFill>
          </a:ln>
        </p:spPr>
        <p:txBody>
          <a:bodyPr wrap="square">
            <a:spAutoFit/>
          </a:bodyPr>
          <a:lstStyle/>
          <a:p>
            <a:pPr algn="l"/>
            <a:r>
              <a:rPr lang="en-IN" sz="2600" b="1" i="0" u="none" strike="noStrike" dirty="0">
                <a:solidFill>
                  <a:srgbClr val="002060"/>
                </a:solidFill>
                <a:effectLst/>
                <a:latin typeface="Times New Roman" panose="02020603050405020304" pitchFamily="18" charset="0"/>
                <a:cs typeface="Times New Roman" panose="02020603050405020304" pitchFamily="18" charset="0"/>
              </a:rPr>
              <a:t>Advantages of Sol–Gel Method</a:t>
            </a:r>
          </a:p>
          <a:p>
            <a:pPr marL="342900" indent="-342900" algn="l">
              <a:buFont typeface="Arial" panose="020B0604020202020204" pitchFamily="34" charset="0"/>
              <a:buChar char="•"/>
            </a:pPr>
            <a:r>
              <a:rPr lang="en-IN" sz="2600" b="0" i="0" u="none" strike="noStrike" dirty="0">
                <a:solidFill>
                  <a:srgbClr val="002060"/>
                </a:solidFill>
                <a:effectLst/>
                <a:latin typeface="Times New Roman" panose="02020603050405020304" pitchFamily="18" charset="0"/>
                <a:cs typeface="Times New Roman" panose="02020603050405020304" pitchFamily="18" charset="0"/>
              </a:rPr>
              <a:t>Produces highly homogeneous and fine powders.</a:t>
            </a:r>
          </a:p>
          <a:p>
            <a:pPr marL="342900" indent="-342900" algn="l">
              <a:buFont typeface="Arial" panose="020B0604020202020204" pitchFamily="34" charset="0"/>
              <a:buChar char="•"/>
            </a:pPr>
            <a:r>
              <a:rPr lang="en-IN" sz="2600" b="0" i="0" u="none" strike="noStrike" dirty="0">
                <a:solidFill>
                  <a:srgbClr val="002060"/>
                </a:solidFill>
                <a:effectLst/>
                <a:latin typeface="Times New Roman" panose="02020603050405020304" pitchFamily="18" charset="0"/>
                <a:cs typeface="Times New Roman" panose="02020603050405020304" pitchFamily="18" charset="0"/>
              </a:rPr>
              <a:t>Lower synthesis temperatures compared to solid-state methods.</a:t>
            </a:r>
          </a:p>
          <a:p>
            <a:pPr marL="342900" indent="-342900" algn="l">
              <a:buFont typeface="Arial" panose="020B0604020202020204" pitchFamily="34" charset="0"/>
              <a:buChar char="•"/>
            </a:pPr>
            <a:r>
              <a:rPr lang="en-IN" sz="2600" b="0" i="0" u="none" strike="noStrike" dirty="0">
                <a:solidFill>
                  <a:srgbClr val="002060"/>
                </a:solidFill>
                <a:effectLst/>
                <a:latin typeface="Times New Roman" panose="02020603050405020304" pitchFamily="18" charset="0"/>
                <a:cs typeface="Times New Roman" panose="02020603050405020304" pitchFamily="18" charset="0"/>
              </a:rPr>
              <a:t>Better control over particle size, morphology, and stoichiometry.</a:t>
            </a:r>
          </a:p>
          <a:p>
            <a:pPr marL="342900" indent="-342900" algn="l">
              <a:buFont typeface="Arial" panose="020B0604020202020204" pitchFamily="34" charset="0"/>
              <a:buChar char="•"/>
            </a:pPr>
            <a:r>
              <a:rPr lang="en-IN" sz="2600" b="0" i="0" u="none" strike="noStrike" dirty="0">
                <a:solidFill>
                  <a:srgbClr val="002060"/>
                </a:solidFill>
                <a:effectLst/>
                <a:latin typeface="Times New Roman" panose="02020603050405020304" pitchFamily="18" charset="0"/>
                <a:cs typeface="Times New Roman" panose="02020603050405020304" pitchFamily="18" charset="0"/>
              </a:rPr>
              <a:t>Suitable for coating applications (thin films) as well as bulk powders.</a:t>
            </a:r>
          </a:p>
        </p:txBody>
      </p:sp>
      <p:sp>
        <p:nvSpPr>
          <p:cNvPr id="5" name="TextBox 4">
            <a:extLst>
              <a:ext uri="{FF2B5EF4-FFF2-40B4-BE49-F238E27FC236}">
                <a16:creationId xmlns="" xmlns:a16="http://schemas.microsoft.com/office/drawing/2014/main" id="{D6DC0C20-785E-CFA3-CA25-93D41699D880}"/>
              </a:ext>
            </a:extLst>
          </p:cNvPr>
          <p:cNvSpPr txBox="1"/>
          <p:nvPr/>
        </p:nvSpPr>
        <p:spPr>
          <a:xfrm>
            <a:off x="82550" y="159737"/>
            <a:ext cx="12026900" cy="2246769"/>
          </a:xfrm>
          <a:prstGeom prst="rect">
            <a:avLst/>
          </a:prstGeom>
          <a:solidFill>
            <a:schemeClr val="bg1"/>
          </a:solidFill>
          <a:ln w="28575">
            <a:solidFill>
              <a:srgbClr val="941651"/>
            </a:solidFill>
          </a:ln>
        </p:spPr>
        <p:txBody>
          <a:bodyPr wrap="square">
            <a:spAutoFit/>
          </a:bodyPr>
          <a:lstStyle/>
          <a:p>
            <a:r>
              <a:rPr lang="en-IN" sz="2800" b="1" dirty="0">
                <a:solidFill>
                  <a:srgbClr val="002060"/>
                </a:solidFill>
                <a:latin typeface="Times New Roman" panose="02020603050405020304" pitchFamily="18" charset="0"/>
                <a:cs typeface="Times New Roman" panose="02020603050405020304" pitchFamily="18" charset="0"/>
              </a:rPr>
              <a:t>Calcination: </a:t>
            </a:r>
          </a:p>
          <a:p>
            <a:r>
              <a:rPr lang="en-IN" sz="2800" dirty="0">
                <a:solidFill>
                  <a:srgbClr val="002060"/>
                </a:solidFill>
                <a:latin typeface="Times New Roman" panose="02020603050405020304" pitchFamily="18" charset="0"/>
                <a:cs typeface="Times New Roman" panose="02020603050405020304" pitchFamily="18" charset="0"/>
              </a:rPr>
              <a:t>The dried precursor powder is calcined at moderate temperatures (≈ 400–800 °C). This step promotes crystallization of the ferrite phase and removes any remaining organic matter. The calcination temperature and time directly affect crystallite size, surface area, and magnetic properties.</a:t>
            </a:r>
          </a:p>
        </p:txBody>
      </p:sp>
    </p:spTree>
    <p:extLst>
      <p:ext uri="{BB962C8B-B14F-4D97-AF65-F5344CB8AC3E}">
        <p14:creationId xmlns:p14="http://schemas.microsoft.com/office/powerpoint/2010/main" val="13298887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5FB71138-AA5B-319C-4674-4F6A49EF82D0}"/>
              </a:ext>
            </a:extLst>
          </p:cNvPr>
          <p:cNvSpPr txBox="1"/>
          <p:nvPr/>
        </p:nvSpPr>
        <p:spPr>
          <a:xfrm>
            <a:off x="158750" y="158363"/>
            <a:ext cx="11874500" cy="523220"/>
          </a:xfrm>
          <a:prstGeom prst="rect">
            <a:avLst/>
          </a:prstGeom>
          <a:solidFill>
            <a:schemeClr val="bg1"/>
          </a:solidFill>
          <a:ln w="28575">
            <a:solidFill>
              <a:srgbClr val="941651"/>
            </a:solidFill>
          </a:ln>
        </p:spPr>
        <p:txBody>
          <a:bodyPr wrap="square">
            <a:spAutoFit/>
          </a:bodyPr>
          <a:lstStyle/>
          <a:p>
            <a:pPr algn="l"/>
            <a:r>
              <a:rPr lang="en-IN" sz="2800" b="1" i="0" u="none" strike="noStrike">
                <a:solidFill>
                  <a:srgbClr val="941651"/>
                </a:solidFill>
                <a:effectLst/>
                <a:latin typeface="Times New Roman" panose="02020603050405020304" pitchFamily="18" charset="0"/>
                <a:cs typeface="Times New Roman" panose="02020603050405020304" pitchFamily="18" charset="0"/>
              </a:rPr>
              <a:t>Magnetic Hyperthermia for Cancer Treatment</a:t>
            </a:r>
            <a:endParaRPr lang="en-IN" sz="2800" b="1" i="0" u="none" strike="noStrike" dirty="0">
              <a:solidFill>
                <a:srgbClr val="941651"/>
              </a:solidFill>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 xmlns:a16="http://schemas.microsoft.com/office/drawing/2014/main" id="{C0EB217B-62B8-2404-FF12-095544B8CC80}"/>
              </a:ext>
            </a:extLst>
          </p:cNvPr>
          <p:cNvSpPr txBox="1"/>
          <p:nvPr/>
        </p:nvSpPr>
        <p:spPr>
          <a:xfrm>
            <a:off x="158750" y="786537"/>
            <a:ext cx="11874500" cy="2092881"/>
          </a:xfrm>
          <a:prstGeom prst="rect">
            <a:avLst/>
          </a:prstGeom>
          <a:solidFill>
            <a:schemeClr val="bg1"/>
          </a:solidFill>
          <a:ln w="28575">
            <a:solidFill>
              <a:srgbClr val="941651"/>
            </a:solidFill>
          </a:ln>
        </p:spPr>
        <p:txBody>
          <a:bodyPr wrap="square">
            <a:spAutoFit/>
          </a:bodyPr>
          <a:lstStyle/>
          <a:p>
            <a:pPr algn="l"/>
            <a:r>
              <a:rPr lang="en-IN" sz="2600" b="1" i="0" u="none" strike="noStrike">
                <a:solidFill>
                  <a:srgbClr val="002060"/>
                </a:solidFill>
                <a:effectLst/>
                <a:latin typeface="Times New Roman" panose="02020603050405020304" pitchFamily="18" charset="0"/>
                <a:cs typeface="Times New Roman" panose="02020603050405020304" pitchFamily="18" charset="0"/>
              </a:rPr>
              <a:t>Introduction</a:t>
            </a:r>
          </a:p>
          <a:p>
            <a:pPr algn="l"/>
            <a:r>
              <a:rPr lang="en-IN" sz="2600" b="0" i="0" u="none" strike="noStrike">
                <a:solidFill>
                  <a:srgbClr val="002060"/>
                </a:solidFill>
                <a:effectLst/>
                <a:latin typeface="Times New Roman" panose="02020603050405020304" pitchFamily="18" charset="0"/>
                <a:cs typeface="Times New Roman" panose="02020603050405020304" pitchFamily="18" charset="0"/>
              </a:rPr>
              <a:t>Magnetic hyperthermia is a promising cancer therapy that utilizes </a:t>
            </a:r>
            <a:r>
              <a:rPr lang="en-IN" sz="2600" b="1" i="0" u="none" strike="noStrike">
                <a:solidFill>
                  <a:srgbClr val="002060"/>
                </a:solidFill>
                <a:effectLst/>
                <a:latin typeface="Times New Roman" panose="02020603050405020304" pitchFamily="18" charset="0"/>
                <a:cs typeface="Times New Roman" panose="02020603050405020304" pitchFamily="18" charset="0"/>
              </a:rPr>
              <a:t>magnetic nanoparticles (MNPs)</a:t>
            </a:r>
            <a:r>
              <a:rPr lang="en-IN" sz="2600" b="0" i="0" u="none" strike="noStrike">
                <a:solidFill>
                  <a:srgbClr val="002060"/>
                </a:solidFill>
                <a:effectLst/>
                <a:latin typeface="Times New Roman" panose="02020603050405020304" pitchFamily="18" charset="0"/>
                <a:cs typeface="Times New Roman" panose="02020603050405020304" pitchFamily="18" charset="0"/>
              </a:rPr>
              <a:t> to generate localized heat when exposed to an </a:t>
            </a:r>
            <a:r>
              <a:rPr lang="en-IN" sz="2600" b="1" i="0" u="none" strike="noStrike">
                <a:solidFill>
                  <a:srgbClr val="002060"/>
                </a:solidFill>
                <a:effectLst/>
                <a:latin typeface="Times New Roman" panose="02020603050405020304" pitchFamily="18" charset="0"/>
                <a:cs typeface="Times New Roman" panose="02020603050405020304" pitchFamily="18" charset="0"/>
              </a:rPr>
              <a:t>alternating magnetic field (AMF)</a:t>
            </a:r>
            <a:r>
              <a:rPr lang="en-IN" sz="2600" b="0" i="0" u="none" strike="noStrike">
                <a:solidFill>
                  <a:srgbClr val="002060"/>
                </a:solidFill>
                <a:effectLst/>
                <a:latin typeface="Times New Roman" panose="02020603050405020304" pitchFamily="18" charset="0"/>
                <a:cs typeface="Times New Roman" panose="02020603050405020304" pitchFamily="18" charset="0"/>
              </a:rPr>
              <a:t>. The temperature in tumor tissues is raised to </a:t>
            </a:r>
            <a:r>
              <a:rPr lang="en-IN" sz="2600" b="1" i="0" u="none" strike="noStrike">
                <a:solidFill>
                  <a:srgbClr val="002060"/>
                </a:solidFill>
                <a:effectLst/>
                <a:latin typeface="Times New Roman" panose="02020603050405020304" pitchFamily="18" charset="0"/>
                <a:cs typeface="Times New Roman" panose="02020603050405020304" pitchFamily="18" charset="0"/>
              </a:rPr>
              <a:t>42–46 °C</a:t>
            </a:r>
            <a:r>
              <a:rPr lang="en-IN" sz="2600" b="0" i="0" u="none" strike="noStrike">
                <a:solidFill>
                  <a:srgbClr val="002060"/>
                </a:solidFill>
                <a:effectLst/>
                <a:latin typeface="Times New Roman" panose="02020603050405020304" pitchFamily="18" charset="0"/>
                <a:cs typeface="Times New Roman" panose="02020603050405020304" pitchFamily="18" charset="0"/>
              </a:rPr>
              <a:t>, which damages or kills cancer cells while sparing healthy tissue.</a:t>
            </a:r>
            <a:endParaRPr lang="en-IN" sz="2600" b="0" i="0" u="none" strike="noStrike" dirty="0">
              <a:solidFill>
                <a:srgbClr val="002060"/>
              </a:solidFill>
              <a:effectLst/>
              <a:latin typeface="Times New Roman" panose="02020603050405020304" pitchFamily="18" charset="0"/>
              <a:cs typeface="Times New Roman" panose="02020603050405020304" pitchFamily="18" charset="0"/>
            </a:endParaRPr>
          </a:p>
        </p:txBody>
      </p:sp>
      <p:pic>
        <p:nvPicPr>
          <p:cNvPr id="7" name="Picture 6" descr="A diagram of a brain&#10;&#10;Description automatically generated">
            <a:extLst>
              <a:ext uri="{FF2B5EF4-FFF2-40B4-BE49-F238E27FC236}">
                <a16:creationId xmlns="" xmlns:a16="http://schemas.microsoft.com/office/drawing/2014/main" id="{AB23796B-C3B8-E01D-CF39-E4F2A8EBBDC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contrast="20000"/>
                    </a14:imgEffect>
                  </a14:imgLayer>
                </a14:imgProps>
              </a:ext>
            </a:extLst>
          </a:blip>
          <a:stretch>
            <a:fillRect/>
          </a:stretch>
        </p:blipFill>
        <p:spPr>
          <a:xfrm>
            <a:off x="2019300" y="2984372"/>
            <a:ext cx="7264400" cy="3683000"/>
          </a:xfrm>
          <a:prstGeom prst="rect">
            <a:avLst/>
          </a:prstGeom>
        </p:spPr>
      </p:pic>
    </p:spTree>
    <p:extLst>
      <p:ext uri="{BB962C8B-B14F-4D97-AF65-F5344CB8AC3E}">
        <p14:creationId xmlns:p14="http://schemas.microsoft.com/office/powerpoint/2010/main" val="38528728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F22B197D-390B-0143-BA30-9085645EEDDA}"/>
              </a:ext>
            </a:extLst>
          </p:cNvPr>
          <p:cNvSpPr txBox="1"/>
          <p:nvPr/>
        </p:nvSpPr>
        <p:spPr>
          <a:xfrm>
            <a:off x="158750" y="135791"/>
            <a:ext cx="11874500" cy="3293209"/>
          </a:xfrm>
          <a:prstGeom prst="rect">
            <a:avLst/>
          </a:prstGeom>
          <a:solidFill>
            <a:schemeClr val="bg1"/>
          </a:solidFill>
          <a:ln w="28575">
            <a:solidFill>
              <a:srgbClr val="941651"/>
            </a:solidFill>
          </a:ln>
        </p:spPr>
        <p:txBody>
          <a:bodyPr wrap="square">
            <a:spAutoFit/>
          </a:bodyPr>
          <a:lstStyle/>
          <a:p>
            <a:pPr algn="l"/>
            <a:r>
              <a:rPr lang="en-IN" sz="2600" b="1" i="0" u="none" strike="noStrike" dirty="0">
                <a:solidFill>
                  <a:srgbClr val="002060"/>
                </a:solidFill>
                <a:effectLst/>
                <a:latin typeface="Times New Roman" panose="02020603050405020304" pitchFamily="18" charset="0"/>
                <a:cs typeface="Times New Roman" panose="02020603050405020304" pitchFamily="18" charset="0"/>
              </a:rPr>
              <a:t>Principle</a:t>
            </a:r>
          </a:p>
          <a:p>
            <a:pPr marL="457200" indent="-457200" algn="l">
              <a:buFont typeface="Arial" panose="020B0604020202020204" pitchFamily="34" charset="0"/>
              <a:buChar char="•"/>
            </a:pPr>
            <a:r>
              <a:rPr lang="en-IN" sz="2600" b="0" i="0" u="none" strike="noStrike" dirty="0">
                <a:solidFill>
                  <a:srgbClr val="002060"/>
                </a:solidFill>
                <a:effectLst/>
                <a:latin typeface="Times New Roman" panose="02020603050405020304" pitchFamily="18" charset="0"/>
                <a:cs typeface="Times New Roman" panose="02020603050405020304" pitchFamily="18" charset="0"/>
              </a:rPr>
              <a:t>Magnetic nanoparticles (such as </a:t>
            </a:r>
            <a:r>
              <a:rPr lang="en-IN" sz="2600" b="0" i="0" u="none" strike="noStrike" dirty="0" err="1">
                <a:solidFill>
                  <a:srgbClr val="002060"/>
                </a:solidFill>
                <a:effectLst/>
                <a:latin typeface="Times New Roman" panose="02020603050405020304" pitchFamily="18" charset="0"/>
                <a:cs typeface="Times New Roman" panose="02020603050405020304" pitchFamily="18" charset="0"/>
              </a:rPr>
              <a:t>Fe₃O</a:t>
            </a:r>
            <a:r>
              <a:rPr lang="en-IN" sz="2600" b="0" i="0" u="none" strike="noStrike" dirty="0">
                <a:solidFill>
                  <a:srgbClr val="002060"/>
                </a:solidFill>
                <a:effectLst/>
                <a:latin typeface="Times New Roman" panose="02020603050405020304" pitchFamily="18" charset="0"/>
                <a:cs typeface="Times New Roman" panose="02020603050405020304" pitchFamily="18" charset="0"/>
              </a:rPr>
              <a:t>₄, </a:t>
            </a:r>
            <a:r>
              <a:rPr lang="el-GR" sz="2600" b="0" i="0" u="none" strike="noStrike" dirty="0">
                <a:solidFill>
                  <a:srgbClr val="002060"/>
                </a:solidFill>
                <a:effectLst/>
                <a:latin typeface="Times New Roman" panose="02020603050405020304" pitchFamily="18" charset="0"/>
                <a:cs typeface="Times New Roman" panose="02020603050405020304" pitchFamily="18" charset="0"/>
              </a:rPr>
              <a:t>γ-</a:t>
            </a:r>
            <a:r>
              <a:rPr lang="en-IN" sz="2600" b="0" i="0" u="none" strike="noStrike" dirty="0" err="1">
                <a:solidFill>
                  <a:srgbClr val="002060"/>
                </a:solidFill>
                <a:effectLst/>
                <a:latin typeface="Times New Roman" panose="02020603050405020304" pitchFamily="18" charset="0"/>
                <a:cs typeface="Times New Roman" panose="02020603050405020304" pitchFamily="18" charset="0"/>
              </a:rPr>
              <a:t>Fe₂O</a:t>
            </a:r>
            <a:r>
              <a:rPr lang="en-IN" sz="2600" b="0" i="0" u="none" strike="noStrike" dirty="0">
                <a:solidFill>
                  <a:srgbClr val="002060"/>
                </a:solidFill>
                <a:effectLst/>
                <a:latin typeface="Times New Roman" panose="02020603050405020304" pitchFamily="18" charset="0"/>
                <a:cs typeface="Times New Roman" panose="02020603050405020304" pitchFamily="18" charset="0"/>
              </a:rPr>
              <a:t>₃, </a:t>
            </a:r>
            <a:r>
              <a:rPr lang="en-IN" sz="2600" b="0" i="0" u="none" strike="noStrike" dirty="0" err="1">
                <a:solidFill>
                  <a:srgbClr val="002060"/>
                </a:solidFill>
                <a:effectLst/>
                <a:latin typeface="Times New Roman" panose="02020603050405020304" pitchFamily="18" charset="0"/>
                <a:cs typeface="Times New Roman" panose="02020603050405020304" pitchFamily="18" charset="0"/>
              </a:rPr>
              <a:t>CoFe₂O</a:t>
            </a:r>
            <a:r>
              <a:rPr lang="en-IN" sz="2600" b="0" i="0" u="none" strike="noStrike" dirty="0">
                <a:solidFill>
                  <a:srgbClr val="002060"/>
                </a:solidFill>
                <a:effectLst/>
                <a:latin typeface="Times New Roman" panose="02020603050405020304" pitchFamily="18" charset="0"/>
                <a:cs typeface="Times New Roman" panose="02020603050405020304" pitchFamily="18" charset="0"/>
              </a:rPr>
              <a:t>₄, or doped ferrites) are injected or delivered to the </a:t>
            </a:r>
            <a:r>
              <a:rPr lang="en-IN" sz="2600" b="0" i="0" u="none" strike="noStrike" dirty="0" err="1">
                <a:solidFill>
                  <a:srgbClr val="002060"/>
                </a:solidFill>
                <a:effectLst/>
                <a:latin typeface="Times New Roman" panose="02020603050405020304" pitchFamily="18" charset="0"/>
                <a:cs typeface="Times New Roman" panose="02020603050405020304" pitchFamily="18" charset="0"/>
              </a:rPr>
              <a:t>tumor</a:t>
            </a:r>
            <a:r>
              <a:rPr lang="en-IN" sz="2600" b="0" i="0" u="none" strike="noStrike" dirty="0">
                <a:solidFill>
                  <a:srgbClr val="002060"/>
                </a:solidFill>
                <a:effectLst/>
                <a:latin typeface="Times New Roman" panose="02020603050405020304" pitchFamily="18" charset="0"/>
                <a:cs typeface="Times New Roman" panose="02020603050405020304" pitchFamily="18" charset="0"/>
              </a:rPr>
              <a:t> site.</a:t>
            </a:r>
          </a:p>
          <a:p>
            <a:pPr marL="457200" indent="-457200" algn="l">
              <a:buFont typeface="Arial" panose="020B0604020202020204" pitchFamily="34" charset="0"/>
              <a:buChar char="•"/>
            </a:pPr>
            <a:r>
              <a:rPr lang="en-IN" sz="2600" b="0" i="0" u="none" strike="noStrike" dirty="0">
                <a:solidFill>
                  <a:srgbClr val="002060"/>
                </a:solidFill>
                <a:effectLst/>
                <a:latin typeface="Times New Roman" panose="02020603050405020304" pitchFamily="18" charset="0"/>
                <a:cs typeface="Times New Roman" panose="02020603050405020304" pitchFamily="18" charset="0"/>
              </a:rPr>
              <a:t>When exposed to an alternating magnetic field (100–500 kHz), these nanoparticles dissipate energy as heat.</a:t>
            </a:r>
          </a:p>
          <a:p>
            <a:pPr marL="457200" indent="-457200" algn="l">
              <a:buFont typeface="Arial" panose="020B0604020202020204" pitchFamily="34" charset="0"/>
              <a:buChar char="•"/>
            </a:pPr>
            <a:r>
              <a:rPr lang="en-IN" sz="2600" b="0" i="0" u="none" strike="noStrike" dirty="0">
                <a:solidFill>
                  <a:srgbClr val="002060"/>
                </a:solidFill>
                <a:effectLst/>
                <a:latin typeface="Times New Roman" panose="02020603050405020304" pitchFamily="18" charset="0"/>
                <a:cs typeface="Times New Roman" panose="02020603050405020304" pitchFamily="18" charset="0"/>
              </a:rPr>
              <a:t>Cancer cells are more sensitive to heat compared to normal cells; thus, hyperthermia induces apoptosis (programmed cell death) or necrosis in </a:t>
            </a:r>
            <a:r>
              <a:rPr lang="en-IN" sz="2600" b="0" i="0" u="none" strike="noStrike" dirty="0" err="1">
                <a:solidFill>
                  <a:srgbClr val="002060"/>
                </a:solidFill>
                <a:effectLst/>
                <a:latin typeface="Times New Roman" panose="02020603050405020304" pitchFamily="18" charset="0"/>
                <a:cs typeface="Times New Roman" panose="02020603050405020304" pitchFamily="18" charset="0"/>
              </a:rPr>
              <a:t>tumor</a:t>
            </a:r>
            <a:r>
              <a:rPr lang="en-IN" sz="2600" b="0" i="0" u="none" strike="noStrike" dirty="0">
                <a:solidFill>
                  <a:srgbClr val="002060"/>
                </a:solidFill>
                <a:effectLst/>
                <a:latin typeface="Times New Roman" panose="02020603050405020304" pitchFamily="18" charset="0"/>
                <a:cs typeface="Times New Roman" panose="02020603050405020304" pitchFamily="18" charset="0"/>
              </a:rPr>
              <a:t> tissue.</a:t>
            </a:r>
          </a:p>
          <a:p>
            <a:pPr marL="457200" indent="-457200" algn="l">
              <a:buFont typeface="Arial" panose="020B0604020202020204" pitchFamily="34" charset="0"/>
              <a:buChar char="•"/>
            </a:pPr>
            <a:r>
              <a:rPr lang="en-IN" sz="2600" b="0" i="0" u="none" strike="noStrike" dirty="0">
                <a:solidFill>
                  <a:srgbClr val="002060"/>
                </a:solidFill>
                <a:effectLst/>
                <a:latin typeface="Times New Roman" panose="02020603050405020304" pitchFamily="18" charset="0"/>
                <a:cs typeface="Times New Roman" panose="02020603050405020304" pitchFamily="18" charset="0"/>
              </a:rPr>
              <a:t>It can also enhance the effectiveness of chemotherapy and radiotherapy.</a:t>
            </a:r>
          </a:p>
        </p:txBody>
      </p:sp>
      <p:sp>
        <p:nvSpPr>
          <p:cNvPr id="6" name="TextBox 5">
            <a:extLst>
              <a:ext uri="{FF2B5EF4-FFF2-40B4-BE49-F238E27FC236}">
                <a16:creationId xmlns="" xmlns:a16="http://schemas.microsoft.com/office/drawing/2014/main" id="{1A31E39D-93EE-570D-78B4-ED0FB7CA293C}"/>
              </a:ext>
            </a:extLst>
          </p:cNvPr>
          <p:cNvSpPr txBox="1"/>
          <p:nvPr/>
        </p:nvSpPr>
        <p:spPr>
          <a:xfrm>
            <a:off x="158750" y="3526641"/>
            <a:ext cx="11925300" cy="3046988"/>
          </a:xfrm>
          <a:prstGeom prst="rect">
            <a:avLst/>
          </a:prstGeom>
          <a:solidFill>
            <a:schemeClr val="bg1"/>
          </a:solidFill>
          <a:ln w="38100">
            <a:solidFill>
              <a:srgbClr val="941651"/>
            </a:solidFill>
          </a:ln>
        </p:spPr>
        <p:txBody>
          <a:bodyPr wrap="square">
            <a:spAutoFit/>
          </a:bodyPr>
          <a:lstStyle/>
          <a:p>
            <a:pPr algn="l"/>
            <a:r>
              <a:rPr lang="en-IN" sz="2400" b="1" i="0" u="none" strike="noStrike" dirty="0">
                <a:solidFill>
                  <a:srgbClr val="002060"/>
                </a:solidFill>
                <a:effectLst/>
                <a:latin typeface="Times New Roman" panose="02020603050405020304" pitchFamily="18" charset="0"/>
                <a:cs typeface="Times New Roman" panose="02020603050405020304" pitchFamily="18" charset="0"/>
              </a:rPr>
              <a:t>Procedure</a:t>
            </a:r>
          </a:p>
          <a:p>
            <a:pPr marL="457200" indent="-457200" algn="l">
              <a:buFont typeface="Arial" panose="020B0604020202020204" pitchFamily="34" charset="0"/>
              <a:buChar char="•"/>
            </a:pPr>
            <a:r>
              <a:rPr lang="en-IN" sz="2800" b="1" i="0" u="none" strike="noStrike" dirty="0">
                <a:solidFill>
                  <a:srgbClr val="002060"/>
                </a:solidFill>
                <a:effectLst/>
                <a:latin typeface="Times New Roman" panose="02020603050405020304" pitchFamily="18" charset="0"/>
                <a:cs typeface="Times New Roman" panose="02020603050405020304" pitchFamily="18" charset="0"/>
              </a:rPr>
              <a:t>Synthesis of Magnetic Nanoparticles:</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 Typically via sol–gel, co-precipitation, thermal decomposition, or hydrothermal methods.</a:t>
            </a:r>
          </a:p>
          <a:p>
            <a:pPr marL="457200" indent="-457200" algn="l">
              <a:buFont typeface="Arial" panose="020B0604020202020204" pitchFamily="34" charset="0"/>
              <a:buChar char="•"/>
            </a:pPr>
            <a:r>
              <a:rPr lang="en-IN" sz="2800" b="1" i="0" u="none" strike="noStrike" dirty="0">
                <a:solidFill>
                  <a:srgbClr val="002060"/>
                </a:solidFill>
                <a:effectLst/>
                <a:latin typeface="Times New Roman" panose="02020603050405020304" pitchFamily="18" charset="0"/>
                <a:cs typeface="Times New Roman" panose="02020603050405020304" pitchFamily="18" charset="0"/>
              </a:rPr>
              <a:t>Surface Functionalization:</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 Coating with biocompatible polymers (PEG, dextran, silica) ensures stability, targeting, and reduced toxicity.</a:t>
            </a:r>
          </a:p>
          <a:p>
            <a:pPr marL="457200" indent="-457200" algn="l">
              <a:buFont typeface="Arial" panose="020B0604020202020204" pitchFamily="34" charset="0"/>
              <a:buChar char="•"/>
            </a:pPr>
            <a:r>
              <a:rPr lang="en-IN" sz="2800" b="1" i="0" u="none" strike="noStrike" dirty="0">
                <a:solidFill>
                  <a:srgbClr val="002060"/>
                </a:solidFill>
                <a:effectLst/>
                <a:latin typeface="Times New Roman" panose="02020603050405020304" pitchFamily="18" charset="0"/>
                <a:cs typeface="Times New Roman" panose="02020603050405020304" pitchFamily="18" charset="0"/>
              </a:rPr>
              <a:t>Delivery to </a:t>
            </a:r>
            <a:r>
              <a:rPr lang="en-IN" sz="2800" b="1" i="0" u="none" strike="noStrike" dirty="0" err="1">
                <a:solidFill>
                  <a:srgbClr val="002060"/>
                </a:solidFill>
                <a:effectLst/>
                <a:latin typeface="Times New Roman" panose="02020603050405020304" pitchFamily="18" charset="0"/>
                <a:cs typeface="Times New Roman" panose="02020603050405020304" pitchFamily="18" charset="0"/>
              </a:rPr>
              <a:t>Tumor</a:t>
            </a:r>
            <a:r>
              <a:rPr lang="en-IN" sz="2800" b="1" i="0" u="none" strike="noStrike" dirty="0">
                <a:solidFill>
                  <a:srgbClr val="002060"/>
                </a:solidFill>
                <a:effectLst/>
                <a:latin typeface="Times New Roman" panose="02020603050405020304" pitchFamily="18" charset="0"/>
                <a:cs typeface="Times New Roman" panose="02020603050405020304" pitchFamily="18" charset="0"/>
              </a:rPr>
              <a:t> Site:</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 Intravenous injection, targeted delivery using ligands/antibodies, or direct injection.</a:t>
            </a:r>
          </a:p>
        </p:txBody>
      </p:sp>
    </p:spTree>
    <p:extLst>
      <p:ext uri="{BB962C8B-B14F-4D97-AF65-F5344CB8AC3E}">
        <p14:creationId xmlns:p14="http://schemas.microsoft.com/office/powerpoint/2010/main" val="30263548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16EFD7C8-E606-01E7-934E-A8532E38AC03}"/>
              </a:ext>
            </a:extLst>
          </p:cNvPr>
          <p:cNvSpPr txBox="1"/>
          <p:nvPr/>
        </p:nvSpPr>
        <p:spPr>
          <a:xfrm>
            <a:off x="133350" y="3991600"/>
            <a:ext cx="11925300" cy="2185214"/>
          </a:xfrm>
          <a:prstGeom prst="rect">
            <a:avLst/>
          </a:prstGeom>
          <a:solidFill>
            <a:schemeClr val="bg1"/>
          </a:solidFill>
          <a:ln w="38100">
            <a:solidFill>
              <a:srgbClr val="941651"/>
            </a:solidFill>
          </a:ln>
        </p:spPr>
        <p:txBody>
          <a:bodyPr wrap="square">
            <a:spAutoFit/>
          </a:bodyPr>
          <a:lstStyle/>
          <a:p>
            <a:pPr algn="l"/>
            <a:r>
              <a:rPr lang="en-IN" sz="2400" b="1" i="0" u="none" strike="noStrike" dirty="0">
                <a:solidFill>
                  <a:srgbClr val="002060"/>
                </a:solidFill>
                <a:effectLst/>
                <a:latin typeface="Times New Roman" panose="02020603050405020304" pitchFamily="18" charset="0"/>
                <a:cs typeface="Times New Roman" panose="02020603050405020304" pitchFamily="18" charset="0"/>
              </a:rPr>
              <a:t>Advantages</a:t>
            </a:r>
          </a:p>
          <a:p>
            <a:pPr marL="342900" indent="-342900" algn="l">
              <a:buFont typeface="Arial" panose="020B0604020202020204" pitchFamily="34" charset="0"/>
              <a:buChar char="•"/>
            </a:pPr>
            <a:r>
              <a:rPr lang="en-IN" sz="2800" b="0" i="0" u="none" strike="noStrike" dirty="0">
                <a:solidFill>
                  <a:srgbClr val="002060"/>
                </a:solidFill>
                <a:effectLst/>
                <a:latin typeface="Times New Roman" panose="02020603050405020304" pitchFamily="18" charset="0"/>
                <a:cs typeface="Times New Roman" panose="02020603050405020304" pitchFamily="18" charset="0"/>
              </a:rPr>
              <a:t>Localized, minimally invasive treatment.</a:t>
            </a:r>
          </a:p>
          <a:p>
            <a:pPr marL="342900" indent="-342900" algn="l">
              <a:buFont typeface="Arial" panose="020B0604020202020204" pitchFamily="34" charset="0"/>
              <a:buChar char="•"/>
            </a:pPr>
            <a:r>
              <a:rPr lang="en-IN" sz="2800" b="0" i="0" u="none" strike="noStrike" dirty="0">
                <a:solidFill>
                  <a:srgbClr val="002060"/>
                </a:solidFill>
                <a:effectLst/>
                <a:latin typeface="Times New Roman" panose="02020603050405020304" pitchFamily="18" charset="0"/>
                <a:cs typeface="Times New Roman" panose="02020603050405020304" pitchFamily="18" charset="0"/>
              </a:rPr>
              <a:t>Selective heating of </a:t>
            </a:r>
            <a:r>
              <a:rPr lang="en-IN" sz="2800" b="0" i="0" u="none" strike="noStrike" dirty="0" err="1">
                <a:solidFill>
                  <a:srgbClr val="002060"/>
                </a:solidFill>
                <a:effectLst/>
                <a:latin typeface="Times New Roman" panose="02020603050405020304" pitchFamily="18" charset="0"/>
                <a:cs typeface="Times New Roman" panose="02020603050405020304" pitchFamily="18" charset="0"/>
              </a:rPr>
              <a:t>tumor</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 cells while sparing healthy tissue.</a:t>
            </a:r>
          </a:p>
          <a:p>
            <a:pPr marL="342900" indent="-342900" algn="l">
              <a:buFont typeface="Arial" panose="020B0604020202020204" pitchFamily="34" charset="0"/>
              <a:buChar char="•"/>
            </a:pPr>
            <a:r>
              <a:rPr lang="en-IN" sz="2800" b="0" i="0" u="none" strike="noStrike" dirty="0">
                <a:solidFill>
                  <a:srgbClr val="002060"/>
                </a:solidFill>
                <a:effectLst/>
                <a:latin typeface="Times New Roman" panose="02020603050405020304" pitchFamily="18" charset="0"/>
                <a:cs typeface="Times New Roman" panose="02020603050405020304" pitchFamily="18" charset="0"/>
              </a:rPr>
              <a:t>Can be combined with chemotherapy or radiotherapy for higher efficiency.</a:t>
            </a:r>
          </a:p>
          <a:p>
            <a:pPr marL="342900" indent="-342900" algn="l">
              <a:buFont typeface="Arial" panose="020B0604020202020204" pitchFamily="34" charset="0"/>
              <a:buChar char="•"/>
            </a:pPr>
            <a:r>
              <a:rPr lang="en-IN" sz="2800" b="0" i="0" u="none" strike="noStrike" dirty="0">
                <a:solidFill>
                  <a:srgbClr val="002060"/>
                </a:solidFill>
                <a:effectLst/>
                <a:latin typeface="Times New Roman" panose="02020603050405020304" pitchFamily="18" charset="0"/>
                <a:cs typeface="Times New Roman" panose="02020603050405020304" pitchFamily="18" charset="0"/>
              </a:rPr>
              <a:t>Potential for real-time monitoring (MRI contrast agents).</a:t>
            </a:r>
          </a:p>
        </p:txBody>
      </p:sp>
      <p:sp>
        <p:nvSpPr>
          <p:cNvPr id="7" name="TextBox 6">
            <a:extLst>
              <a:ext uri="{FF2B5EF4-FFF2-40B4-BE49-F238E27FC236}">
                <a16:creationId xmlns="" xmlns:a16="http://schemas.microsoft.com/office/drawing/2014/main" id="{F74E75B6-D0E1-A8F9-1F7B-BCBF8EC5005E}"/>
              </a:ext>
            </a:extLst>
          </p:cNvPr>
          <p:cNvSpPr txBox="1"/>
          <p:nvPr/>
        </p:nvSpPr>
        <p:spPr>
          <a:xfrm>
            <a:off x="133350" y="417036"/>
            <a:ext cx="11925300" cy="1815882"/>
          </a:xfrm>
          <a:prstGeom prst="rect">
            <a:avLst/>
          </a:prstGeom>
          <a:solidFill>
            <a:schemeClr val="bg1"/>
          </a:solidFill>
          <a:ln w="28575">
            <a:solidFill>
              <a:srgbClr val="941651"/>
            </a:solidFill>
          </a:ln>
        </p:spPr>
        <p:txBody>
          <a:bodyPr wrap="square">
            <a:spAutoFit/>
          </a:bodyPr>
          <a:lstStyle/>
          <a:p>
            <a:pPr marL="457200" indent="-457200" algn="l">
              <a:buFont typeface="Arial" panose="020B0604020202020204" pitchFamily="34" charset="0"/>
              <a:buChar char="•"/>
            </a:pPr>
            <a:r>
              <a:rPr lang="en-IN" sz="2800" b="1" i="0" u="none" strike="noStrike" dirty="0">
                <a:solidFill>
                  <a:srgbClr val="002060"/>
                </a:solidFill>
                <a:effectLst/>
                <a:latin typeface="Times New Roman" panose="02020603050405020304" pitchFamily="18" charset="0"/>
                <a:cs typeface="Times New Roman" panose="02020603050405020304" pitchFamily="18" charset="0"/>
              </a:rPr>
              <a:t>Application of AMF:</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 External alternating magnetic field is applied; nanoparticles generate heat.</a:t>
            </a:r>
          </a:p>
          <a:p>
            <a:pPr marL="457200" indent="-457200" algn="l">
              <a:buFont typeface="Arial" panose="020B0604020202020204" pitchFamily="34" charset="0"/>
              <a:buChar char="•"/>
            </a:pPr>
            <a:r>
              <a:rPr lang="en-IN" sz="2800" b="1" i="0" u="none" strike="noStrike" dirty="0" err="1">
                <a:solidFill>
                  <a:srgbClr val="002060"/>
                </a:solidFill>
                <a:effectLst/>
                <a:latin typeface="Times New Roman" panose="02020603050405020304" pitchFamily="18" charset="0"/>
                <a:cs typeface="Times New Roman" panose="02020603050405020304" pitchFamily="18" charset="0"/>
              </a:rPr>
              <a:t>Tumor</a:t>
            </a:r>
            <a:r>
              <a:rPr lang="en-IN" sz="2800" b="1" i="0" u="none" strike="noStrike" dirty="0">
                <a:solidFill>
                  <a:srgbClr val="002060"/>
                </a:solidFill>
                <a:effectLst/>
                <a:latin typeface="Times New Roman" panose="02020603050405020304" pitchFamily="18" charset="0"/>
                <a:cs typeface="Times New Roman" panose="02020603050405020304" pitchFamily="18" charset="0"/>
              </a:rPr>
              <a:t> Cell Death:</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 Cancer cells undergo apoptosis/necrosis, and the therapy can be combined with drugs or radiation.</a:t>
            </a:r>
          </a:p>
        </p:txBody>
      </p:sp>
      <p:sp>
        <p:nvSpPr>
          <p:cNvPr id="9" name="TextBox 8">
            <a:extLst>
              <a:ext uri="{FF2B5EF4-FFF2-40B4-BE49-F238E27FC236}">
                <a16:creationId xmlns="" xmlns:a16="http://schemas.microsoft.com/office/drawing/2014/main" id="{0B6EE1DF-0B2E-13BC-1D1F-F739E1D1AB92}"/>
              </a:ext>
            </a:extLst>
          </p:cNvPr>
          <p:cNvSpPr txBox="1"/>
          <p:nvPr/>
        </p:nvSpPr>
        <p:spPr>
          <a:xfrm>
            <a:off x="133350" y="2409041"/>
            <a:ext cx="11925300" cy="1384995"/>
          </a:xfrm>
          <a:prstGeom prst="rect">
            <a:avLst/>
          </a:prstGeom>
          <a:solidFill>
            <a:schemeClr val="bg1"/>
          </a:solidFill>
          <a:ln w="38100">
            <a:solidFill>
              <a:srgbClr val="941651"/>
            </a:solidFill>
          </a:ln>
        </p:spPr>
        <p:txBody>
          <a:bodyPr wrap="square">
            <a:spAutoFit/>
          </a:bodyPr>
          <a:lstStyle/>
          <a:p>
            <a:r>
              <a:rPr lang="en-IN" sz="2800" b="0" i="0" u="none" strike="noStrike" dirty="0">
                <a:solidFill>
                  <a:srgbClr val="002060"/>
                </a:solidFill>
                <a:effectLst/>
                <a:latin typeface="Times New Roman" panose="02020603050405020304" pitchFamily="18" charset="0"/>
                <a:cs typeface="Times New Roman" panose="02020603050405020304" pitchFamily="18" charset="0"/>
              </a:rPr>
              <a:t>Magnetic hyperthermia uses </a:t>
            </a:r>
            <a:r>
              <a:rPr lang="en-IN" sz="2800" b="1" i="0" u="none" strike="noStrike" dirty="0">
                <a:solidFill>
                  <a:srgbClr val="002060"/>
                </a:solidFill>
                <a:effectLst/>
                <a:latin typeface="Times New Roman" panose="02020603050405020304" pitchFamily="18" charset="0"/>
                <a:cs typeface="Times New Roman" panose="02020603050405020304" pitchFamily="18" charset="0"/>
              </a:rPr>
              <a:t>magnetic nanoparticles</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 as heat mediators under an </a:t>
            </a:r>
            <a:r>
              <a:rPr lang="en-IN" sz="2800" b="1" i="0" u="none" strike="noStrike" dirty="0">
                <a:solidFill>
                  <a:srgbClr val="002060"/>
                </a:solidFill>
                <a:effectLst/>
                <a:latin typeface="Times New Roman" panose="02020603050405020304" pitchFamily="18" charset="0"/>
                <a:cs typeface="Times New Roman" panose="02020603050405020304" pitchFamily="18" charset="0"/>
              </a:rPr>
              <a:t>alternating magnetic field</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 to selectively kill cancer cells, offering a targeted and minimally invasive approach to cancer therapy.</a:t>
            </a:r>
            <a:endParaRPr lang="en-US" sz="28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20426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 xmlns:a16="http://schemas.microsoft.com/office/drawing/2014/main" id="{D126E96E-05AB-24A8-5D36-92845C4E5736}"/>
              </a:ext>
            </a:extLst>
          </p:cNvPr>
          <p:cNvSpPr txBox="1"/>
          <p:nvPr/>
        </p:nvSpPr>
        <p:spPr>
          <a:xfrm>
            <a:off x="184150" y="763131"/>
            <a:ext cx="11887200" cy="2246769"/>
          </a:xfrm>
          <a:prstGeom prst="rect">
            <a:avLst/>
          </a:prstGeom>
          <a:solidFill>
            <a:schemeClr val="bg1"/>
          </a:solidFill>
          <a:ln w="38100">
            <a:solidFill>
              <a:srgbClr val="941651"/>
            </a:solidFill>
          </a:ln>
        </p:spPr>
        <p:txBody>
          <a:bodyPr wrap="square">
            <a:spAutoFit/>
          </a:bodyPr>
          <a:lstStyle/>
          <a:p>
            <a:pPr algn="l"/>
            <a:r>
              <a:rPr lang="en-IN" sz="2800" b="0" i="0" u="none" strike="noStrike" dirty="0">
                <a:solidFill>
                  <a:srgbClr val="002060"/>
                </a:solidFill>
                <a:effectLst/>
                <a:latin typeface="Times New Roman" panose="02020603050405020304" pitchFamily="18" charset="0"/>
                <a:cs typeface="Times New Roman" panose="02020603050405020304" pitchFamily="18" charset="0"/>
              </a:rPr>
              <a:t>Magnets play a crucial role in the performance of electric vehicles (EVs), particularly in the motors and generators that drive them. Among the different types, </a:t>
            </a:r>
            <a:r>
              <a:rPr lang="en-IN" sz="2800" b="1" i="0" u="none" strike="noStrike" dirty="0">
                <a:solidFill>
                  <a:srgbClr val="002060"/>
                </a:solidFill>
                <a:effectLst/>
                <a:latin typeface="Times New Roman" panose="02020603050405020304" pitchFamily="18" charset="0"/>
                <a:cs typeface="Times New Roman" panose="02020603050405020304" pitchFamily="18" charset="0"/>
              </a:rPr>
              <a:t>neodymium–iron–boron (NdFeB) permanent magnets</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 are the most widely used due to their high magnetic strength, excellent energy density, and ability to make motors more compact, lightweight, and efficient. </a:t>
            </a:r>
          </a:p>
        </p:txBody>
      </p:sp>
      <p:sp>
        <p:nvSpPr>
          <p:cNvPr id="9" name="TextBox 8">
            <a:extLst>
              <a:ext uri="{FF2B5EF4-FFF2-40B4-BE49-F238E27FC236}">
                <a16:creationId xmlns="" xmlns:a16="http://schemas.microsoft.com/office/drawing/2014/main" id="{DD56C31B-10DC-6CE3-99E0-5C8895D52005}"/>
              </a:ext>
            </a:extLst>
          </p:cNvPr>
          <p:cNvSpPr txBox="1"/>
          <p:nvPr/>
        </p:nvSpPr>
        <p:spPr>
          <a:xfrm>
            <a:off x="184150" y="158234"/>
            <a:ext cx="11887200" cy="523220"/>
          </a:xfrm>
          <a:prstGeom prst="rect">
            <a:avLst/>
          </a:prstGeom>
          <a:solidFill>
            <a:schemeClr val="bg1"/>
          </a:solidFill>
          <a:ln w="28575">
            <a:solidFill>
              <a:srgbClr val="941651"/>
            </a:solidFill>
          </a:ln>
        </p:spPr>
        <p:txBody>
          <a:bodyPr wrap="square">
            <a:spAutoFit/>
          </a:bodyPr>
          <a:lstStyle/>
          <a:p>
            <a:pPr algn="l"/>
            <a:r>
              <a:rPr lang="en-IN" sz="2800" b="1" i="0" u="none" strike="noStrike">
                <a:solidFill>
                  <a:srgbClr val="941651"/>
                </a:solidFill>
                <a:effectLst/>
                <a:latin typeface="Times New Roman" panose="02020603050405020304" pitchFamily="18" charset="0"/>
                <a:cs typeface="Times New Roman" panose="02020603050405020304" pitchFamily="18" charset="0"/>
              </a:rPr>
              <a:t>Magnets for Electric Vehicles (EVs):</a:t>
            </a:r>
            <a:endParaRPr lang="en-IN" sz="2800" b="1" i="0" u="none" strike="noStrike" dirty="0">
              <a:solidFill>
                <a:srgbClr val="941651"/>
              </a:solidFill>
              <a:effectLst/>
              <a:latin typeface="Times New Roman" panose="02020603050405020304" pitchFamily="18" charset="0"/>
              <a:cs typeface="Times New Roman" panose="02020603050405020304" pitchFamily="18" charset="0"/>
            </a:endParaRPr>
          </a:p>
        </p:txBody>
      </p:sp>
      <p:pic>
        <p:nvPicPr>
          <p:cNvPr id="11" name="Picture 10" descr="A car with solar panels and electrical components&#10;&#10;Description automatically generated">
            <a:extLst>
              <a:ext uri="{FF2B5EF4-FFF2-40B4-BE49-F238E27FC236}">
                <a16:creationId xmlns="" xmlns:a16="http://schemas.microsoft.com/office/drawing/2014/main" id="{71FDD825-1968-3A2F-EA7C-F06FB9560949}"/>
              </a:ext>
            </a:extLst>
          </p:cNvPr>
          <p:cNvPicPr>
            <a:picLocks noChangeAspect="1"/>
          </p:cNvPicPr>
          <p:nvPr/>
        </p:nvPicPr>
        <p:blipFill>
          <a:blip r:embed="rId2"/>
          <a:stretch>
            <a:fillRect/>
          </a:stretch>
        </p:blipFill>
        <p:spPr>
          <a:xfrm>
            <a:off x="6261100" y="3124972"/>
            <a:ext cx="5356289" cy="3574794"/>
          </a:xfrm>
          <a:prstGeom prst="rect">
            <a:avLst/>
          </a:prstGeom>
          <a:ln w="28575">
            <a:solidFill>
              <a:srgbClr val="941651"/>
            </a:solidFill>
          </a:ln>
        </p:spPr>
      </p:pic>
      <p:pic>
        <p:nvPicPr>
          <p:cNvPr id="13" name="Picture 12" descr="A diagram of a motor&#10;&#10;Description automatically generated">
            <a:extLst>
              <a:ext uri="{FF2B5EF4-FFF2-40B4-BE49-F238E27FC236}">
                <a16:creationId xmlns="" xmlns:a16="http://schemas.microsoft.com/office/drawing/2014/main" id="{B0FC6178-4E8D-6036-F40A-DA91950D2FE4}"/>
              </a:ext>
            </a:extLst>
          </p:cNvPr>
          <p:cNvPicPr>
            <a:picLocks noChangeAspect="1"/>
          </p:cNvPicPr>
          <p:nvPr/>
        </p:nvPicPr>
        <p:blipFill>
          <a:blip r:embed="rId3"/>
          <a:stretch>
            <a:fillRect/>
          </a:stretch>
        </p:blipFill>
        <p:spPr>
          <a:xfrm>
            <a:off x="552450" y="3105998"/>
            <a:ext cx="5597802" cy="3593768"/>
          </a:xfrm>
          <a:prstGeom prst="rect">
            <a:avLst/>
          </a:prstGeom>
          <a:ln w="28575">
            <a:solidFill>
              <a:srgbClr val="941651"/>
            </a:solidFill>
          </a:ln>
        </p:spPr>
      </p:pic>
    </p:spTree>
    <p:extLst>
      <p:ext uri="{BB962C8B-B14F-4D97-AF65-F5344CB8AC3E}">
        <p14:creationId xmlns:p14="http://schemas.microsoft.com/office/powerpoint/2010/main" val="7696630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ECF8D301-7755-EA4B-08F5-F673404711D7}"/>
              </a:ext>
            </a:extLst>
          </p:cNvPr>
          <p:cNvSpPr txBox="1"/>
          <p:nvPr/>
        </p:nvSpPr>
        <p:spPr>
          <a:xfrm>
            <a:off x="158750" y="3211879"/>
            <a:ext cx="11874500" cy="3293209"/>
          </a:xfrm>
          <a:prstGeom prst="rect">
            <a:avLst/>
          </a:prstGeom>
          <a:solidFill>
            <a:schemeClr val="bg1"/>
          </a:solidFill>
          <a:ln w="38100">
            <a:solidFill>
              <a:srgbClr val="941651"/>
            </a:solidFill>
          </a:ln>
        </p:spPr>
        <p:txBody>
          <a:bodyPr wrap="square">
            <a:spAutoFit/>
          </a:bodyPr>
          <a:lstStyle/>
          <a:p>
            <a:pPr algn="just"/>
            <a:r>
              <a:rPr lang="en-IN" sz="2600" b="0" i="0" u="none" strike="noStrike" dirty="0">
                <a:solidFill>
                  <a:srgbClr val="002060"/>
                </a:solidFill>
                <a:effectLst/>
                <a:latin typeface="Times New Roman" panose="02020603050405020304" pitchFamily="18" charset="0"/>
                <a:cs typeface="Times New Roman" panose="02020603050405020304" pitchFamily="18" charset="0"/>
              </a:rPr>
              <a:t>Despite their advantages, rare-earth-based magnets like NdFeB present challenges, including high cost, supply risks, and temperature sensitivity, although doping with elements like dysprosium can improve thermal stability. To overcome these limitations, researchers are developing advanced ferrites, hybrid magnet systems, and alternative alloys, as well as exploring large-scale recycling of rare-earth magnets. </a:t>
            </a:r>
          </a:p>
          <a:p>
            <a:pPr algn="just"/>
            <a:r>
              <a:rPr lang="en-IN" sz="2600" dirty="0">
                <a:solidFill>
                  <a:srgbClr val="002060"/>
                </a:solidFill>
                <a:latin typeface="Times New Roman" panose="02020603050405020304" pitchFamily="18" charset="0"/>
                <a:cs typeface="Times New Roman" panose="02020603050405020304" pitchFamily="18" charset="0"/>
              </a:rPr>
              <a:t>     </a:t>
            </a:r>
            <a:r>
              <a:rPr lang="en-IN" sz="2600" b="0" i="0" u="none" strike="noStrike" dirty="0">
                <a:solidFill>
                  <a:srgbClr val="002060"/>
                </a:solidFill>
                <a:effectLst/>
                <a:latin typeface="Times New Roman" panose="02020603050405020304" pitchFamily="18" charset="0"/>
                <a:cs typeface="Times New Roman" panose="02020603050405020304" pitchFamily="18" charset="0"/>
              </a:rPr>
              <a:t>Overall, NdFeB magnets dominate EV applications today, but ongoing research aims to create more sustainable and cost-effective magnetic materials for the future of electric mobility.</a:t>
            </a:r>
          </a:p>
        </p:txBody>
      </p:sp>
      <p:sp>
        <p:nvSpPr>
          <p:cNvPr id="5" name="TextBox 4">
            <a:extLst>
              <a:ext uri="{FF2B5EF4-FFF2-40B4-BE49-F238E27FC236}">
                <a16:creationId xmlns="" xmlns:a16="http://schemas.microsoft.com/office/drawing/2014/main" id="{6AB9786F-E254-8E7C-CE7B-C3E675D179CD}"/>
              </a:ext>
            </a:extLst>
          </p:cNvPr>
          <p:cNvSpPr txBox="1"/>
          <p:nvPr/>
        </p:nvSpPr>
        <p:spPr>
          <a:xfrm>
            <a:off x="158750" y="191779"/>
            <a:ext cx="11874500" cy="2893100"/>
          </a:xfrm>
          <a:prstGeom prst="rect">
            <a:avLst/>
          </a:prstGeom>
          <a:solidFill>
            <a:schemeClr val="bg1"/>
          </a:solidFill>
          <a:ln w="38100">
            <a:solidFill>
              <a:srgbClr val="941651"/>
            </a:solidFill>
          </a:ln>
        </p:spPr>
        <p:txBody>
          <a:bodyPr wrap="square">
            <a:spAutoFit/>
          </a:bodyPr>
          <a:lstStyle/>
          <a:p>
            <a:pPr algn="just"/>
            <a:r>
              <a:rPr lang="en-IN" sz="2600" b="0" i="0" u="none" strike="noStrike" dirty="0">
                <a:solidFill>
                  <a:srgbClr val="002060"/>
                </a:solidFill>
                <a:effectLst/>
                <a:latin typeface="Times New Roman" panose="02020603050405020304" pitchFamily="18" charset="0"/>
                <a:cs typeface="Times New Roman" panose="02020603050405020304" pitchFamily="18" charset="0"/>
              </a:rPr>
              <a:t>They provide high torque-to-weight ratios, which improves both acceleration and driving range. In high-performance applications, </a:t>
            </a:r>
            <a:r>
              <a:rPr lang="en-IN" sz="2600" b="1" i="0" u="none" strike="noStrike" dirty="0">
                <a:solidFill>
                  <a:srgbClr val="002060"/>
                </a:solidFill>
                <a:effectLst/>
                <a:latin typeface="Times New Roman" panose="02020603050405020304" pitchFamily="18" charset="0"/>
                <a:cs typeface="Times New Roman" panose="02020603050405020304" pitchFamily="18" charset="0"/>
              </a:rPr>
              <a:t>samarium–cobalt (</a:t>
            </a:r>
            <a:r>
              <a:rPr lang="en-IN" sz="2600" b="1" i="0" u="none" strike="noStrike" dirty="0" err="1">
                <a:solidFill>
                  <a:srgbClr val="002060"/>
                </a:solidFill>
                <a:effectLst/>
                <a:latin typeface="Times New Roman" panose="02020603050405020304" pitchFamily="18" charset="0"/>
                <a:cs typeface="Times New Roman" panose="02020603050405020304" pitchFamily="18" charset="0"/>
              </a:rPr>
              <a:t>SmCo</a:t>
            </a:r>
            <a:r>
              <a:rPr lang="en-IN" sz="2600" b="1" i="0" u="none" strike="noStrike" dirty="0">
                <a:solidFill>
                  <a:srgbClr val="002060"/>
                </a:solidFill>
                <a:effectLst/>
                <a:latin typeface="Times New Roman" panose="02020603050405020304" pitchFamily="18" charset="0"/>
                <a:cs typeface="Times New Roman" panose="02020603050405020304" pitchFamily="18" charset="0"/>
              </a:rPr>
              <a:t>) magnets</a:t>
            </a:r>
            <a:r>
              <a:rPr lang="en-IN" sz="2600" b="0" i="0" u="none" strike="noStrike" dirty="0">
                <a:solidFill>
                  <a:srgbClr val="002060"/>
                </a:solidFill>
                <a:effectLst/>
                <a:latin typeface="Times New Roman" panose="02020603050405020304" pitchFamily="18" charset="0"/>
                <a:cs typeface="Times New Roman" panose="02020603050405020304" pitchFamily="18" charset="0"/>
              </a:rPr>
              <a:t> are also employed because of their superior temperature stability, though their higher cost limits their widespread use. </a:t>
            </a:r>
          </a:p>
          <a:p>
            <a:pPr algn="just"/>
            <a:r>
              <a:rPr lang="en-IN" sz="2600" dirty="0">
                <a:solidFill>
                  <a:srgbClr val="002060"/>
                </a:solidFill>
                <a:latin typeface="Times New Roman" panose="02020603050405020304" pitchFamily="18" charset="0"/>
                <a:cs typeface="Times New Roman" panose="02020603050405020304" pitchFamily="18" charset="0"/>
              </a:rPr>
              <a:t>     </a:t>
            </a:r>
            <a:r>
              <a:rPr lang="en-IN" sz="2600" b="0" i="0" u="none" strike="noStrike" dirty="0">
                <a:solidFill>
                  <a:srgbClr val="002060"/>
                </a:solidFill>
                <a:effectLst/>
                <a:latin typeface="Times New Roman" panose="02020603050405020304" pitchFamily="18" charset="0"/>
                <a:cs typeface="Times New Roman" panose="02020603050405020304" pitchFamily="18" charset="0"/>
              </a:rPr>
              <a:t>On the other hand, </a:t>
            </a:r>
            <a:r>
              <a:rPr lang="en-IN" sz="2600" b="1" i="0" u="none" strike="noStrike" dirty="0">
                <a:solidFill>
                  <a:srgbClr val="002060"/>
                </a:solidFill>
                <a:effectLst/>
                <a:latin typeface="Times New Roman" panose="02020603050405020304" pitchFamily="18" charset="0"/>
                <a:cs typeface="Times New Roman" panose="02020603050405020304" pitchFamily="18" charset="0"/>
              </a:rPr>
              <a:t>ferrite magnets</a:t>
            </a:r>
            <a:r>
              <a:rPr lang="en-IN" sz="2600" b="0" i="0" u="none" strike="noStrike" dirty="0">
                <a:solidFill>
                  <a:srgbClr val="002060"/>
                </a:solidFill>
                <a:effectLst/>
                <a:latin typeface="Times New Roman" panose="02020603050405020304" pitchFamily="18" charset="0"/>
                <a:cs typeface="Times New Roman" panose="02020603050405020304" pitchFamily="18" charset="0"/>
              </a:rPr>
              <a:t> are less expensive and resistant to corrosion, but they produce lower magnetic strength, making them more suitable for auxiliary systems or cost-sensitive EV designs. </a:t>
            </a:r>
          </a:p>
        </p:txBody>
      </p:sp>
    </p:spTree>
    <p:extLst>
      <p:ext uri="{BB962C8B-B14F-4D97-AF65-F5344CB8AC3E}">
        <p14:creationId xmlns:p14="http://schemas.microsoft.com/office/powerpoint/2010/main" val="3110795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BD8F28CA-CF39-3F0B-DBA3-85177181E8D7}"/>
              </a:ext>
            </a:extLst>
          </p:cNvPr>
          <p:cNvSpPr txBox="1"/>
          <p:nvPr/>
        </p:nvSpPr>
        <p:spPr>
          <a:xfrm>
            <a:off x="177800" y="746710"/>
            <a:ext cx="11836400" cy="1292662"/>
          </a:xfrm>
          <a:prstGeom prst="rect">
            <a:avLst/>
          </a:prstGeom>
          <a:solidFill>
            <a:schemeClr val="bg1"/>
          </a:solidFill>
          <a:ln w="28575">
            <a:solidFill>
              <a:srgbClr val="941651"/>
            </a:solidFill>
          </a:ln>
        </p:spPr>
        <p:txBody>
          <a:bodyPr wrap="square">
            <a:spAutoFit/>
          </a:bodyPr>
          <a:lstStyle/>
          <a:p>
            <a:r>
              <a:rPr lang="en-IN" sz="2600" b="0" i="0" u="none" strike="noStrike" dirty="0">
                <a:solidFill>
                  <a:srgbClr val="002060"/>
                </a:solidFill>
                <a:effectLst/>
                <a:latin typeface="Times New Roman" panose="02020603050405020304" pitchFamily="18" charset="0"/>
                <a:cs typeface="Times New Roman" panose="02020603050405020304" pitchFamily="18" charset="0"/>
              </a:rPr>
              <a:t>A </a:t>
            </a:r>
            <a:r>
              <a:rPr lang="en-IN" sz="2600" b="1" i="0" u="none" strike="noStrike" dirty="0">
                <a:solidFill>
                  <a:srgbClr val="002060"/>
                </a:solidFill>
                <a:effectLst/>
                <a:latin typeface="Times New Roman" panose="02020603050405020304" pitchFamily="18" charset="0"/>
                <a:cs typeface="Times New Roman" panose="02020603050405020304" pitchFamily="18" charset="0"/>
              </a:rPr>
              <a:t>Giant Magnetoresistance (GMR) device</a:t>
            </a:r>
            <a:r>
              <a:rPr lang="en-IN" sz="2600" b="0" i="0" u="none" strike="noStrike" dirty="0">
                <a:solidFill>
                  <a:srgbClr val="002060"/>
                </a:solidFill>
                <a:effectLst/>
                <a:latin typeface="Times New Roman" panose="02020603050405020304" pitchFamily="18" charset="0"/>
                <a:cs typeface="Times New Roman" panose="02020603050405020304" pitchFamily="18" charset="0"/>
              </a:rPr>
              <a:t> is a spintronic component that exploits the quantum mechanical property of electron spin to achieve a very large change in electrical resistance in response to an external magnetic field. </a:t>
            </a:r>
          </a:p>
        </p:txBody>
      </p:sp>
      <p:sp>
        <p:nvSpPr>
          <p:cNvPr id="5" name="TextBox 4">
            <a:extLst>
              <a:ext uri="{FF2B5EF4-FFF2-40B4-BE49-F238E27FC236}">
                <a16:creationId xmlns="" xmlns:a16="http://schemas.microsoft.com/office/drawing/2014/main" id="{4D2C654C-A7E2-2633-95CA-7874A177DCB5}"/>
              </a:ext>
            </a:extLst>
          </p:cNvPr>
          <p:cNvSpPr txBox="1"/>
          <p:nvPr/>
        </p:nvSpPr>
        <p:spPr>
          <a:xfrm>
            <a:off x="203200" y="162510"/>
            <a:ext cx="11785600" cy="523220"/>
          </a:xfrm>
          <a:prstGeom prst="rect">
            <a:avLst/>
          </a:prstGeom>
          <a:solidFill>
            <a:schemeClr val="bg1"/>
          </a:solidFill>
          <a:ln w="28575">
            <a:solidFill>
              <a:srgbClr val="941651"/>
            </a:solidFill>
          </a:ln>
        </p:spPr>
        <p:txBody>
          <a:bodyPr wrap="square">
            <a:spAutoFit/>
          </a:bodyPr>
          <a:lstStyle/>
          <a:p>
            <a:pPr algn="l"/>
            <a:r>
              <a:rPr lang="en-IN" sz="2800" b="1" i="0" u="none" strike="noStrike" dirty="0">
                <a:solidFill>
                  <a:srgbClr val="941651"/>
                </a:solidFill>
                <a:effectLst/>
                <a:latin typeface="Times New Roman" panose="02020603050405020304" pitchFamily="18" charset="0"/>
                <a:cs typeface="Times New Roman" panose="02020603050405020304" pitchFamily="18" charset="0"/>
              </a:rPr>
              <a:t>Giant Magnetoresistance (GMR) Device :</a:t>
            </a:r>
          </a:p>
        </p:txBody>
      </p:sp>
      <p:pic>
        <p:nvPicPr>
          <p:cNvPr id="7" name="Picture 6" descr="Diagram of a diagram showing different types of magnetization&#10;&#10;Description automatically generated">
            <a:extLst>
              <a:ext uri="{FF2B5EF4-FFF2-40B4-BE49-F238E27FC236}">
                <a16:creationId xmlns="" xmlns:a16="http://schemas.microsoft.com/office/drawing/2014/main" id="{9F9D2958-D96B-34E9-017E-B2A98C3EDC14}"/>
              </a:ext>
            </a:extLst>
          </p:cNvPr>
          <p:cNvPicPr>
            <a:picLocks noChangeAspect="1"/>
          </p:cNvPicPr>
          <p:nvPr/>
        </p:nvPicPr>
        <p:blipFill>
          <a:blip r:embed="rId2"/>
          <a:stretch>
            <a:fillRect/>
          </a:stretch>
        </p:blipFill>
        <p:spPr>
          <a:xfrm>
            <a:off x="5854700" y="2143732"/>
            <a:ext cx="5146440" cy="3559058"/>
          </a:xfrm>
          <a:prstGeom prst="rect">
            <a:avLst/>
          </a:prstGeom>
          <a:ln w="28575">
            <a:solidFill>
              <a:srgbClr val="941651"/>
            </a:solidFill>
          </a:ln>
        </p:spPr>
      </p:pic>
      <p:pic>
        <p:nvPicPr>
          <p:cNvPr id="11" name="Picture 10" descr="A diagram of a device&#10;&#10;Description automatically generated">
            <a:extLst>
              <a:ext uri="{FF2B5EF4-FFF2-40B4-BE49-F238E27FC236}">
                <a16:creationId xmlns="" xmlns:a16="http://schemas.microsoft.com/office/drawing/2014/main" id="{0A56D8D3-A7A0-B668-1A74-7D5AC4F1D0A6}"/>
              </a:ext>
            </a:extLst>
          </p:cNvPr>
          <p:cNvPicPr>
            <a:picLocks noChangeAspect="1"/>
          </p:cNvPicPr>
          <p:nvPr/>
        </p:nvPicPr>
        <p:blipFill>
          <a:blip r:embed="rId3"/>
          <a:stretch>
            <a:fillRect/>
          </a:stretch>
        </p:blipFill>
        <p:spPr>
          <a:xfrm>
            <a:off x="1003300" y="2156432"/>
            <a:ext cx="4684180" cy="3559058"/>
          </a:xfrm>
          <a:prstGeom prst="rect">
            <a:avLst/>
          </a:prstGeom>
          <a:ln w="28575">
            <a:solidFill>
              <a:srgbClr val="941651"/>
            </a:solidFill>
          </a:ln>
        </p:spPr>
      </p:pic>
      <p:sp>
        <p:nvSpPr>
          <p:cNvPr id="13" name="TextBox 12">
            <a:extLst>
              <a:ext uri="{FF2B5EF4-FFF2-40B4-BE49-F238E27FC236}">
                <a16:creationId xmlns="" xmlns:a16="http://schemas.microsoft.com/office/drawing/2014/main" id="{745AEC9F-DE1E-64FB-74B3-6887B6CF2843}"/>
              </a:ext>
            </a:extLst>
          </p:cNvPr>
          <p:cNvSpPr txBox="1"/>
          <p:nvPr/>
        </p:nvSpPr>
        <p:spPr>
          <a:xfrm>
            <a:off x="152400" y="5847670"/>
            <a:ext cx="11836400" cy="954107"/>
          </a:xfrm>
          <a:prstGeom prst="rect">
            <a:avLst/>
          </a:prstGeom>
          <a:solidFill>
            <a:schemeClr val="bg1"/>
          </a:solidFill>
          <a:ln w="28575">
            <a:solidFill>
              <a:srgbClr val="941651"/>
            </a:solidFill>
          </a:ln>
        </p:spPr>
        <p:txBody>
          <a:bodyPr wrap="square">
            <a:spAutoFit/>
          </a:bodyPr>
          <a:lstStyle/>
          <a:p>
            <a:r>
              <a:rPr lang="en-IN" sz="2800" b="0" i="0" u="none" strike="noStrike" dirty="0">
                <a:solidFill>
                  <a:srgbClr val="002060"/>
                </a:solidFill>
                <a:effectLst/>
                <a:latin typeface="Times New Roman" panose="02020603050405020304" pitchFamily="18" charset="0"/>
                <a:cs typeface="Times New Roman" panose="02020603050405020304" pitchFamily="18" charset="0"/>
              </a:rPr>
              <a:t>GMR was first discovered in 1988 in multilayer thin films of alternating ferromagnetic and non-magnetic conductive layers. </a:t>
            </a:r>
            <a:endParaRPr lang="en-US" sz="2800" dirty="0"/>
          </a:p>
        </p:txBody>
      </p:sp>
    </p:spTree>
    <p:extLst>
      <p:ext uri="{BB962C8B-B14F-4D97-AF65-F5344CB8AC3E}">
        <p14:creationId xmlns:p14="http://schemas.microsoft.com/office/powerpoint/2010/main" val="20783301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890FB9AA-4E84-8C45-0708-2BCAF95F8496}"/>
              </a:ext>
            </a:extLst>
          </p:cNvPr>
          <p:cNvSpPr txBox="1"/>
          <p:nvPr/>
        </p:nvSpPr>
        <p:spPr>
          <a:xfrm>
            <a:off x="114300" y="3076277"/>
            <a:ext cx="11868150" cy="3108543"/>
          </a:xfrm>
          <a:prstGeom prst="rect">
            <a:avLst/>
          </a:prstGeom>
          <a:solidFill>
            <a:schemeClr val="bg1"/>
          </a:solidFill>
          <a:ln w="28575">
            <a:solidFill>
              <a:srgbClr val="941651"/>
            </a:solidFill>
          </a:ln>
        </p:spPr>
        <p:txBody>
          <a:bodyPr wrap="square">
            <a:spAutoFit/>
          </a:bodyPr>
          <a:lstStyle/>
          <a:p>
            <a:r>
              <a:rPr lang="en-IN" sz="2800" b="0" i="0" u="none" strike="noStrike" dirty="0">
                <a:solidFill>
                  <a:srgbClr val="002060"/>
                </a:solidFill>
                <a:effectLst/>
                <a:latin typeface="Times New Roman" panose="02020603050405020304" pitchFamily="18" charset="0"/>
                <a:cs typeface="Times New Roman" panose="02020603050405020304" pitchFamily="18" charset="0"/>
              </a:rPr>
              <a:t>This sharp change in resistance with magnetic field is far larger than conventional magnetoresistance, hence the name "giant." GMR devices are highly sensitive magnetic field sensors and are widely used in </a:t>
            </a:r>
            <a:r>
              <a:rPr lang="en-IN" sz="2800" b="1" i="0" u="none" strike="noStrike" dirty="0">
                <a:solidFill>
                  <a:srgbClr val="002060"/>
                </a:solidFill>
                <a:effectLst/>
                <a:latin typeface="Times New Roman" panose="02020603050405020304" pitchFamily="18" charset="0"/>
                <a:cs typeface="Times New Roman" panose="02020603050405020304" pitchFamily="18" charset="0"/>
              </a:rPr>
              <a:t>hard disk drives</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 (for reading magnetic data), </a:t>
            </a:r>
            <a:r>
              <a:rPr lang="en-IN" sz="2800" b="1" i="0" u="none" strike="noStrike" dirty="0">
                <a:solidFill>
                  <a:srgbClr val="002060"/>
                </a:solidFill>
                <a:effectLst/>
                <a:latin typeface="Times New Roman" panose="02020603050405020304" pitchFamily="18" charset="0"/>
                <a:cs typeface="Times New Roman" panose="02020603050405020304" pitchFamily="18" charset="0"/>
              </a:rPr>
              <a:t>magnetic random-access memory (MRAM)</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 and </a:t>
            </a:r>
            <a:r>
              <a:rPr lang="en-IN" sz="2800" b="1" i="0" u="none" strike="noStrike" dirty="0">
                <a:solidFill>
                  <a:srgbClr val="002060"/>
                </a:solidFill>
                <a:effectLst/>
                <a:latin typeface="Times New Roman" panose="02020603050405020304" pitchFamily="18" charset="0"/>
                <a:cs typeface="Times New Roman" panose="02020603050405020304" pitchFamily="18" charset="0"/>
              </a:rPr>
              <a:t>biosensors</a:t>
            </a:r>
            <a:r>
              <a:rPr lang="en-IN" sz="2800" b="0" i="0" u="none" strike="noStrike" dirty="0">
                <a:solidFill>
                  <a:srgbClr val="002060"/>
                </a:solidFill>
                <a:effectLst/>
                <a:latin typeface="Times New Roman" panose="02020603050405020304" pitchFamily="18" charset="0"/>
                <a:cs typeface="Times New Roman" panose="02020603050405020304" pitchFamily="18" charset="0"/>
              </a:rPr>
              <a:t>. </a:t>
            </a:r>
          </a:p>
          <a:p>
            <a:endParaRPr lang="en-IN" sz="2800" dirty="0">
              <a:solidFill>
                <a:srgbClr val="002060"/>
              </a:solidFill>
              <a:latin typeface="Times New Roman" panose="02020603050405020304" pitchFamily="18" charset="0"/>
              <a:cs typeface="Times New Roman" panose="02020603050405020304" pitchFamily="18" charset="0"/>
            </a:endParaRPr>
          </a:p>
          <a:p>
            <a:r>
              <a:rPr lang="en-IN" sz="2800" b="0" i="0" u="none" strike="noStrike" dirty="0">
                <a:solidFill>
                  <a:srgbClr val="002060"/>
                </a:solidFill>
                <a:effectLst/>
                <a:latin typeface="Times New Roman" panose="02020603050405020304" pitchFamily="18" charset="0"/>
                <a:cs typeface="Times New Roman" panose="02020603050405020304" pitchFamily="18" charset="0"/>
              </a:rPr>
              <a:t>The discovery of GMR revolutionized data storage technology, allowing for the miniaturization and dramatic increase of storage capacity in modern electronics.</a:t>
            </a:r>
            <a:endParaRPr lang="en-US" sz="2800" dirty="0">
              <a:solidFill>
                <a:srgbClr val="002060"/>
              </a:solidFill>
            </a:endParaRPr>
          </a:p>
        </p:txBody>
      </p:sp>
      <p:sp>
        <p:nvSpPr>
          <p:cNvPr id="5" name="TextBox 4">
            <a:extLst>
              <a:ext uri="{FF2B5EF4-FFF2-40B4-BE49-F238E27FC236}">
                <a16:creationId xmlns="" xmlns:a16="http://schemas.microsoft.com/office/drawing/2014/main" id="{928945CD-76D2-DEC4-D23B-26D49B8F9C2C}"/>
              </a:ext>
            </a:extLst>
          </p:cNvPr>
          <p:cNvSpPr txBox="1"/>
          <p:nvPr/>
        </p:nvSpPr>
        <p:spPr>
          <a:xfrm>
            <a:off x="114300" y="673180"/>
            <a:ext cx="11868150" cy="2246769"/>
          </a:xfrm>
          <a:prstGeom prst="rect">
            <a:avLst/>
          </a:prstGeom>
          <a:solidFill>
            <a:schemeClr val="bg1"/>
          </a:solidFill>
          <a:ln w="28575">
            <a:solidFill>
              <a:srgbClr val="941651"/>
            </a:solidFill>
          </a:ln>
        </p:spPr>
        <p:txBody>
          <a:bodyPr wrap="square">
            <a:spAutoFit/>
          </a:bodyPr>
          <a:lstStyle/>
          <a:p>
            <a:r>
              <a:rPr lang="en-IN" sz="2800" b="0" i="0" u="none" strike="noStrike" dirty="0">
                <a:solidFill>
                  <a:srgbClr val="002060"/>
                </a:solidFill>
                <a:effectLst/>
                <a:latin typeface="Times New Roman" panose="02020603050405020304" pitchFamily="18" charset="0"/>
                <a:cs typeface="Times New Roman" panose="02020603050405020304" pitchFamily="18" charset="0"/>
              </a:rPr>
              <a:t>The effect arises because the resistance of the device depends on the relative alignment of magnetization in the ferromagnetic layers: when the layers are aligned parallel, electron spins experience less scattering, leading to low resistance, whereas in the antiparallel configuration, scattering is high, resulting in high resistance.</a:t>
            </a:r>
            <a:endParaRPr lang="en-US" sz="2800" dirty="0">
              <a:solidFill>
                <a:srgbClr val="002060"/>
              </a:solidFill>
            </a:endParaRPr>
          </a:p>
        </p:txBody>
      </p:sp>
    </p:spTree>
    <p:extLst>
      <p:ext uri="{BB962C8B-B14F-4D97-AF65-F5344CB8AC3E}">
        <p14:creationId xmlns:p14="http://schemas.microsoft.com/office/powerpoint/2010/main" val="31385797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DD483B28-461D-6231-5086-408E5DEB2472}"/>
              </a:ext>
            </a:extLst>
          </p:cNvPr>
          <p:cNvSpPr txBox="1"/>
          <p:nvPr/>
        </p:nvSpPr>
        <p:spPr>
          <a:xfrm>
            <a:off x="215900" y="158234"/>
            <a:ext cx="11925300" cy="523220"/>
          </a:xfrm>
          <a:prstGeom prst="rect">
            <a:avLst/>
          </a:prstGeom>
          <a:solidFill>
            <a:schemeClr val="bg1"/>
          </a:solidFill>
          <a:ln w="28575">
            <a:solidFill>
              <a:srgbClr val="941651"/>
            </a:solidFill>
          </a:ln>
        </p:spPr>
        <p:txBody>
          <a:bodyPr wrap="square">
            <a:spAutoFit/>
          </a:bodyPr>
          <a:lstStyle/>
          <a:p>
            <a:pPr algn="l"/>
            <a:r>
              <a:rPr lang="en-IN" sz="2800" b="1" i="0" u="none" strike="noStrike" dirty="0">
                <a:solidFill>
                  <a:srgbClr val="941651"/>
                </a:solidFill>
                <a:effectLst/>
                <a:latin typeface="Times New Roman" panose="02020603050405020304" pitchFamily="18" charset="0"/>
                <a:cs typeface="Times New Roman" panose="02020603050405020304" pitchFamily="18" charset="0"/>
              </a:rPr>
              <a:t>Introduction to Dielectric Materials :</a:t>
            </a:r>
          </a:p>
        </p:txBody>
      </p:sp>
      <p:sp>
        <p:nvSpPr>
          <p:cNvPr id="6" name="TextBox 5">
            <a:extLst>
              <a:ext uri="{FF2B5EF4-FFF2-40B4-BE49-F238E27FC236}">
                <a16:creationId xmlns="" xmlns:a16="http://schemas.microsoft.com/office/drawing/2014/main" id="{DE0DD598-AD8C-C152-0A2D-9C348BE05F60}"/>
              </a:ext>
            </a:extLst>
          </p:cNvPr>
          <p:cNvSpPr txBox="1"/>
          <p:nvPr/>
        </p:nvSpPr>
        <p:spPr>
          <a:xfrm>
            <a:off x="215900" y="759123"/>
            <a:ext cx="11925300" cy="1471172"/>
          </a:xfrm>
          <a:prstGeom prst="rect">
            <a:avLst/>
          </a:prstGeom>
          <a:solidFill>
            <a:schemeClr val="bg1"/>
          </a:solidFill>
          <a:ln w="28575">
            <a:solidFill>
              <a:srgbClr val="941651"/>
            </a:solidFill>
          </a:ln>
        </p:spPr>
        <p:txBody>
          <a:bodyPr wrap="square">
            <a:spAutoFit/>
          </a:bodyPr>
          <a:lstStyle/>
          <a:p>
            <a:pPr algn="just" eaLnBrk="1" hangingPunct="1">
              <a:lnSpc>
                <a:spcPct val="80000"/>
              </a:lnSpc>
              <a:defRPr/>
            </a:pPr>
            <a:r>
              <a:rPr lang="en-US" altLang="en-US" sz="2800" dirty="0">
                <a:solidFill>
                  <a:srgbClr val="002060"/>
                </a:solidFill>
                <a:latin typeface="Times New Roman" panose="02020603050405020304" pitchFamily="18" charset="0"/>
                <a:cs typeface="Times New Roman" panose="02020603050405020304" pitchFamily="18" charset="0"/>
              </a:rPr>
              <a:t>Dielectrics are the materials having permanent electric dipole moment. In general, all dielectrics are the electrical insulators, and they are mainly used to store the electrical energy. A dipole is an entity in which equal positive and negative charges are separated by a small distance.</a:t>
            </a:r>
          </a:p>
        </p:txBody>
      </p:sp>
      <p:pic>
        <p:nvPicPr>
          <p:cNvPr id="7" name="Picture 6" descr="Chart&#10;&#10;Description automatically generated with low confidence">
            <a:extLst>
              <a:ext uri="{FF2B5EF4-FFF2-40B4-BE49-F238E27FC236}">
                <a16:creationId xmlns="" xmlns:a16="http://schemas.microsoft.com/office/drawing/2014/main" id="{39CDAA2D-F97E-2790-7629-7A1958419DE7}"/>
              </a:ext>
            </a:extLst>
          </p:cNvPr>
          <p:cNvPicPr>
            <a:picLocks noChangeAspect="1"/>
          </p:cNvPicPr>
          <p:nvPr/>
        </p:nvPicPr>
        <p:blipFill>
          <a:blip r:embed="rId3"/>
          <a:stretch>
            <a:fillRect/>
          </a:stretch>
        </p:blipFill>
        <p:spPr>
          <a:xfrm>
            <a:off x="215900" y="2300612"/>
            <a:ext cx="5245100" cy="4399154"/>
          </a:xfrm>
          <a:prstGeom prst="rect">
            <a:avLst/>
          </a:prstGeom>
          <a:ln w="28575">
            <a:solidFill>
              <a:srgbClr val="941651"/>
            </a:solidFill>
          </a:ln>
        </p:spPr>
      </p:pic>
      <p:sp>
        <p:nvSpPr>
          <p:cNvPr id="8" name="Rectangle 3">
            <a:extLst>
              <a:ext uri="{FF2B5EF4-FFF2-40B4-BE49-F238E27FC236}">
                <a16:creationId xmlns="" xmlns:a16="http://schemas.microsoft.com/office/drawing/2014/main" id="{E3F919DA-BBCF-DB85-F1B6-059B25BC5EA9}"/>
              </a:ext>
            </a:extLst>
          </p:cNvPr>
          <p:cNvSpPr txBox="1">
            <a:spLocks noChangeArrowheads="1"/>
          </p:cNvSpPr>
          <p:nvPr/>
        </p:nvSpPr>
        <p:spPr>
          <a:xfrm>
            <a:off x="5518150" y="2307964"/>
            <a:ext cx="6623050" cy="1627123"/>
          </a:xfrm>
          <a:prstGeom prst="rect">
            <a:avLst/>
          </a:prstGeom>
          <a:solidFill>
            <a:schemeClr val="bg1"/>
          </a:solidFill>
          <a:ln>
            <a:solidFill>
              <a:srgbClr val="941651"/>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80000"/>
              </a:lnSpc>
              <a:buFont typeface="Arial" panose="020B0604020202020204" pitchFamily="34" charset="0"/>
              <a:buNone/>
              <a:defRPr/>
            </a:pPr>
            <a:r>
              <a:rPr lang="en-US" altLang="en-US" dirty="0">
                <a:solidFill>
                  <a:srgbClr val="002060"/>
                </a:solidFill>
                <a:latin typeface="Times New Roman" panose="02020603050405020304" pitchFamily="18" charset="0"/>
                <a:cs typeface="Times New Roman" panose="02020603050405020304" pitchFamily="18" charset="0"/>
              </a:rPr>
              <a:t>The product of magnitude of either of the charges and distance between charges is called dipole moment.  </a:t>
            </a:r>
          </a:p>
          <a:p>
            <a:pPr marL="0" indent="0" algn="just">
              <a:lnSpc>
                <a:spcPct val="80000"/>
              </a:lnSpc>
              <a:buFont typeface="Arial" panose="020B0604020202020204" pitchFamily="34" charset="0"/>
              <a:buNone/>
              <a:defRPr/>
            </a:pPr>
            <a:r>
              <a:rPr lang="en-US" altLang="en-US" dirty="0">
                <a:solidFill>
                  <a:srgbClr val="002060"/>
                </a:solidFill>
                <a:latin typeface="Times New Roman" panose="02020603050405020304" pitchFamily="18" charset="0"/>
                <a:cs typeface="Times New Roman" panose="02020603050405020304" pitchFamily="18" charset="0"/>
              </a:rPr>
              <a:t>µ = </a:t>
            </a:r>
            <a:r>
              <a:rPr lang="en-US" altLang="en-US" dirty="0" err="1">
                <a:solidFill>
                  <a:srgbClr val="002060"/>
                </a:solidFill>
                <a:latin typeface="Times New Roman" panose="02020603050405020304" pitchFamily="18" charset="0"/>
                <a:cs typeface="Times New Roman" panose="02020603050405020304" pitchFamily="18" charset="0"/>
              </a:rPr>
              <a:t>qL</a:t>
            </a:r>
            <a:r>
              <a:rPr lang="en-US" altLang="en-US" dirty="0">
                <a:solidFill>
                  <a:srgbClr val="002060"/>
                </a:solidFill>
                <a:latin typeface="Times New Roman" panose="02020603050405020304" pitchFamily="18" charset="0"/>
                <a:cs typeface="Times New Roman" panose="02020603050405020304" pitchFamily="18" charset="0"/>
              </a:rPr>
              <a:t>  </a:t>
            </a:r>
            <a:r>
              <a:rPr lang="en-US" altLang="en-US" dirty="0">
                <a:solidFill>
                  <a:srgbClr val="002060"/>
                </a:solidFill>
                <a:latin typeface="Times New Roman" panose="02020603050405020304" pitchFamily="18" charset="0"/>
                <a:cs typeface="Times New Roman" panose="02020603050405020304" pitchFamily="18" charset="0"/>
                <a:sym typeface="Wingdings" pitchFamily="2" charset="2"/>
              </a:rPr>
              <a:t> (units - coulomb meter) </a:t>
            </a:r>
            <a:endParaRPr lang="en-US" altLang="en-US" dirty="0">
              <a:solidFill>
                <a:srgbClr val="002060"/>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 xmlns:a16="http://schemas.microsoft.com/office/drawing/2014/main" id="{6FEA820E-C49F-998C-438B-A5788DB3F151}"/>
              </a:ext>
            </a:extLst>
          </p:cNvPr>
          <p:cNvSpPr txBox="1"/>
          <p:nvPr/>
        </p:nvSpPr>
        <p:spPr>
          <a:xfrm>
            <a:off x="5518150" y="4012756"/>
            <a:ext cx="6623050" cy="1384995"/>
          </a:xfrm>
          <a:prstGeom prst="rect">
            <a:avLst/>
          </a:prstGeom>
          <a:solidFill>
            <a:schemeClr val="bg1"/>
          </a:solidFill>
          <a:ln>
            <a:solidFill>
              <a:srgbClr val="941651"/>
            </a:solidFill>
          </a:ln>
        </p:spPr>
        <p:txBody>
          <a:bodyPr wrap="square">
            <a:spAutoFit/>
          </a:bodyPr>
          <a:lstStyle/>
          <a:p>
            <a:pPr algn="just" eaLnBrk="1" hangingPunct="1">
              <a:buFont typeface="Wingdings" pitchFamily="2" charset="2"/>
              <a:buNone/>
              <a:defRPr/>
            </a:pPr>
            <a:r>
              <a:rPr lang="en-US" altLang="en-US" sz="2800" dirty="0">
                <a:solidFill>
                  <a:srgbClr val="00206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Dielectric constant is the ratio between the permittivity of the medium to the permittivity of free space.</a:t>
            </a:r>
          </a:p>
        </p:txBody>
      </p:sp>
      <p:graphicFrame>
        <p:nvGraphicFramePr>
          <p:cNvPr id="10" name="Object 4">
            <a:extLst>
              <a:ext uri="{FF2B5EF4-FFF2-40B4-BE49-F238E27FC236}">
                <a16:creationId xmlns="" xmlns:a16="http://schemas.microsoft.com/office/drawing/2014/main" id="{63CB94F2-29DE-A4D2-DD7F-1CDC5A0BC02D}"/>
              </a:ext>
            </a:extLst>
          </p:cNvPr>
          <p:cNvGraphicFramePr>
            <a:graphicFrameLocks noChangeAspect="1"/>
          </p:cNvGraphicFramePr>
          <p:nvPr>
            <p:extLst>
              <p:ext uri="{D42A27DB-BD31-4B8C-83A1-F6EECF244321}">
                <p14:modId xmlns:p14="http://schemas.microsoft.com/office/powerpoint/2010/main" val="2500406677"/>
              </p:ext>
            </p:extLst>
          </p:nvPr>
        </p:nvGraphicFramePr>
        <p:xfrm>
          <a:off x="7721601" y="5499437"/>
          <a:ext cx="1447799" cy="1200329"/>
        </p:xfrm>
        <a:graphic>
          <a:graphicData uri="http://schemas.openxmlformats.org/presentationml/2006/ole">
            <mc:AlternateContent xmlns:mc="http://schemas.openxmlformats.org/markup-compatibility/2006">
              <mc:Choice xmlns:v="urn:schemas-microsoft-com:vml" Requires="v">
                <p:oleObj spid="_x0000_s3076" name="Equation" r:id="rId4" imgW="11404600" imgH="9944100" progId="Equation.3">
                  <p:embed/>
                </p:oleObj>
              </mc:Choice>
              <mc:Fallback>
                <p:oleObj name="Equation" r:id="rId4" imgW="11404600" imgH="9944100" progId="Equation.3">
                  <p:embed/>
                  <p:pic>
                    <p:nvPicPr>
                      <p:cNvPr id="19458" name="Object 4">
                        <a:extLst>
                          <a:ext uri="{FF2B5EF4-FFF2-40B4-BE49-F238E27FC236}">
                            <a16:creationId xmlns="" xmlns:a16="http://schemas.microsoft.com/office/drawing/2014/main" id="{3551A643-7888-1D5D-2A8E-4B357D733C4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21601" y="5499437"/>
                        <a:ext cx="1447799" cy="1200329"/>
                      </a:xfrm>
                      <a:prstGeom prst="rect">
                        <a:avLst/>
                      </a:prstGeom>
                      <a:solidFill>
                        <a:schemeClr val="bg1"/>
                      </a:solidFill>
                      <a:ln w="9525">
                        <a:solidFill>
                          <a:srgbClr val="941651"/>
                        </a:solidFill>
                        <a:miter lim="800000"/>
                        <a:headEnd/>
                        <a:tailEnd/>
                      </a:ln>
                    </p:spPr>
                  </p:pic>
                </p:oleObj>
              </mc:Fallback>
            </mc:AlternateContent>
          </a:graphicData>
        </a:graphic>
      </p:graphicFrame>
    </p:spTree>
    <p:extLst>
      <p:ext uri="{BB962C8B-B14F-4D97-AF65-F5344CB8AC3E}">
        <p14:creationId xmlns:p14="http://schemas.microsoft.com/office/powerpoint/2010/main" val="4395056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2" name="TextBox 48">
            <a:extLst>
              <a:ext uri="{FF2B5EF4-FFF2-40B4-BE49-F238E27FC236}">
                <a16:creationId xmlns="" xmlns:a16="http://schemas.microsoft.com/office/drawing/2014/main" id="{86868DAE-A1D1-7F85-4218-06DF8B7FCBEE}"/>
              </a:ext>
            </a:extLst>
          </p:cNvPr>
          <p:cNvSpPr txBox="1">
            <a:spLocks noChangeArrowheads="1"/>
          </p:cNvSpPr>
          <p:nvPr/>
        </p:nvSpPr>
        <p:spPr bwMode="auto">
          <a:xfrm>
            <a:off x="184150" y="160336"/>
            <a:ext cx="11855450" cy="781752"/>
          </a:xfrm>
          <a:prstGeom prst="rect">
            <a:avLst/>
          </a:prstGeom>
          <a:solidFill>
            <a:schemeClr val="bg1"/>
          </a:solidFill>
          <a:ln>
            <a:solidFill>
              <a:srgbClr val="941651"/>
            </a:solidFill>
          </a:ln>
        </p:spPr>
        <p:txBody>
          <a:bodyPr wrap="square">
            <a:spAutoFit/>
          </a:bodyPr>
          <a:lstStyle>
            <a:lvl1pPr>
              <a:defRPr>
                <a:solidFill>
                  <a:schemeClr val="tx1"/>
                </a:solidFill>
                <a:latin typeface="Times New Roman" panose="02020603050405020304" pitchFamily="18" charset="0"/>
                <a:cs typeface="Arial" panose="020B0604020202020204" pitchFamily="34" charset="0"/>
              </a:defRPr>
            </a:lvl1pPr>
            <a:lvl2pPr marL="742950" indent="-285750">
              <a:defRPr>
                <a:solidFill>
                  <a:schemeClr val="tx1"/>
                </a:solidFill>
                <a:latin typeface="Times New Roman" panose="02020603050405020304" pitchFamily="18" charset="0"/>
                <a:cs typeface="Arial" panose="020B0604020202020204" pitchFamily="34" charset="0"/>
              </a:defRPr>
            </a:lvl2pPr>
            <a:lvl3pPr marL="1143000" indent="-228600">
              <a:defRPr>
                <a:solidFill>
                  <a:schemeClr val="tx1"/>
                </a:solidFill>
                <a:latin typeface="Times New Roman" panose="02020603050405020304" pitchFamily="18" charset="0"/>
                <a:cs typeface="Arial" panose="020B0604020202020204" pitchFamily="34" charset="0"/>
              </a:defRPr>
            </a:lvl3pPr>
            <a:lvl4pPr marL="1600200" indent="-228600">
              <a:defRPr>
                <a:solidFill>
                  <a:schemeClr val="tx1"/>
                </a:solidFill>
                <a:latin typeface="Times New Roman" panose="02020603050405020304" pitchFamily="18" charset="0"/>
                <a:cs typeface="Arial" panose="020B0604020202020204" pitchFamily="34" charset="0"/>
              </a:defRPr>
            </a:lvl4pPr>
            <a:lvl5pPr marL="2057400" indent="-228600">
              <a:defRPr>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9pPr>
          </a:lstStyle>
          <a:p>
            <a:pPr eaLnBrk="1" hangingPunct="1">
              <a:lnSpc>
                <a:spcPct val="80000"/>
              </a:lnSpc>
              <a:buFont typeface="Wingdings" pitchFamily="2" charset="2"/>
              <a:buNone/>
              <a:defRPr/>
            </a:pPr>
            <a:r>
              <a:rPr lang="en-US" altLang="en-US" sz="2800" b="1" dirty="0">
                <a:solidFill>
                  <a:srgbClr val="941651"/>
                </a:solidFill>
              </a:rPr>
              <a:t>Polarization: </a:t>
            </a:r>
            <a:r>
              <a:rPr lang="en-US" altLang="en-US" sz="2800" dirty="0">
                <a:solidFill>
                  <a:srgbClr val="002060"/>
                </a:solidFill>
              </a:rPr>
              <a:t>The process of producing electric dipoles by an electric field is called polarization in dielectrics.</a:t>
            </a:r>
          </a:p>
        </p:txBody>
      </p:sp>
      <p:sp>
        <p:nvSpPr>
          <p:cNvPr id="4103" name="TextBox 50">
            <a:extLst>
              <a:ext uri="{FF2B5EF4-FFF2-40B4-BE49-F238E27FC236}">
                <a16:creationId xmlns="" xmlns:a16="http://schemas.microsoft.com/office/drawing/2014/main" id="{592A38EB-8F9A-7539-2100-265C7F856706}"/>
              </a:ext>
            </a:extLst>
          </p:cNvPr>
          <p:cNvSpPr txBox="1">
            <a:spLocks noChangeArrowheads="1"/>
          </p:cNvSpPr>
          <p:nvPr/>
        </p:nvSpPr>
        <p:spPr bwMode="auto">
          <a:xfrm>
            <a:off x="190500" y="1030988"/>
            <a:ext cx="11817350" cy="1126462"/>
          </a:xfrm>
          <a:prstGeom prst="rect">
            <a:avLst/>
          </a:prstGeom>
          <a:solidFill>
            <a:schemeClr val="bg1"/>
          </a:solidFill>
          <a:ln w="19050">
            <a:solidFill>
              <a:srgbClr val="941651"/>
            </a:solidFill>
          </a:ln>
        </p:spPr>
        <p:txBody>
          <a:bodyPr wrap="square">
            <a:spAutoFit/>
          </a:bodyPr>
          <a:lstStyle>
            <a:lvl1pPr>
              <a:defRPr>
                <a:solidFill>
                  <a:schemeClr val="tx1"/>
                </a:solidFill>
                <a:latin typeface="Times New Roman" panose="02020603050405020304" pitchFamily="18" charset="0"/>
                <a:cs typeface="Arial" panose="020B0604020202020204" pitchFamily="34" charset="0"/>
              </a:defRPr>
            </a:lvl1pPr>
            <a:lvl2pPr marL="742950" indent="-285750">
              <a:defRPr>
                <a:solidFill>
                  <a:schemeClr val="tx1"/>
                </a:solidFill>
                <a:latin typeface="Times New Roman" panose="02020603050405020304" pitchFamily="18" charset="0"/>
                <a:cs typeface="Arial" panose="020B0604020202020204" pitchFamily="34" charset="0"/>
              </a:defRPr>
            </a:lvl2pPr>
            <a:lvl3pPr marL="1143000" indent="-228600">
              <a:defRPr>
                <a:solidFill>
                  <a:schemeClr val="tx1"/>
                </a:solidFill>
                <a:latin typeface="Times New Roman" panose="02020603050405020304" pitchFamily="18" charset="0"/>
                <a:cs typeface="Arial" panose="020B0604020202020204" pitchFamily="34" charset="0"/>
              </a:defRPr>
            </a:lvl3pPr>
            <a:lvl4pPr marL="1600200" indent="-228600">
              <a:defRPr>
                <a:solidFill>
                  <a:schemeClr val="tx1"/>
                </a:solidFill>
                <a:latin typeface="Times New Roman" panose="02020603050405020304" pitchFamily="18" charset="0"/>
                <a:cs typeface="Arial" panose="020B0604020202020204" pitchFamily="34" charset="0"/>
              </a:defRPr>
            </a:lvl4pPr>
            <a:lvl5pPr marL="2057400" indent="-228600">
              <a:defRPr>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9pPr>
          </a:lstStyle>
          <a:p>
            <a:pPr eaLnBrk="1" hangingPunct="1">
              <a:lnSpc>
                <a:spcPct val="80000"/>
              </a:lnSpc>
              <a:buFont typeface="Wingdings" pitchFamily="2" charset="2"/>
              <a:buNone/>
              <a:defRPr/>
            </a:pPr>
            <a:r>
              <a:rPr lang="en-US" altLang="en-US" sz="2800" b="1" dirty="0">
                <a:solidFill>
                  <a:srgbClr val="941651"/>
                </a:solidFill>
              </a:rPr>
              <a:t>Polarizability: </a:t>
            </a:r>
            <a:r>
              <a:rPr lang="en-US" altLang="en-US" sz="2800" dirty="0">
                <a:solidFill>
                  <a:srgbClr val="002060"/>
                </a:solidFill>
              </a:rPr>
              <a:t>The induced dipole moment per unit electric field is called polarizability. The induced dipole moment is proportional to the intensity of the electric field.</a:t>
            </a:r>
          </a:p>
        </p:txBody>
      </p:sp>
      <p:graphicFrame>
        <p:nvGraphicFramePr>
          <p:cNvPr id="19462" name="Object 4">
            <a:extLst>
              <a:ext uri="{FF2B5EF4-FFF2-40B4-BE49-F238E27FC236}">
                <a16:creationId xmlns="" xmlns:a16="http://schemas.microsoft.com/office/drawing/2014/main" id="{E82521D0-3716-5605-63A6-5529BCC3ABC4}"/>
              </a:ext>
            </a:extLst>
          </p:cNvPr>
          <p:cNvGraphicFramePr>
            <a:graphicFrameLocks noChangeAspect="1"/>
          </p:cNvGraphicFramePr>
          <p:nvPr>
            <p:extLst>
              <p:ext uri="{D42A27DB-BD31-4B8C-83A1-F6EECF244321}">
                <p14:modId xmlns:p14="http://schemas.microsoft.com/office/powerpoint/2010/main" val="699956368"/>
              </p:ext>
            </p:extLst>
          </p:nvPr>
        </p:nvGraphicFramePr>
        <p:xfrm>
          <a:off x="3837266" y="2246350"/>
          <a:ext cx="4517467" cy="1685925"/>
        </p:xfrm>
        <a:graphic>
          <a:graphicData uri="http://schemas.openxmlformats.org/presentationml/2006/ole">
            <mc:AlternateContent xmlns:mc="http://schemas.openxmlformats.org/markup-compatibility/2006">
              <mc:Choice xmlns:v="urn:schemas-microsoft-com:vml" Requires="v">
                <p:oleObj spid="_x0000_s4100" name="Equation" r:id="rId3" imgW="40957500" imgH="15214600" progId="Equation.3">
                  <p:embed/>
                </p:oleObj>
              </mc:Choice>
              <mc:Fallback>
                <p:oleObj name="Equation" r:id="rId3" imgW="40957500" imgH="15214600" progId="Equation.3">
                  <p:embed/>
                  <p:pic>
                    <p:nvPicPr>
                      <p:cNvPr id="19462" name="Object 4">
                        <a:extLst>
                          <a:ext uri="{FF2B5EF4-FFF2-40B4-BE49-F238E27FC236}">
                            <a16:creationId xmlns="" xmlns:a16="http://schemas.microsoft.com/office/drawing/2014/main" id="{E82521D0-3716-5605-63A6-5529BCC3ABC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37266" y="2246350"/>
                        <a:ext cx="4517467" cy="1685925"/>
                      </a:xfrm>
                      <a:prstGeom prst="rect">
                        <a:avLst/>
                      </a:prstGeom>
                      <a:solidFill>
                        <a:schemeClr val="bg1"/>
                      </a:solidFill>
                      <a:ln w="12700">
                        <a:solidFill>
                          <a:srgbClr val="941651"/>
                        </a:solidFill>
                        <a:miter lim="800000"/>
                        <a:headEnd/>
                        <a:tailEnd/>
                      </a:ln>
                    </p:spPr>
                  </p:pic>
                </p:oleObj>
              </mc:Fallback>
            </mc:AlternateContent>
          </a:graphicData>
        </a:graphic>
      </p:graphicFrame>
      <p:sp>
        <p:nvSpPr>
          <p:cNvPr id="2" name="TextBox 1">
            <a:extLst>
              <a:ext uri="{FF2B5EF4-FFF2-40B4-BE49-F238E27FC236}">
                <a16:creationId xmlns="" xmlns:a16="http://schemas.microsoft.com/office/drawing/2014/main" id="{933C05E1-AFBD-ECAE-2358-13B4E6105CC6}"/>
              </a:ext>
            </a:extLst>
          </p:cNvPr>
          <p:cNvSpPr txBox="1"/>
          <p:nvPr/>
        </p:nvSpPr>
        <p:spPr>
          <a:xfrm>
            <a:off x="184150" y="4052668"/>
            <a:ext cx="11823700" cy="523220"/>
          </a:xfrm>
          <a:prstGeom prst="rect">
            <a:avLst/>
          </a:prstGeom>
          <a:solidFill>
            <a:schemeClr val="bg1"/>
          </a:solidFill>
          <a:ln w="28575">
            <a:solidFill>
              <a:srgbClr val="941651"/>
            </a:solidFill>
          </a:ln>
        </p:spPr>
        <p:txBody>
          <a:bodyPr wrap="square">
            <a:spAutoFit/>
          </a:bodyPr>
          <a:lstStyle/>
          <a:p>
            <a:pPr algn="l"/>
            <a:r>
              <a:rPr lang="en-IN" sz="2800" b="1" i="0" u="none" strike="noStrike" dirty="0">
                <a:solidFill>
                  <a:srgbClr val="941651"/>
                </a:solidFill>
                <a:effectLst/>
                <a:latin typeface="Times New Roman" panose="02020603050405020304" pitchFamily="18" charset="0"/>
                <a:cs typeface="Times New Roman" panose="02020603050405020304" pitchFamily="18" charset="0"/>
              </a:rPr>
              <a:t>Types of Polarization in Dielectric Materials (Qualitative):</a:t>
            </a:r>
          </a:p>
        </p:txBody>
      </p:sp>
      <p:sp>
        <p:nvSpPr>
          <p:cNvPr id="3" name="TextBox 2">
            <a:extLst>
              <a:ext uri="{FF2B5EF4-FFF2-40B4-BE49-F238E27FC236}">
                <a16:creationId xmlns="" xmlns:a16="http://schemas.microsoft.com/office/drawing/2014/main" id="{946F7A7E-3B22-B996-48D4-2220E7DE2E00}"/>
              </a:ext>
            </a:extLst>
          </p:cNvPr>
          <p:cNvSpPr txBox="1"/>
          <p:nvPr/>
        </p:nvSpPr>
        <p:spPr>
          <a:xfrm>
            <a:off x="215900" y="4692219"/>
            <a:ext cx="11823700" cy="1938992"/>
          </a:xfrm>
          <a:prstGeom prst="rect">
            <a:avLst/>
          </a:prstGeom>
          <a:solidFill>
            <a:schemeClr val="bg1"/>
          </a:solidFill>
          <a:ln w="28575">
            <a:solidFill>
              <a:srgbClr val="941651"/>
            </a:solidFill>
          </a:ln>
        </p:spPr>
        <p:txBody>
          <a:bodyPr wrap="square">
            <a:spAutoFit/>
          </a:bodyPr>
          <a:lstStyle/>
          <a:p>
            <a:pPr algn="l"/>
            <a:r>
              <a:rPr lang="en-IN" sz="2400" b="0" i="0" u="none" strike="noStrike" dirty="0">
                <a:solidFill>
                  <a:srgbClr val="002060"/>
                </a:solidFill>
                <a:effectLst/>
                <a:latin typeface="Times New Roman" panose="02020603050405020304" pitchFamily="18" charset="0"/>
                <a:cs typeface="Times New Roman" panose="02020603050405020304" pitchFamily="18" charset="0"/>
              </a:rPr>
              <a:t>When a dielectric material is placed in an external electric field, polarization occurs due to the displacement or alignment of charges within the material. The major types of polarization are: </a:t>
            </a:r>
          </a:p>
          <a:p>
            <a:pPr marL="514350" indent="-514350">
              <a:buAutoNum type="arabicPeriod"/>
            </a:pPr>
            <a:r>
              <a:rPr lang="en-IN" sz="2400" dirty="0">
                <a:solidFill>
                  <a:srgbClr val="002060"/>
                </a:solidFill>
                <a:latin typeface="Times New Roman" panose="02020603050405020304" pitchFamily="18" charset="0"/>
                <a:cs typeface="Times New Roman" panose="02020603050405020304" pitchFamily="18" charset="0"/>
              </a:rPr>
              <a:t>Electronic Polarization, </a:t>
            </a:r>
          </a:p>
          <a:p>
            <a:pPr marL="514350" indent="-514350">
              <a:buAutoNum type="arabicPeriod"/>
            </a:pPr>
            <a:r>
              <a:rPr lang="en-IN" sz="2400" dirty="0">
                <a:solidFill>
                  <a:srgbClr val="002060"/>
                </a:solidFill>
                <a:latin typeface="Times New Roman" panose="02020603050405020304" pitchFamily="18" charset="0"/>
                <a:cs typeface="Times New Roman" panose="02020603050405020304" pitchFamily="18" charset="0"/>
              </a:rPr>
              <a:t>Ionic Polarization</a:t>
            </a:r>
          </a:p>
          <a:p>
            <a:r>
              <a:rPr lang="en-IN" sz="2400" dirty="0">
                <a:solidFill>
                  <a:srgbClr val="002060"/>
                </a:solidFill>
                <a:latin typeface="Times New Roman" panose="02020603050405020304" pitchFamily="18" charset="0"/>
                <a:cs typeface="Times New Roman" panose="02020603050405020304" pitchFamily="18" charset="0"/>
              </a:rPr>
              <a:t>3.  Orientation (Dipolar) Polarization</a:t>
            </a:r>
            <a:endParaRPr lang="en-IN" sz="2400" i="0" u="none" strike="noStrike" dirty="0">
              <a:solidFill>
                <a:srgbClr val="002060"/>
              </a:solidFill>
              <a:effectLst/>
              <a:latin typeface="Times New Roman" panose="02020603050405020304" pitchFamily="18" charset="0"/>
              <a:cs typeface="Times New Roman" panose="02020603050405020304" pitchFamily="18" charset="0"/>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4B671079-CDFF-71BA-1B42-FE12217C5BAE}"/>
              </a:ext>
            </a:extLst>
          </p:cNvPr>
          <p:cNvSpPr txBox="1"/>
          <p:nvPr/>
        </p:nvSpPr>
        <p:spPr>
          <a:xfrm>
            <a:off x="184150" y="198059"/>
            <a:ext cx="11823700" cy="523220"/>
          </a:xfrm>
          <a:prstGeom prst="rect">
            <a:avLst/>
          </a:prstGeom>
          <a:solidFill>
            <a:schemeClr val="bg1"/>
          </a:solidFill>
          <a:ln w="19050">
            <a:solidFill>
              <a:srgbClr val="941651"/>
            </a:solidFill>
          </a:ln>
        </p:spPr>
        <p:txBody>
          <a:bodyPr wrap="square">
            <a:spAutoFit/>
          </a:bodyPr>
          <a:lstStyle/>
          <a:p>
            <a:r>
              <a:rPr lang="en-IN" sz="2800" b="1" dirty="0">
                <a:solidFill>
                  <a:srgbClr val="941651"/>
                </a:solidFill>
                <a:latin typeface="Times New Roman" panose="02020603050405020304" pitchFamily="18" charset="0"/>
                <a:cs typeface="Times New Roman" panose="02020603050405020304" pitchFamily="18" charset="0"/>
              </a:rPr>
              <a:t>Electronic Polarization</a:t>
            </a:r>
            <a:r>
              <a:rPr lang="en-IN" sz="2800" dirty="0">
                <a:solidFill>
                  <a:srgbClr val="941651"/>
                </a:solidFill>
                <a:latin typeface="Times New Roman" panose="02020603050405020304" pitchFamily="18" charset="0"/>
                <a:cs typeface="Times New Roman" panose="02020603050405020304" pitchFamily="18" charset="0"/>
              </a:rPr>
              <a:t>: </a:t>
            </a:r>
          </a:p>
        </p:txBody>
      </p:sp>
      <p:sp>
        <p:nvSpPr>
          <p:cNvPr id="3" name="TextBox 2">
            <a:extLst>
              <a:ext uri="{FF2B5EF4-FFF2-40B4-BE49-F238E27FC236}">
                <a16:creationId xmlns="" xmlns:a16="http://schemas.microsoft.com/office/drawing/2014/main" id="{8A07598D-A65F-57FB-A49D-4A5666DEA417}"/>
              </a:ext>
            </a:extLst>
          </p:cNvPr>
          <p:cNvSpPr txBox="1"/>
          <p:nvPr/>
        </p:nvSpPr>
        <p:spPr>
          <a:xfrm>
            <a:off x="184150" y="817941"/>
            <a:ext cx="11823700" cy="1200329"/>
          </a:xfrm>
          <a:prstGeom prst="rect">
            <a:avLst/>
          </a:prstGeom>
          <a:solidFill>
            <a:schemeClr val="bg1"/>
          </a:solidFill>
          <a:ln w="38100">
            <a:solidFill>
              <a:srgbClr val="941651"/>
            </a:solidFill>
          </a:ln>
        </p:spPr>
        <p:txBody>
          <a:bodyPr wrap="square">
            <a:spAutoFit/>
          </a:bodyPr>
          <a:lstStyle/>
          <a:p>
            <a:r>
              <a:rPr lang="en-IN" sz="2400" dirty="0">
                <a:solidFill>
                  <a:srgbClr val="002060"/>
                </a:solidFill>
                <a:latin typeface="Times New Roman" panose="02020603050405020304" pitchFamily="18" charset="0"/>
                <a:cs typeface="Times New Roman" panose="02020603050405020304" pitchFamily="18" charset="0"/>
              </a:rPr>
              <a:t>Electronic polarization is the displacement of the negatively charged electron cloud with respect to the positively charged nucleus of an atom under the influence of an applied electric field, resulting in the formation of an induced dipole moment.</a:t>
            </a:r>
          </a:p>
        </p:txBody>
      </p:sp>
      <p:sp>
        <p:nvSpPr>
          <p:cNvPr id="5" name="TextBox 4">
            <a:extLst>
              <a:ext uri="{FF2B5EF4-FFF2-40B4-BE49-F238E27FC236}">
                <a16:creationId xmlns="" xmlns:a16="http://schemas.microsoft.com/office/drawing/2014/main" id="{C86AC820-B20D-A7A3-2367-71E7B0B822A6}"/>
              </a:ext>
            </a:extLst>
          </p:cNvPr>
          <p:cNvSpPr txBox="1"/>
          <p:nvPr/>
        </p:nvSpPr>
        <p:spPr>
          <a:xfrm>
            <a:off x="184150" y="2140332"/>
            <a:ext cx="11823700" cy="1938992"/>
          </a:xfrm>
          <a:prstGeom prst="rect">
            <a:avLst/>
          </a:prstGeom>
          <a:solidFill>
            <a:schemeClr val="bg1"/>
          </a:solidFill>
          <a:ln w="28575">
            <a:solidFill>
              <a:srgbClr val="941651"/>
            </a:solidFill>
          </a:ln>
        </p:spPr>
        <p:txBody>
          <a:bodyPr wrap="square">
            <a:spAutoFit/>
          </a:bodyPr>
          <a:lstStyle/>
          <a:p>
            <a:pPr marL="342900" indent="-342900">
              <a:buFont typeface="Arial" panose="020B0604020202020204" pitchFamily="34" charset="0"/>
              <a:buChar char="•"/>
            </a:pPr>
            <a:r>
              <a:rPr lang="en-IN" sz="2400" dirty="0">
                <a:solidFill>
                  <a:srgbClr val="002060"/>
                </a:solidFill>
                <a:latin typeface="Times New Roman" panose="02020603050405020304" pitchFamily="18" charset="0"/>
                <a:cs typeface="Times New Roman" panose="02020603050405020304" pitchFamily="18" charset="0"/>
              </a:rPr>
              <a:t>Occurs in all dielectric materials.</a:t>
            </a:r>
          </a:p>
          <a:p>
            <a:pPr marL="342900" indent="-342900">
              <a:buFont typeface="Arial" panose="020B0604020202020204" pitchFamily="34" charset="0"/>
              <a:buChar char="•"/>
            </a:pPr>
            <a:r>
              <a:rPr lang="en-IN" sz="2400" dirty="0">
                <a:solidFill>
                  <a:srgbClr val="002060"/>
                </a:solidFill>
                <a:latin typeface="Times New Roman" panose="02020603050405020304" pitchFamily="18" charset="0"/>
                <a:cs typeface="Times New Roman" panose="02020603050405020304" pitchFamily="18" charset="0"/>
              </a:rPr>
              <a:t>It happens when the external electric field displaces the electron cloud of an atom relative to its nucleus.</a:t>
            </a:r>
          </a:p>
          <a:p>
            <a:pPr marL="342900" indent="-342900">
              <a:buFont typeface="Arial" panose="020B0604020202020204" pitchFamily="34" charset="0"/>
              <a:buChar char="•"/>
            </a:pPr>
            <a:r>
              <a:rPr lang="en-IN" sz="2400" dirty="0">
                <a:solidFill>
                  <a:srgbClr val="002060"/>
                </a:solidFill>
                <a:latin typeface="Times New Roman" panose="02020603050405020304" pitchFamily="18" charset="0"/>
                <a:cs typeface="Times New Roman" panose="02020603050405020304" pitchFamily="18" charset="0"/>
              </a:rPr>
              <a:t>The induced dipole moment is directly proportional to the applied field and is extremely fast (responds even at optical frequencies).</a:t>
            </a:r>
          </a:p>
        </p:txBody>
      </p:sp>
      <p:sp>
        <p:nvSpPr>
          <p:cNvPr id="7" name="TextBox 6">
            <a:extLst>
              <a:ext uri="{FF2B5EF4-FFF2-40B4-BE49-F238E27FC236}">
                <a16:creationId xmlns="" xmlns:a16="http://schemas.microsoft.com/office/drawing/2014/main" id="{74167C1B-08C4-DFFC-5EAC-832CC6C4F284}"/>
              </a:ext>
            </a:extLst>
          </p:cNvPr>
          <p:cNvSpPr txBox="1"/>
          <p:nvPr/>
        </p:nvSpPr>
        <p:spPr>
          <a:xfrm>
            <a:off x="184150" y="5527950"/>
            <a:ext cx="11823700" cy="830997"/>
          </a:xfrm>
          <a:prstGeom prst="rect">
            <a:avLst/>
          </a:prstGeom>
          <a:solidFill>
            <a:schemeClr val="bg1"/>
          </a:solidFill>
          <a:ln>
            <a:solidFill>
              <a:srgbClr val="941651"/>
            </a:solidFill>
          </a:ln>
        </p:spPr>
        <p:txBody>
          <a:bodyPr wrap="square">
            <a:spAutoFit/>
          </a:bodyPr>
          <a:lstStyle/>
          <a:p>
            <a:pPr algn="just" eaLnBrk="1" hangingPunct="1">
              <a:spcBef>
                <a:spcPct val="50000"/>
              </a:spcBef>
              <a:buClrTx/>
              <a:buSzTx/>
              <a:buFont typeface="Wingdings" pitchFamily="2" charset="2"/>
              <a:buNone/>
            </a:pPr>
            <a:r>
              <a:rPr lang="en-US" altLang="en-US" sz="2400" dirty="0">
                <a:solidFill>
                  <a:srgbClr val="002060"/>
                </a:solidFill>
                <a:latin typeface="Times New Roman" panose="02020603050405020304" pitchFamily="18" charset="0"/>
                <a:cs typeface="Times New Roman" panose="02020603050405020304" pitchFamily="18" charset="0"/>
              </a:rPr>
              <a:t>Where ‘</a:t>
            </a:r>
            <a:r>
              <a:rPr lang="el-GR" altLang="en-US" sz="2400" dirty="0">
                <a:solidFill>
                  <a:srgbClr val="002060"/>
                </a:solidFill>
                <a:latin typeface="Times New Roman" panose="02020603050405020304" pitchFamily="18" charset="0"/>
                <a:cs typeface="Times New Roman" panose="02020603050405020304" pitchFamily="18" charset="0"/>
              </a:rPr>
              <a:t>α</a:t>
            </a:r>
            <a:r>
              <a:rPr lang="en-US" altLang="en-US" sz="2400" b="1" baseline="-25000" dirty="0">
                <a:solidFill>
                  <a:srgbClr val="002060"/>
                </a:solidFill>
                <a:latin typeface="Times New Roman" panose="02020603050405020304" pitchFamily="18" charset="0"/>
                <a:cs typeface="Times New Roman" panose="02020603050405020304" pitchFamily="18" charset="0"/>
              </a:rPr>
              <a:t>e</a:t>
            </a:r>
            <a:r>
              <a:rPr lang="en-US" altLang="en-US" sz="2400" dirty="0">
                <a:solidFill>
                  <a:srgbClr val="002060"/>
                </a:solidFill>
                <a:latin typeface="Times New Roman" panose="02020603050405020304" pitchFamily="18" charset="0"/>
                <a:cs typeface="Times New Roman" panose="02020603050405020304" pitchFamily="18" charset="0"/>
              </a:rPr>
              <a:t>’ is the electronic polarizability constant. It is independent of temperature, increase of atomic volume, and occurs at 10</a:t>
            </a:r>
            <a:r>
              <a:rPr lang="en-US" altLang="en-US" sz="2400" baseline="30000" dirty="0">
                <a:solidFill>
                  <a:srgbClr val="002060"/>
                </a:solidFill>
                <a:latin typeface="Times New Roman" panose="02020603050405020304" pitchFamily="18" charset="0"/>
                <a:cs typeface="Times New Roman" panose="02020603050405020304" pitchFamily="18" charset="0"/>
              </a:rPr>
              <a:t>15 </a:t>
            </a:r>
            <a:r>
              <a:rPr lang="en-US" altLang="en-US" sz="2400" dirty="0">
                <a:solidFill>
                  <a:srgbClr val="002060"/>
                </a:solidFill>
                <a:latin typeface="Times New Roman" panose="02020603050405020304" pitchFamily="18" charset="0"/>
                <a:cs typeface="Times New Roman" panose="02020603050405020304" pitchFamily="18" charset="0"/>
              </a:rPr>
              <a:t>Hz of frequency.</a:t>
            </a:r>
          </a:p>
        </p:txBody>
      </p:sp>
      <p:sp>
        <p:nvSpPr>
          <p:cNvPr id="9" name="TextBox 8">
            <a:extLst>
              <a:ext uri="{FF2B5EF4-FFF2-40B4-BE49-F238E27FC236}">
                <a16:creationId xmlns="" xmlns:a16="http://schemas.microsoft.com/office/drawing/2014/main" id="{FDF8C958-C683-D31E-D617-D22C9E8A6FB8}"/>
              </a:ext>
            </a:extLst>
          </p:cNvPr>
          <p:cNvSpPr txBox="1">
            <a:spLocks noRot="1" noChangeAspect="1" noMove="1" noResize="1" noEditPoints="1" noAdjustHandles="1" noChangeArrowheads="1" noChangeShapeType="1" noTextEdit="1"/>
          </p:cNvSpPr>
          <p:nvPr/>
        </p:nvSpPr>
        <p:spPr>
          <a:xfrm>
            <a:off x="4367808" y="4504574"/>
            <a:ext cx="3960440" cy="830997"/>
          </a:xfrm>
          <a:prstGeom prst="rect">
            <a:avLst/>
          </a:prstGeom>
          <a:blipFill>
            <a:blip r:embed="rId2"/>
            <a:stretch>
              <a:fillRect b="-14925"/>
            </a:stretch>
          </a:blipFill>
          <a:ln>
            <a:solidFill>
              <a:srgbClr val="002060"/>
            </a:solidFill>
          </a:ln>
        </p:spPr>
        <p:txBody>
          <a:bodyPr/>
          <a:lstStyle/>
          <a:p>
            <a:pPr>
              <a:defRPr/>
            </a:pPr>
            <a:r>
              <a:rPr lang="en-US" dirty="0">
                <a:noFill/>
              </a:rPr>
              <a:t> </a:t>
            </a:r>
          </a:p>
        </p:txBody>
      </p:sp>
    </p:spTree>
    <p:extLst>
      <p:ext uri="{BB962C8B-B14F-4D97-AF65-F5344CB8AC3E}">
        <p14:creationId xmlns:p14="http://schemas.microsoft.com/office/powerpoint/2010/main" val="24309776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DE6C13A9-4773-966D-D465-784EF04FFA0E}"/>
              </a:ext>
            </a:extLst>
          </p:cNvPr>
          <p:cNvSpPr txBox="1"/>
          <p:nvPr/>
        </p:nvSpPr>
        <p:spPr>
          <a:xfrm>
            <a:off x="88906" y="134938"/>
            <a:ext cx="11988790" cy="1631216"/>
          </a:xfrm>
          <a:prstGeom prst="rect">
            <a:avLst/>
          </a:prstGeom>
          <a:solidFill>
            <a:schemeClr val="bg1"/>
          </a:solidFill>
          <a:ln w="19050">
            <a:solidFill>
              <a:srgbClr val="941651"/>
            </a:solidFill>
          </a:ln>
        </p:spPr>
        <p:txBody>
          <a:bodyPr wrap="square">
            <a:spAutoFit/>
          </a:bodyPr>
          <a:lstStyle/>
          <a:p>
            <a:pPr eaLnBrk="1" hangingPunct="1">
              <a:buFont typeface="Wingdings" pitchFamily="2" charset="2"/>
              <a:buNone/>
              <a:defRPr/>
            </a:pPr>
            <a:r>
              <a:rPr lang="en-US" altLang="en-US" sz="2800" b="1" dirty="0">
                <a:solidFill>
                  <a:srgbClr val="941651"/>
                </a:solidFill>
                <a:latin typeface="Times New Roman" panose="02020603050405020304" pitchFamily="18" charset="0"/>
                <a:cs typeface="Times New Roman" panose="02020603050405020304" pitchFamily="18" charset="0"/>
              </a:rPr>
              <a:t>Ionic polarization:</a:t>
            </a:r>
          </a:p>
          <a:p>
            <a:pPr algn="just" eaLnBrk="1" hangingPunct="1">
              <a:defRPr/>
            </a:pPr>
            <a:r>
              <a:rPr lang="en-US" altLang="en-US" sz="2400" dirty="0">
                <a:solidFill>
                  <a:srgbClr val="002060"/>
                </a:solidFill>
                <a:latin typeface="Times New Roman" panose="02020603050405020304" pitchFamily="18" charset="0"/>
                <a:cs typeface="Times New Roman" panose="02020603050405020304" pitchFamily="18" charset="0"/>
              </a:rPr>
              <a:t>The ionic polarization occurs, due to a relative displacement of the atomic components of the molecule in the presence of an electric field.</a:t>
            </a:r>
            <a:r>
              <a:rPr lang="en-US" altLang="en-US" sz="2400" dirty="0">
                <a:solidFill>
                  <a:srgbClr val="660033"/>
                </a:solidFill>
                <a:latin typeface="Times New Roman" panose="02020603050405020304" pitchFamily="18" charset="0"/>
                <a:cs typeface="Times New Roman" panose="02020603050405020304" pitchFamily="18" charset="0"/>
              </a:rPr>
              <a:t> It occurs at a frequency 10</a:t>
            </a:r>
            <a:r>
              <a:rPr lang="en-US" altLang="en-US" sz="2400" b="1" baseline="30000" dirty="0">
                <a:solidFill>
                  <a:srgbClr val="660033"/>
                </a:solidFill>
                <a:latin typeface="Times New Roman" panose="02020603050405020304" pitchFamily="18" charset="0"/>
                <a:cs typeface="Times New Roman" panose="02020603050405020304" pitchFamily="18" charset="0"/>
              </a:rPr>
              <a:t>13</a:t>
            </a:r>
            <a:r>
              <a:rPr lang="en-US" altLang="en-US" sz="2400" dirty="0">
                <a:solidFill>
                  <a:srgbClr val="660033"/>
                </a:solidFill>
                <a:latin typeface="Times New Roman" panose="02020603050405020304" pitchFamily="18" charset="0"/>
                <a:cs typeface="Times New Roman" panose="02020603050405020304" pitchFamily="18" charset="0"/>
              </a:rPr>
              <a:t> Hz, and it is independent of temperature.</a:t>
            </a:r>
            <a:r>
              <a:rPr lang="en-US" altLang="en-US" sz="2400" dirty="0">
                <a:solidFill>
                  <a:srgbClr val="002060"/>
                </a:solidFill>
                <a:latin typeface="Times New Roman" panose="02020603050405020304" pitchFamily="18" charset="0"/>
                <a:cs typeface="Times New Roman" panose="02020603050405020304" pitchFamily="18" charset="0"/>
              </a:rPr>
              <a:t>  The resultant dipole moment  </a:t>
            </a:r>
            <a:r>
              <a:rPr lang="en-US" altLang="en-US" sz="24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µ = q ( x</a:t>
            </a:r>
            <a:r>
              <a:rPr lang="en-US" altLang="en-US" sz="2400" baseline="-250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1</a:t>
            </a:r>
            <a:r>
              <a:rPr lang="en-US" altLang="en-US" sz="24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 + x</a:t>
            </a:r>
            <a:r>
              <a:rPr lang="en-US" altLang="en-US" sz="2400" baseline="-250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2</a:t>
            </a:r>
            <a:r>
              <a:rPr lang="en-US" altLang="en-US" sz="2400"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IN" altLang="en-US" sz="2400" dirty="0">
              <a:solidFill>
                <a:srgbClr val="002060"/>
              </a:solidFill>
              <a:latin typeface="Times New Roman" panose="02020603050405020304" pitchFamily="18" charset="0"/>
              <a:cs typeface="Times New Roman" panose="02020603050405020304" pitchFamily="18" charset="0"/>
            </a:endParaRPr>
          </a:p>
        </p:txBody>
      </p:sp>
      <p:grpSp>
        <p:nvGrpSpPr>
          <p:cNvPr id="25602" name="Group 40">
            <a:extLst>
              <a:ext uri="{FF2B5EF4-FFF2-40B4-BE49-F238E27FC236}">
                <a16:creationId xmlns="" xmlns:a16="http://schemas.microsoft.com/office/drawing/2014/main" id="{F48CA793-7A86-1EBA-0064-22E41752B8B7}"/>
              </a:ext>
            </a:extLst>
          </p:cNvPr>
          <p:cNvGrpSpPr>
            <a:grpSpLocks/>
          </p:cNvGrpSpPr>
          <p:nvPr/>
        </p:nvGrpSpPr>
        <p:grpSpPr bwMode="auto">
          <a:xfrm>
            <a:off x="5364894" y="1766154"/>
            <a:ext cx="4062413" cy="4803775"/>
            <a:chOff x="4644529" y="1830308"/>
            <a:chExt cx="4062413" cy="4681538"/>
          </a:xfrm>
        </p:grpSpPr>
        <p:grpSp>
          <p:nvGrpSpPr>
            <p:cNvPr id="25605" name="Group 42">
              <a:extLst>
                <a:ext uri="{FF2B5EF4-FFF2-40B4-BE49-F238E27FC236}">
                  <a16:creationId xmlns="" xmlns:a16="http://schemas.microsoft.com/office/drawing/2014/main" id="{D7F98697-0BBA-834C-1CE4-521DCA5866FB}"/>
                </a:ext>
              </a:extLst>
            </p:cNvPr>
            <p:cNvGrpSpPr>
              <a:grpSpLocks/>
            </p:cNvGrpSpPr>
            <p:nvPr/>
          </p:nvGrpSpPr>
          <p:grpSpPr bwMode="auto">
            <a:xfrm>
              <a:off x="4644529" y="1830308"/>
              <a:ext cx="4062413" cy="4681538"/>
              <a:chOff x="1656" y="572"/>
              <a:chExt cx="2559" cy="2949"/>
            </a:xfrm>
          </p:grpSpPr>
          <p:sp>
            <p:nvSpPr>
              <p:cNvPr id="6" name="Line 5">
                <a:extLst>
                  <a:ext uri="{FF2B5EF4-FFF2-40B4-BE49-F238E27FC236}">
                    <a16:creationId xmlns="" xmlns:a16="http://schemas.microsoft.com/office/drawing/2014/main" id="{40A1CE78-A803-DD5D-B94A-FBAA30E62E17}"/>
                  </a:ext>
                </a:extLst>
              </p:cNvPr>
              <p:cNvSpPr>
                <a:spLocks noChangeShapeType="1"/>
              </p:cNvSpPr>
              <p:nvPr/>
            </p:nvSpPr>
            <p:spPr bwMode="auto">
              <a:xfrm>
                <a:off x="1974" y="754"/>
                <a:ext cx="0" cy="2767"/>
              </a:xfrm>
              <a:prstGeom prst="line">
                <a:avLst/>
              </a:prstGeom>
              <a:noFill/>
              <a:ln w="38100">
                <a:solidFill>
                  <a:schemeClr val="accent4">
                    <a:lumMod val="10000"/>
                  </a:schemeClr>
                </a:solidFill>
                <a:round/>
                <a:headEnd/>
                <a:tailEnd/>
              </a:ln>
              <a:effectLst/>
            </p:spPr>
            <p:txBody>
              <a:bodyPr/>
              <a:lstStyle/>
              <a:p>
                <a:pPr>
                  <a:defRPr/>
                </a:pPr>
                <a:endParaRPr lang="en-US"/>
              </a:p>
            </p:txBody>
          </p:sp>
          <p:sp>
            <p:nvSpPr>
              <p:cNvPr id="7" name="Line 6">
                <a:extLst>
                  <a:ext uri="{FF2B5EF4-FFF2-40B4-BE49-F238E27FC236}">
                    <a16:creationId xmlns="" xmlns:a16="http://schemas.microsoft.com/office/drawing/2014/main" id="{F7DEC83B-0910-C7FB-A29C-E9290DAB05F9}"/>
                  </a:ext>
                </a:extLst>
              </p:cNvPr>
              <p:cNvSpPr>
                <a:spLocks noChangeShapeType="1"/>
              </p:cNvSpPr>
              <p:nvPr/>
            </p:nvSpPr>
            <p:spPr bwMode="auto">
              <a:xfrm>
                <a:off x="3924" y="754"/>
                <a:ext cx="0" cy="2767"/>
              </a:xfrm>
              <a:prstGeom prst="line">
                <a:avLst/>
              </a:prstGeom>
              <a:noFill/>
              <a:ln w="38100">
                <a:solidFill>
                  <a:schemeClr val="accent4">
                    <a:lumMod val="10000"/>
                  </a:schemeClr>
                </a:solidFill>
                <a:round/>
                <a:headEnd/>
                <a:tailEnd/>
              </a:ln>
              <a:effectLst/>
            </p:spPr>
            <p:txBody>
              <a:bodyPr/>
              <a:lstStyle/>
              <a:p>
                <a:pPr>
                  <a:defRPr/>
                </a:pPr>
                <a:endParaRPr lang="en-US"/>
              </a:p>
            </p:txBody>
          </p:sp>
          <p:sp>
            <p:nvSpPr>
              <p:cNvPr id="25616" name="Text Box 11">
                <a:extLst>
                  <a:ext uri="{FF2B5EF4-FFF2-40B4-BE49-F238E27FC236}">
                    <a16:creationId xmlns="" xmlns:a16="http://schemas.microsoft.com/office/drawing/2014/main" id="{3262BE7C-4DD7-FF7D-4379-5913C9E9B8C1}"/>
                  </a:ext>
                </a:extLst>
              </p:cNvPr>
              <p:cNvSpPr txBox="1">
                <a:spLocks noChangeArrowheads="1"/>
              </p:cNvSpPr>
              <p:nvPr/>
            </p:nvSpPr>
            <p:spPr bwMode="auto">
              <a:xfrm>
                <a:off x="2483" y="2852"/>
                <a:ext cx="998" cy="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60000"/>
                  <a:buFont typeface="Wingdings" pitchFamily="2" charset="2"/>
                  <a:buChar char="n"/>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chemeClr val="tx2"/>
                  </a:buClr>
                  <a:buSzPct val="60000"/>
                  <a:buFont typeface="Wingdings" pitchFamily="2" charset="2"/>
                  <a:buChar char="n"/>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chemeClr val="folHlink"/>
                  </a:buClr>
                  <a:buSzPct val="60000"/>
                  <a:buFont typeface="Wingdings" pitchFamily="2" charset="2"/>
                  <a:buChar char="n"/>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chemeClr val="tx1"/>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9pPr>
              </a:lstStyle>
              <a:p>
                <a:pPr eaLnBrk="1" hangingPunct="1">
                  <a:spcBef>
                    <a:spcPct val="0"/>
                  </a:spcBef>
                  <a:buClrTx/>
                  <a:buSzTx/>
                  <a:buFontTx/>
                  <a:buNone/>
                </a:pPr>
                <a:r>
                  <a:rPr lang="en-US" altLang="en-US" sz="2000" b="1">
                    <a:solidFill>
                      <a:srgbClr val="002060"/>
                    </a:solidFill>
                    <a:cs typeface="Times New Roman" panose="02020603050405020304" pitchFamily="18" charset="0"/>
                  </a:rPr>
                  <a:t>Electric field</a:t>
                </a:r>
                <a:endParaRPr lang="en-IN" altLang="en-US" sz="2000" b="1">
                  <a:solidFill>
                    <a:srgbClr val="002060"/>
                  </a:solidFill>
                  <a:cs typeface="Times New Roman" panose="02020603050405020304" pitchFamily="18" charset="0"/>
                </a:endParaRPr>
              </a:p>
            </p:txBody>
          </p:sp>
          <p:sp>
            <p:nvSpPr>
              <p:cNvPr id="25617" name="Text Box 14">
                <a:extLst>
                  <a:ext uri="{FF2B5EF4-FFF2-40B4-BE49-F238E27FC236}">
                    <a16:creationId xmlns="" xmlns:a16="http://schemas.microsoft.com/office/drawing/2014/main" id="{FC86CF2D-BCF1-E7D1-E6C6-20521CFA69E4}"/>
                  </a:ext>
                </a:extLst>
              </p:cNvPr>
              <p:cNvSpPr txBox="1">
                <a:spLocks noChangeArrowheads="1"/>
              </p:cNvSpPr>
              <p:nvPr/>
            </p:nvSpPr>
            <p:spPr bwMode="auto">
              <a:xfrm>
                <a:off x="1702" y="663"/>
                <a:ext cx="27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60000"/>
                  <a:buFont typeface="Wingdings" pitchFamily="2" charset="2"/>
                  <a:buChar char="n"/>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chemeClr val="tx2"/>
                  </a:buClr>
                  <a:buSzPct val="60000"/>
                  <a:buFont typeface="Wingdings" pitchFamily="2" charset="2"/>
                  <a:buChar char="n"/>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chemeClr val="folHlink"/>
                  </a:buClr>
                  <a:buSzPct val="60000"/>
                  <a:buFont typeface="Wingdings" pitchFamily="2" charset="2"/>
                  <a:buChar char="n"/>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chemeClr val="tx1"/>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9pPr>
              </a:lstStyle>
              <a:p>
                <a:pPr eaLnBrk="1" hangingPunct="1">
                  <a:spcBef>
                    <a:spcPct val="0"/>
                  </a:spcBef>
                  <a:buClrTx/>
                  <a:buSzTx/>
                  <a:buFontTx/>
                  <a:buNone/>
                </a:pPr>
                <a:r>
                  <a:rPr lang="en-US" altLang="en-US" sz="2400" b="1">
                    <a:solidFill>
                      <a:schemeClr val="accent2"/>
                    </a:solidFill>
                    <a:latin typeface="Tahoma" panose="020B0604030504040204" pitchFamily="34" charset="0"/>
                  </a:rPr>
                  <a:t>+</a:t>
                </a:r>
                <a:endParaRPr lang="en-IN" altLang="en-US" sz="2400" b="1">
                  <a:solidFill>
                    <a:schemeClr val="accent2"/>
                  </a:solidFill>
                  <a:latin typeface="Tahoma" panose="020B0604030504040204" pitchFamily="34" charset="0"/>
                </a:endParaRPr>
              </a:p>
            </p:txBody>
          </p:sp>
          <p:sp>
            <p:nvSpPr>
              <p:cNvPr id="25618" name="Text Box 17">
                <a:extLst>
                  <a:ext uri="{FF2B5EF4-FFF2-40B4-BE49-F238E27FC236}">
                    <a16:creationId xmlns="" xmlns:a16="http://schemas.microsoft.com/office/drawing/2014/main" id="{6ABBDBA0-0A51-039B-5794-5B740537B8AC}"/>
                  </a:ext>
                </a:extLst>
              </p:cNvPr>
              <p:cNvSpPr txBox="1">
                <a:spLocks noChangeArrowheads="1"/>
              </p:cNvSpPr>
              <p:nvPr/>
            </p:nvSpPr>
            <p:spPr bwMode="auto">
              <a:xfrm>
                <a:off x="1702" y="1290"/>
                <a:ext cx="27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60000"/>
                  <a:buFont typeface="Wingdings" pitchFamily="2" charset="2"/>
                  <a:buChar char="n"/>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chemeClr val="tx2"/>
                  </a:buClr>
                  <a:buSzPct val="60000"/>
                  <a:buFont typeface="Wingdings" pitchFamily="2" charset="2"/>
                  <a:buChar char="n"/>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chemeClr val="folHlink"/>
                  </a:buClr>
                  <a:buSzPct val="60000"/>
                  <a:buFont typeface="Wingdings" pitchFamily="2" charset="2"/>
                  <a:buChar char="n"/>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chemeClr val="tx1"/>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9pPr>
              </a:lstStyle>
              <a:p>
                <a:pPr eaLnBrk="1" hangingPunct="1">
                  <a:spcBef>
                    <a:spcPct val="0"/>
                  </a:spcBef>
                  <a:buClrTx/>
                  <a:buSzTx/>
                  <a:buFontTx/>
                  <a:buNone/>
                </a:pPr>
                <a:r>
                  <a:rPr lang="en-US" altLang="en-US" sz="2400" b="1">
                    <a:solidFill>
                      <a:schemeClr val="accent2"/>
                    </a:solidFill>
                    <a:latin typeface="Tahoma" panose="020B0604030504040204" pitchFamily="34" charset="0"/>
                  </a:rPr>
                  <a:t>+</a:t>
                </a:r>
                <a:endParaRPr lang="en-IN" altLang="en-US" sz="2400" b="1">
                  <a:solidFill>
                    <a:schemeClr val="accent2"/>
                  </a:solidFill>
                  <a:latin typeface="Tahoma" panose="020B0604030504040204" pitchFamily="34" charset="0"/>
                </a:endParaRPr>
              </a:p>
            </p:txBody>
          </p:sp>
          <p:sp>
            <p:nvSpPr>
              <p:cNvPr id="25619" name="Text Box 19">
                <a:extLst>
                  <a:ext uri="{FF2B5EF4-FFF2-40B4-BE49-F238E27FC236}">
                    <a16:creationId xmlns="" xmlns:a16="http://schemas.microsoft.com/office/drawing/2014/main" id="{B0FEB8E8-886D-E34B-AEAE-09A593FD5BF6}"/>
                  </a:ext>
                </a:extLst>
              </p:cNvPr>
              <p:cNvSpPr txBox="1">
                <a:spLocks noChangeArrowheads="1"/>
              </p:cNvSpPr>
              <p:nvPr/>
            </p:nvSpPr>
            <p:spPr bwMode="auto">
              <a:xfrm>
                <a:off x="1656" y="2568"/>
                <a:ext cx="27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60000"/>
                  <a:buFont typeface="Wingdings" pitchFamily="2" charset="2"/>
                  <a:buChar char="n"/>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chemeClr val="tx2"/>
                  </a:buClr>
                  <a:buSzPct val="60000"/>
                  <a:buFont typeface="Wingdings" pitchFamily="2" charset="2"/>
                  <a:buChar char="n"/>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chemeClr val="folHlink"/>
                  </a:buClr>
                  <a:buSzPct val="60000"/>
                  <a:buFont typeface="Wingdings" pitchFamily="2" charset="2"/>
                  <a:buChar char="n"/>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chemeClr val="tx1"/>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9pPr>
              </a:lstStyle>
              <a:p>
                <a:pPr eaLnBrk="1" hangingPunct="1">
                  <a:spcBef>
                    <a:spcPct val="0"/>
                  </a:spcBef>
                  <a:buClrTx/>
                  <a:buSzTx/>
                  <a:buFontTx/>
                  <a:buNone/>
                </a:pPr>
                <a:r>
                  <a:rPr lang="en-US" altLang="en-US" sz="2400" b="1">
                    <a:solidFill>
                      <a:schemeClr val="accent2"/>
                    </a:solidFill>
                    <a:latin typeface="Tahoma" panose="020B0604030504040204" pitchFamily="34" charset="0"/>
                  </a:rPr>
                  <a:t>+</a:t>
                </a:r>
                <a:endParaRPr lang="en-IN" altLang="en-US" sz="2400" b="1">
                  <a:solidFill>
                    <a:schemeClr val="accent2"/>
                  </a:solidFill>
                  <a:latin typeface="Tahoma" panose="020B0604030504040204" pitchFamily="34" charset="0"/>
                </a:endParaRPr>
              </a:p>
            </p:txBody>
          </p:sp>
          <p:sp>
            <p:nvSpPr>
              <p:cNvPr id="25620" name="Text Box 21">
                <a:extLst>
                  <a:ext uri="{FF2B5EF4-FFF2-40B4-BE49-F238E27FC236}">
                    <a16:creationId xmlns="" xmlns:a16="http://schemas.microsoft.com/office/drawing/2014/main" id="{E9D266DF-6A9B-9FDC-0B36-B60C415792D9}"/>
                  </a:ext>
                </a:extLst>
              </p:cNvPr>
              <p:cNvSpPr txBox="1">
                <a:spLocks noChangeArrowheads="1"/>
              </p:cNvSpPr>
              <p:nvPr/>
            </p:nvSpPr>
            <p:spPr bwMode="auto">
              <a:xfrm>
                <a:off x="1656" y="3203"/>
                <a:ext cx="27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60000"/>
                  <a:buFont typeface="Wingdings" pitchFamily="2" charset="2"/>
                  <a:buChar char="n"/>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chemeClr val="tx2"/>
                  </a:buClr>
                  <a:buSzPct val="60000"/>
                  <a:buFont typeface="Wingdings" pitchFamily="2" charset="2"/>
                  <a:buChar char="n"/>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chemeClr val="folHlink"/>
                  </a:buClr>
                  <a:buSzPct val="60000"/>
                  <a:buFont typeface="Wingdings" pitchFamily="2" charset="2"/>
                  <a:buChar char="n"/>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chemeClr val="tx1"/>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9pPr>
              </a:lstStyle>
              <a:p>
                <a:pPr eaLnBrk="1" hangingPunct="1">
                  <a:spcBef>
                    <a:spcPct val="0"/>
                  </a:spcBef>
                  <a:buClrTx/>
                  <a:buSzTx/>
                  <a:buFontTx/>
                  <a:buNone/>
                </a:pPr>
                <a:r>
                  <a:rPr lang="en-US" altLang="en-US" sz="2400" b="1">
                    <a:solidFill>
                      <a:schemeClr val="accent2"/>
                    </a:solidFill>
                    <a:latin typeface="Tahoma" panose="020B0604030504040204" pitchFamily="34" charset="0"/>
                  </a:rPr>
                  <a:t>+</a:t>
                </a:r>
                <a:endParaRPr lang="en-IN" altLang="en-US" sz="2400" b="1">
                  <a:solidFill>
                    <a:schemeClr val="accent2"/>
                  </a:solidFill>
                  <a:latin typeface="Tahoma" panose="020B0604030504040204" pitchFamily="34" charset="0"/>
                </a:endParaRPr>
              </a:p>
            </p:txBody>
          </p:sp>
          <p:sp>
            <p:nvSpPr>
              <p:cNvPr id="25621" name="Text Box 22">
                <a:extLst>
                  <a:ext uri="{FF2B5EF4-FFF2-40B4-BE49-F238E27FC236}">
                    <a16:creationId xmlns="" xmlns:a16="http://schemas.microsoft.com/office/drawing/2014/main" id="{43F6B824-01DF-9A6D-011F-BA60E2D7554E}"/>
                  </a:ext>
                </a:extLst>
              </p:cNvPr>
              <p:cNvSpPr txBox="1">
                <a:spLocks noChangeArrowheads="1"/>
              </p:cNvSpPr>
              <p:nvPr/>
            </p:nvSpPr>
            <p:spPr bwMode="auto">
              <a:xfrm>
                <a:off x="3977" y="572"/>
                <a:ext cx="23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60000"/>
                  <a:buFont typeface="Wingdings" pitchFamily="2" charset="2"/>
                  <a:buChar char="n"/>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chemeClr val="tx2"/>
                  </a:buClr>
                  <a:buSzPct val="60000"/>
                  <a:buFont typeface="Wingdings" pitchFamily="2" charset="2"/>
                  <a:buChar char="n"/>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chemeClr val="folHlink"/>
                  </a:buClr>
                  <a:buSzPct val="60000"/>
                  <a:buFont typeface="Wingdings" pitchFamily="2" charset="2"/>
                  <a:buChar char="n"/>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chemeClr val="tx1"/>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9pPr>
              </a:lstStyle>
              <a:p>
                <a:pPr eaLnBrk="1" hangingPunct="1">
                  <a:spcBef>
                    <a:spcPct val="0"/>
                  </a:spcBef>
                  <a:buClrTx/>
                  <a:buSzTx/>
                  <a:buFontTx/>
                  <a:buNone/>
                </a:pPr>
                <a:r>
                  <a:rPr lang="en-US" altLang="en-US" sz="2400" b="1">
                    <a:solidFill>
                      <a:schemeClr val="accent2"/>
                    </a:solidFill>
                    <a:latin typeface="Tahoma" panose="020B0604030504040204" pitchFamily="34" charset="0"/>
                  </a:rPr>
                  <a:t>_</a:t>
                </a:r>
                <a:endParaRPr lang="en-IN" altLang="en-US" sz="2400" b="1">
                  <a:solidFill>
                    <a:schemeClr val="accent2"/>
                  </a:solidFill>
                  <a:latin typeface="Tahoma" panose="020B0604030504040204" pitchFamily="34" charset="0"/>
                </a:endParaRPr>
              </a:p>
            </p:txBody>
          </p:sp>
          <p:sp>
            <p:nvSpPr>
              <p:cNvPr id="25622" name="Text Box 24">
                <a:extLst>
                  <a:ext uri="{FF2B5EF4-FFF2-40B4-BE49-F238E27FC236}">
                    <a16:creationId xmlns="" xmlns:a16="http://schemas.microsoft.com/office/drawing/2014/main" id="{6D5B47FF-8CE1-A326-2203-088B2ABE65F9}"/>
                  </a:ext>
                </a:extLst>
              </p:cNvPr>
              <p:cNvSpPr txBox="1">
                <a:spLocks noChangeArrowheads="1"/>
              </p:cNvSpPr>
              <p:nvPr/>
            </p:nvSpPr>
            <p:spPr bwMode="auto">
              <a:xfrm>
                <a:off x="3969" y="2394"/>
                <a:ext cx="23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60000"/>
                  <a:buFont typeface="Wingdings" pitchFamily="2" charset="2"/>
                  <a:buChar char="n"/>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chemeClr val="tx2"/>
                  </a:buClr>
                  <a:buSzPct val="60000"/>
                  <a:buFont typeface="Wingdings" pitchFamily="2" charset="2"/>
                  <a:buChar char="n"/>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chemeClr val="folHlink"/>
                  </a:buClr>
                  <a:buSzPct val="60000"/>
                  <a:buFont typeface="Wingdings" pitchFamily="2" charset="2"/>
                  <a:buChar char="n"/>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chemeClr val="tx1"/>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9pPr>
              </a:lstStyle>
              <a:p>
                <a:pPr eaLnBrk="1" hangingPunct="1">
                  <a:spcBef>
                    <a:spcPct val="0"/>
                  </a:spcBef>
                  <a:buClrTx/>
                  <a:buSzTx/>
                  <a:buFontTx/>
                  <a:buNone/>
                </a:pPr>
                <a:r>
                  <a:rPr lang="en-US" altLang="en-US" sz="2400" b="1">
                    <a:solidFill>
                      <a:schemeClr val="accent2"/>
                    </a:solidFill>
                    <a:latin typeface="Tahoma" panose="020B0604030504040204" pitchFamily="34" charset="0"/>
                  </a:rPr>
                  <a:t>_</a:t>
                </a:r>
                <a:endParaRPr lang="en-IN" altLang="en-US" sz="2400" b="1">
                  <a:solidFill>
                    <a:schemeClr val="accent2"/>
                  </a:solidFill>
                  <a:latin typeface="Tahoma" panose="020B0604030504040204" pitchFamily="34" charset="0"/>
                </a:endParaRPr>
              </a:p>
            </p:txBody>
          </p:sp>
          <p:sp>
            <p:nvSpPr>
              <p:cNvPr id="25623" name="Text Box 26">
                <a:extLst>
                  <a:ext uri="{FF2B5EF4-FFF2-40B4-BE49-F238E27FC236}">
                    <a16:creationId xmlns="" xmlns:a16="http://schemas.microsoft.com/office/drawing/2014/main" id="{B851D4C7-7DD9-DCDC-3CFB-ABB18304A792}"/>
                  </a:ext>
                </a:extLst>
              </p:cNvPr>
              <p:cNvSpPr txBox="1">
                <a:spLocks noChangeArrowheads="1"/>
              </p:cNvSpPr>
              <p:nvPr/>
            </p:nvSpPr>
            <p:spPr bwMode="auto">
              <a:xfrm>
                <a:off x="3969" y="3117"/>
                <a:ext cx="23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60000"/>
                  <a:buFont typeface="Wingdings" pitchFamily="2" charset="2"/>
                  <a:buChar char="n"/>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chemeClr val="tx2"/>
                  </a:buClr>
                  <a:buSzPct val="60000"/>
                  <a:buFont typeface="Wingdings" pitchFamily="2" charset="2"/>
                  <a:buChar char="n"/>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chemeClr val="folHlink"/>
                  </a:buClr>
                  <a:buSzPct val="60000"/>
                  <a:buFont typeface="Wingdings" pitchFamily="2" charset="2"/>
                  <a:buChar char="n"/>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chemeClr val="tx1"/>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9pPr>
              </a:lstStyle>
              <a:p>
                <a:pPr eaLnBrk="1" hangingPunct="1">
                  <a:spcBef>
                    <a:spcPct val="0"/>
                  </a:spcBef>
                  <a:buClrTx/>
                  <a:buSzTx/>
                  <a:buFontTx/>
                  <a:buNone/>
                </a:pPr>
                <a:r>
                  <a:rPr lang="en-US" altLang="en-US" sz="2400" b="1">
                    <a:solidFill>
                      <a:schemeClr val="accent2"/>
                    </a:solidFill>
                    <a:latin typeface="Tahoma" panose="020B0604030504040204" pitchFamily="34" charset="0"/>
                  </a:rPr>
                  <a:t>_</a:t>
                </a:r>
                <a:endParaRPr lang="en-IN" altLang="en-US" sz="2400" b="1">
                  <a:solidFill>
                    <a:schemeClr val="accent2"/>
                  </a:solidFill>
                  <a:latin typeface="Tahoma" panose="020B0604030504040204" pitchFamily="34" charset="0"/>
                </a:endParaRPr>
              </a:p>
            </p:txBody>
          </p:sp>
          <p:sp>
            <p:nvSpPr>
              <p:cNvPr id="25624" name="Text Box 27">
                <a:extLst>
                  <a:ext uri="{FF2B5EF4-FFF2-40B4-BE49-F238E27FC236}">
                    <a16:creationId xmlns="" xmlns:a16="http://schemas.microsoft.com/office/drawing/2014/main" id="{4AC9F672-0D2B-7506-9C26-5565235FEF88}"/>
                  </a:ext>
                </a:extLst>
              </p:cNvPr>
              <p:cNvSpPr txBox="1">
                <a:spLocks noChangeArrowheads="1"/>
              </p:cNvSpPr>
              <p:nvPr/>
            </p:nvSpPr>
            <p:spPr bwMode="auto">
              <a:xfrm>
                <a:off x="3977" y="1216"/>
                <a:ext cx="23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60000"/>
                  <a:buFont typeface="Wingdings" pitchFamily="2" charset="2"/>
                  <a:buChar char="n"/>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chemeClr val="tx2"/>
                  </a:buClr>
                  <a:buSzPct val="60000"/>
                  <a:buFont typeface="Wingdings" pitchFamily="2" charset="2"/>
                  <a:buChar char="n"/>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chemeClr val="folHlink"/>
                  </a:buClr>
                  <a:buSzPct val="60000"/>
                  <a:buFont typeface="Wingdings" pitchFamily="2" charset="2"/>
                  <a:buChar char="n"/>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chemeClr val="tx1"/>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9pPr>
              </a:lstStyle>
              <a:p>
                <a:pPr eaLnBrk="1" hangingPunct="1">
                  <a:spcBef>
                    <a:spcPct val="0"/>
                  </a:spcBef>
                  <a:buClrTx/>
                  <a:buSzTx/>
                  <a:buFontTx/>
                  <a:buNone/>
                </a:pPr>
                <a:r>
                  <a:rPr lang="en-US" altLang="en-US" sz="2400" b="1">
                    <a:solidFill>
                      <a:schemeClr val="accent2"/>
                    </a:solidFill>
                    <a:latin typeface="Tahoma" panose="020B0604030504040204" pitchFamily="34" charset="0"/>
                  </a:rPr>
                  <a:t>_</a:t>
                </a:r>
                <a:endParaRPr lang="en-IN" altLang="en-US" sz="2400" b="1">
                  <a:solidFill>
                    <a:schemeClr val="accent2"/>
                  </a:solidFill>
                  <a:latin typeface="Tahoma" panose="020B0604030504040204" pitchFamily="34" charset="0"/>
                </a:endParaRPr>
              </a:p>
            </p:txBody>
          </p:sp>
          <p:sp>
            <p:nvSpPr>
              <p:cNvPr id="25625" name="Line 36">
                <a:extLst>
                  <a:ext uri="{FF2B5EF4-FFF2-40B4-BE49-F238E27FC236}">
                    <a16:creationId xmlns="" xmlns:a16="http://schemas.microsoft.com/office/drawing/2014/main" id="{9C50A86C-309A-800E-78BF-4024823C522C}"/>
                  </a:ext>
                </a:extLst>
              </p:cNvPr>
              <p:cNvSpPr>
                <a:spLocks noChangeShapeType="1"/>
              </p:cNvSpPr>
              <p:nvPr/>
            </p:nvSpPr>
            <p:spPr bwMode="auto">
              <a:xfrm>
                <a:off x="2979" y="1578"/>
                <a:ext cx="0" cy="1104"/>
              </a:xfrm>
              <a:prstGeom prst="line">
                <a:avLst/>
              </a:prstGeom>
              <a:noFill/>
              <a:ln w="28575">
                <a:solidFill>
                  <a:srgbClr val="660033"/>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aphicFrame>
            <p:nvGraphicFramePr>
              <p:cNvPr id="25626" name="Object 37">
                <a:extLst>
                  <a:ext uri="{FF2B5EF4-FFF2-40B4-BE49-F238E27FC236}">
                    <a16:creationId xmlns="" xmlns:a16="http://schemas.microsoft.com/office/drawing/2014/main" id="{43E2200A-725B-DBF3-50CA-30319E32A223}"/>
                  </a:ext>
                </a:extLst>
              </p:cNvPr>
              <p:cNvGraphicFramePr>
                <a:graphicFrameLocks noChangeAspect="1"/>
              </p:cNvGraphicFramePr>
              <p:nvPr/>
            </p:nvGraphicFramePr>
            <p:xfrm>
              <a:off x="2617" y="1683"/>
              <a:ext cx="304" cy="431"/>
            </p:xfrm>
            <a:graphic>
              <a:graphicData uri="http://schemas.openxmlformats.org/presentationml/2006/ole">
                <mc:AlternateContent xmlns:mc="http://schemas.openxmlformats.org/markup-compatibility/2006">
                  <mc:Choice xmlns:v="urn:schemas-microsoft-com:vml" Requires="v">
                    <p:oleObj spid="_x0000_s5130" name="Equation" r:id="rId3" imgW="3505200" imgH="4978400" progId="Equation.3">
                      <p:embed/>
                    </p:oleObj>
                  </mc:Choice>
                  <mc:Fallback>
                    <p:oleObj name="Equation" r:id="rId3" imgW="3505200" imgH="4978400" progId="Equation.3">
                      <p:embed/>
                      <p:pic>
                        <p:nvPicPr>
                          <p:cNvPr id="25626" name="Object 37">
                            <a:extLst>
                              <a:ext uri="{FF2B5EF4-FFF2-40B4-BE49-F238E27FC236}">
                                <a16:creationId xmlns="" xmlns:a16="http://schemas.microsoft.com/office/drawing/2014/main" id="{43E2200A-725B-DBF3-50CA-30319E32A2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17" y="1683"/>
                            <a:ext cx="304" cy="4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27" name="Object 38">
                <a:extLst>
                  <a:ext uri="{FF2B5EF4-FFF2-40B4-BE49-F238E27FC236}">
                    <a16:creationId xmlns="" xmlns:a16="http://schemas.microsoft.com/office/drawing/2014/main" id="{09A5C753-0CD9-696F-280E-826C180B79B1}"/>
                  </a:ext>
                </a:extLst>
              </p:cNvPr>
              <p:cNvGraphicFramePr>
                <a:graphicFrameLocks noChangeAspect="1"/>
              </p:cNvGraphicFramePr>
              <p:nvPr/>
            </p:nvGraphicFramePr>
            <p:xfrm>
              <a:off x="2987" y="1683"/>
              <a:ext cx="329" cy="431"/>
            </p:xfrm>
            <a:graphic>
              <a:graphicData uri="http://schemas.openxmlformats.org/presentationml/2006/ole">
                <mc:AlternateContent xmlns:mc="http://schemas.openxmlformats.org/markup-compatibility/2006">
                  <mc:Choice xmlns:v="urn:schemas-microsoft-com:vml" Requires="v">
                    <p:oleObj spid="_x0000_s5131" name="Equation" r:id="rId5" imgW="3797300" imgH="4978400" progId="Equation.3">
                      <p:embed/>
                    </p:oleObj>
                  </mc:Choice>
                  <mc:Fallback>
                    <p:oleObj name="Equation" r:id="rId5" imgW="3797300" imgH="4978400" progId="Equation.3">
                      <p:embed/>
                      <p:pic>
                        <p:nvPicPr>
                          <p:cNvPr id="25627" name="Object 38">
                            <a:extLst>
                              <a:ext uri="{FF2B5EF4-FFF2-40B4-BE49-F238E27FC236}">
                                <a16:creationId xmlns="" xmlns:a16="http://schemas.microsoft.com/office/drawing/2014/main" id="{09A5C753-0CD9-696F-280E-826C180B79B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87" y="1683"/>
                            <a:ext cx="329" cy="4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28" name="Text Box 39">
                <a:extLst>
                  <a:ext uri="{FF2B5EF4-FFF2-40B4-BE49-F238E27FC236}">
                    <a16:creationId xmlns="" xmlns:a16="http://schemas.microsoft.com/office/drawing/2014/main" id="{971C4D2E-F26F-3484-CE6E-B7B7089CD1AA}"/>
                  </a:ext>
                </a:extLst>
              </p:cNvPr>
              <p:cNvSpPr txBox="1">
                <a:spLocks noChangeArrowheads="1"/>
              </p:cNvSpPr>
              <p:nvPr/>
            </p:nvSpPr>
            <p:spPr bwMode="auto">
              <a:xfrm>
                <a:off x="3328" y="2381"/>
                <a:ext cx="58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60000"/>
                  <a:buFont typeface="Wingdings" pitchFamily="2" charset="2"/>
                  <a:buChar char="n"/>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chemeClr val="tx2"/>
                  </a:buClr>
                  <a:buSzPct val="60000"/>
                  <a:buFont typeface="Wingdings" pitchFamily="2" charset="2"/>
                  <a:buChar char="n"/>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chemeClr val="folHlink"/>
                  </a:buClr>
                  <a:buSzPct val="60000"/>
                  <a:buFont typeface="Wingdings" pitchFamily="2" charset="2"/>
                  <a:buChar char="n"/>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chemeClr val="tx1"/>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9pPr>
              </a:lstStyle>
              <a:p>
                <a:pPr eaLnBrk="1" hangingPunct="1">
                  <a:spcBef>
                    <a:spcPct val="0"/>
                  </a:spcBef>
                  <a:buClrTx/>
                  <a:buSzTx/>
                  <a:buFontTx/>
                  <a:buNone/>
                </a:pPr>
                <a:r>
                  <a:rPr lang="en-US" altLang="en-US" sz="2400" b="1">
                    <a:solidFill>
                      <a:srgbClr val="002060"/>
                    </a:solidFill>
                  </a:rPr>
                  <a:t>anion</a:t>
                </a:r>
                <a:endParaRPr lang="en-IN" altLang="en-US" sz="2400" b="1">
                  <a:solidFill>
                    <a:srgbClr val="002060"/>
                  </a:solidFill>
                </a:endParaRPr>
              </a:p>
            </p:txBody>
          </p:sp>
          <p:sp>
            <p:nvSpPr>
              <p:cNvPr id="25629" name="Text Box 41">
                <a:extLst>
                  <a:ext uri="{FF2B5EF4-FFF2-40B4-BE49-F238E27FC236}">
                    <a16:creationId xmlns="" xmlns:a16="http://schemas.microsoft.com/office/drawing/2014/main" id="{83153C2A-B018-0BE3-DFD8-A974042998D7}"/>
                  </a:ext>
                </a:extLst>
              </p:cNvPr>
              <p:cNvSpPr txBox="1">
                <a:spLocks noChangeArrowheads="1"/>
              </p:cNvSpPr>
              <p:nvPr/>
            </p:nvSpPr>
            <p:spPr bwMode="auto">
              <a:xfrm>
                <a:off x="2063" y="2359"/>
                <a:ext cx="62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60000"/>
                  <a:buFont typeface="Wingdings" pitchFamily="2" charset="2"/>
                  <a:buChar char="n"/>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chemeClr val="tx2"/>
                  </a:buClr>
                  <a:buSzPct val="60000"/>
                  <a:buFont typeface="Wingdings" pitchFamily="2" charset="2"/>
                  <a:buChar char="n"/>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chemeClr val="folHlink"/>
                  </a:buClr>
                  <a:buSzPct val="60000"/>
                  <a:buFont typeface="Wingdings" pitchFamily="2" charset="2"/>
                  <a:buChar char="n"/>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chemeClr val="tx1"/>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9pPr>
              </a:lstStyle>
              <a:p>
                <a:pPr eaLnBrk="1" hangingPunct="1">
                  <a:spcBef>
                    <a:spcPct val="0"/>
                  </a:spcBef>
                  <a:buClrTx/>
                  <a:buSzTx/>
                  <a:buFontTx/>
                  <a:buNone/>
                </a:pPr>
                <a:r>
                  <a:rPr lang="en-US" altLang="en-US" sz="2400" b="1">
                    <a:solidFill>
                      <a:srgbClr val="002060"/>
                    </a:solidFill>
                  </a:rPr>
                  <a:t>cation</a:t>
                </a:r>
                <a:endParaRPr lang="en-IN" altLang="en-US" sz="2400" b="1">
                  <a:solidFill>
                    <a:srgbClr val="002060"/>
                  </a:solidFill>
                </a:endParaRPr>
              </a:p>
            </p:txBody>
          </p:sp>
        </p:grpSp>
        <p:grpSp>
          <p:nvGrpSpPr>
            <p:cNvPr id="25606" name="Group 38">
              <a:extLst>
                <a:ext uri="{FF2B5EF4-FFF2-40B4-BE49-F238E27FC236}">
                  <a16:creationId xmlns="" xmlns:a16="http://schemas.microsoft.com/office/drawing/2014/main" id="{9BA2CE6B-6AA5-DA87-E284-E605171B9F53}"/>
                </a:ext>
              </a:extLst>
            </p:cNvPr>
            <p:cNvGrpSpPr>
              <a:grpSpLocks/>
            </p:cNvGrpSpPr>
            <p:nvPr/>
          </p:nvGrpSpPr>
          <p:grpSpPr bwMode="auto">
            <a:xfrm>
              <a:off x="4693132" y="3793010"/>
              <a:ext cx="3995045" cy="1019904"/>
              <a:chOff x="4693132" y="3793010"/>
              <a:chExt cx="3995045" cy="1019904"/>
            </a:xfrm>
          </p:grpSpPr>
          <p:pic>
            <p:nvPicPr>
              <p:cNvPr id="34" name="Picture 33" descr="A picture containing lamp, light&#10;&#10;Description automatically generated">
                <a:extLst>
                  <a:ext uri="{FF2B5EF4-FFF2-40B4-BE49-F238E27FC236}">
                    <a16:creationId xmlns="" xmlns:a16="http://schemas.microsoft.com/office/drawing/2014/main" id="{D6DA7E3F-1F91-B355-2C4A-983897B3AE88}"/>
                  </a:ext>
                </a:extLst>
              </p:cNvPr>
              <p:cNvPicPr>
                <a:picLocks noChangeAspect="1"/>
              </p:cNvPicPr>
              <p:nvPr/>
            </p:nvPicPr>
            <p:blipFill>
              <a:blip r:embed="rId7">
                <a:duotone>
                  <a:schemeClr val="accent5">
                    <a:shade val="45000"/>
                    <a:satMod val="135000"/>
                  </a:schemeClr>
                  <a:prstClr val="white"/>
                </a:duotone>
              </a:blip>
              <a:stretch>
                <a:fillRect/>
              </a:stretch>
            </p:blipFill>
            <p:spPr bwMode="auto">
              <a:xfrm rot="21332397">
                <a:off x="5089229" y="3793010"/>
                <a:ext cx="1111252" cy="1001347"/>
              </a:xfrm>
              <a:prstGeom prst="rect">
                <a:avLst/>
              </a:prstGeom>
            </p:spPr>
          </p:pic>
          <p:pic>
            <p:nvPicPr>
              <p:cNvPr id="35" name="Picture 34" descr="A picture containing lamp, light&#10;&#10;Description automatically generated">
                <a:extLst>
                  <a:ext uri="{FF2B5EF4-FFF2-40B4-BE49-F238E27FC236}">
                    <a16:creationId xmlns="" xmlns:a16="http://schemas.microsoft.com/office/drawing/2014/main" id="{9DA12A3C-B06A-16F1-6153-E21A6210944F}"/>
                  </a:ext>
                </a:extLst>
              </p:cNvPr>
              <p:cNvPicPr>
                <a:picLocks noChangeAspect="1"/>
              </p:cNvPicPr>
              <p:nvPr/>
            </p:nvPicPr>
            <p:blipFill>
              <a:blip r:embed="rId7">
                <a:duotone>
                  <a:schemeClr val="accent5">
                    <a:shade val="45000"/>
                    <a:satMod val="135000"/>
                  </a:schemeClr>
                  <a:prstClr val="white"/>
                </a:duotone>
              </a:blip>
              <a:stretch>
                <a:fillRect/>
              </a:stretch>
            </p:blipFill>
            <p:spPr bwMode="auto">
              <a:xfrm rot="21332397">
                <a:off x="7110663" y="3801471"/>
                <a:ext cx="1122457" cy="1011443"/>
              </a:xfrm>
              <a:prstGeom prst="rect">
                <a:avLst/>
              </a:prstGeom>
            </p:spPr>
          </p:pic>
          <p:sp>
            <p:nvSpPr>
              <p:cNvPr id="25609" name="Line 36">
                <a:extLst>
                  <a:ext uri="{FF2B5EF4-FFF2-40B4-BE49-F238E27FC236}">
                    <a16:creationId xmlns="" xmlns:a16="http://schemas.microsoft.com/office/drawing/2014/main" id="{FBBB897B-F8EB-1915-65A5-9E128FBACD48}"/>
                  </a:ext>
                </a:extLst>
              </p:cNvPr>
              <p:cNvSpPr>
                <a:spLocks noChangeShapeType="1"/>
              </p:cNvSpPr>
              <p:nvPr/>
            </p:nvSpPr>
            <p:spPr bwMode="auto">
              <a:xfrm flipV="1">
                <a:off x="6114553" y="4278234"/>
                <a:ext cx="1165223" cy="1"/>
              </a:xfrm>
              <a:prstGeom prst="line">
                <a:avLst/>
              </a:prstGeom>
              <a:noFill/>
              <a:ln w="19050">
                <a:solidFill>
                  <a:srgbClr val="660033"/>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10" name="Text Box 18">
                <a:extLst>
                  <a:ext uri="{FF2B5EF4-FFF2-40B4-BE49-F238E27FC236}">
                    <a16:creationId xmlns="" xmlns:a16="http://schemas.microsoft.com/office/drawing/2014/main" id="{21D97871-8DB9-FB27-FB27-FA7643E29FF9}"/>
                  </a:ext>
                </a:extLst>
              </p:cNvPr>
              <p:cNvSpPr txBox="1">
                <a:spLocks noChangeArrowheads="1"/>
              </p:cNvSpPr>
              <p:nvPr/>
            </p:nvSpPr>
            <p:spPr bwMode="auto">
              <a:xfrm>
                <a:off x="4693132" y="4013255"/>
                <a:ext cx="4333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60000"/>
                  <a:buFont typeface="Wingdings" pitchFamily="2" charset="2"/>
                  <a:buChar char="n"/>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chemeClr val="tx2"/>
                  </a:buClr>
                  <a:buSzPct val="60000"/>
                  <a:buFont typeface="Wingdings" pitchFamily="2" charset="2"/>
                  <a:buChar char="n"/>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chemeClr val="folHlink"/>
                  </a:buClr>
                  <a:buSzPct val="60000"/>
                  <a:buFont typeface="Wingdings" pitchFamily="2" charset="2"/>
                  <a:buChar char="n"/>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chemeClr val="tx1"/>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9pPr>
              </a:lstStyle>
              <a:p>
                <a:pPr eaLnBrk="1" hangingPunct="1">
                  <a:spcBef>
                    <a:spcPct val="0"/>
                  </a:spcBef>
                  <a:buClrTx/>
                  <a:buSzTx/>
                  <a:buFontTx/>
                  <a:buNone/>
                </a:pPr>
                <a:r>
                  <a:rPr lang="en-US" altLang="en-US" sz="2400" b="1">
                    <a:solidFill>
                      <a:schemeClr val="accent2"/>
                    </a:solidFill>
                    <a:latin typeface="Tahoma" panose="020B0604030504040204" pitchFamily="34" charset="0"/>
                  </a:rPr>
                  <a:t>+</a:t>
                </a:r>
                <a:endParaRPr lang="en-IN" altLang="en-US" sz="2400" b="1">
                  <a:solidFill>
                    <a:schemeClr val="accent2"/>
                  </a:solidFill>
                  <a:latin typeface="Tahoma" panose="020B0604030504040204" pitchFamily="34" charset="0"/>
                </a:endParaRPr>
              </a:p>
            </p:txBody>
          </p:sp>
          <p:sp>
            <p:nvSpPr>
              <p:cNvPr id="25611" name="Text Box 23">
                <a:extLst>
                  <a:ext uri="{FF2B5EF4-FFF2-40B4-BE49-F238E27FC236}">
                    <a16:creationId xmlns="" xmlns:a16="http://schemas.microsoft.com/office/drawing/2014/main" id="{E2970F4C-929D-745D-2D3A-EB1881250BDC}"/>
                  </a:ext>
                </a:extLst>
              </p:cNvPr>
              <p:cNvSpPr txBox="1">
                <a:spLocks noChangeArrowheads="1"/>
              </p:cNvSpPr>
              <p:nvPr/>
            </p:nvSpPr>
            <p:spPr bwMode="auto">
              <a:xfrm>
                <a:off x="8310352" y="3845136"/>
                <a:ext cx="377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60000"/>
                  <a:buFont typeface="Wingdings" pitchFamily="2" charset="2"/>
                  <a:buChar char="n"/>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chemeClr val="tx2"/>
                  </a:buClr>
                  <a:buSzPct val="60000"/>
                  <a:buFont typeface="Wingdings" pitchFamily="2" charset="2"/>
                  <a:buChar char="n"/>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chemeClr val="folHlink"/>
                  </a:buClr>
                  <a:buSzPct val="60000"/>
                  <a:buFont typeface="Wingdings" pitchFamily="2" charset="2"/>
                  <a:buChar char="n"/>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chemeClr val="tx1"/>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9pPr>
              </a:lstStyle>
              <a:p>
                <a:pPr eaLnBrk="1" hangingPunct="1">
                  <a:spcBef>
                    <a:spcPct val="0"/>
                  </a:spcBef>
                  <a:buClrTx/>
                  <a:buSzTx/>
                  <a:buFontTx/>
                  <a:buNone/>
                </a:pPr>
                <a:r>
                  <a:rPr lang="en-US" altLang="en-US" sz="2400" b="1">
                    <a:solidFill>
                      <a:schemeClr val="accent2"/>
                    </a:solidFill>
                    <a:latin typeface="Tahoma" panose="020B0604030504040204" pitchFamily="34" charset="0"/>
                  </a:rPr>
                  <a:t>_</a:t>
                </a:r>
                <a:endParaRPr lang="en-IN" altLang="en-US" sz="2400" b="1">
                  <a:solidFill>
                    <a:schemeClr val="accent2"/>
                  </a:solidFill>
                  <a:latin typeface="Tahoma" panose="020B0604030504040204" pitchFamily="34" charset="0"/>
                </a:endParaRPr>
              </a:p>
            </p:txBody>
          </p:sp>
          <p:sp>
            <p:nvSpPr>
              <p:cNvPr id="25612" name="TextBox 2">
                <a:extLst>
                  <a:ext uri="{FF2B5EF4-FFF2-40B4-BE49-F238E27FC236}">
                    <a16:creationId xmlns="" xmlns:a16="http://schemas.microsoft.com/office/drawing/2014/main" id="{80149A47-E403-B92E-2741-BA2245CA76DE}"/>
                  </a:ext>
                </a:extLst>
              </p:cNvPr>
              <p:cNvSpPr txBox="1">
                <a:spLocks noChangeArrowheads="1"/>
              </p:cNvSpPr>
              <p:nvPr/>
            </p:nvSpPr>
            <p:spPr bwMode="auto">
              <a:xfrm>
                <a:off x="7535887" y="4013255"/>
                <a:ext cx="38664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itchFamily="2" charset="2"/>
                  <a:buChar char="n"/>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chemeClr val="tx2"/>
                  </a:buClr>
                  <a:buSzPct val="60000"/>
                  <a:buFont typeface="Wingdings" pitchFamily="2" charset="2"/>
                  <a:buChar char="n"/>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chemeClr val="folHlink"/>
                  </a:buClr>
                  <a:buSzPct val="60000"/>
                  <a:buFont typeface="Wingdings" pitchFamily="2" charset="2"/>
                  <a:buChar char="n"/>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chemeClr val="tx1"/>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9pPr>
              </a:lstStyle>
              <a:p>
                <a:pPr>
                  <a:spcBef>
                    <a:spcPct val="0"/>
                  </a:spcBef>
                  <a:buClrTx/>
                  <a:buSzTx/>
                  <a:buFontTx/>
                  <a:buNone/>
                </a:pPr>
                <a:r>
                  <a:rPr lang="en-US" altLang="en-US" sz="2800" b="1">
                    <a:solidFill>
                      <a:srgbClr val="002060"/>
                    </a:solidFill>
                  </a:rPr>
                  <a:t>+</a:t>
                </a:r>
              </a:p>
            </p:txBody>
          </p:sp>
          <p:sp>
            <p:nvSpPr>
              <p:cNvPr id="25613" name="TextBox 39">
                <a:extLst>
                  <a:ext uri="{FF2B5EF4-FFF2-40B4-BE49-F238E27FC236}">
                    <a16:creationId xmlns="" xmlns:a16="http://schemas.microsoft.com/office/drawing/2014/main" id="{DA381803-6A9B-8493-A374-0DEEDC39D1BE}"/>
                  </a:ext>
                </a:extLst>
              </p:cNvPr>
              <p:cNvSpPr txBox="1">
                <a:spLocks noChangeArrowheads="1"/>
              </p:cNvSpPr>
              <p:nvPr/>
            </p:nvSpPr>
            <p:spPr bwMode="auto">
              <a:xfrm>
                <a:off x="5509055" y="3973469"/>
                <a:ext cx="30489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itchFamily="2" charset="2"/>
                  <a:buChar char="n"/>
                  <a:defRPr sz="3200">
                    <a:solidFill>
                      <a:schemeClr val="tx1"/>
                    </a:solidFill>
                    <a:latin typeface="Times New Roman" panose="02020603050405020304" pitchFamily="18" charset="0"/>
                    <a:cs typeface="Arial" panose="020B0604020202020204" pitchFamily="34" charset="0"/>
                  </a:defRPr>
                </a:lvl1pPr>
                <a:lvl2pPr marL="742950" indent="-285750">
                  <a:spcBef>
                    <a:spcPct val="20000"/>
                  </a:spcBef>
                  <a:buClr>
                    <a:schemeClr val="tx2"/>
                  </a:buClr>
                  <a:buSzPct val="60000"/>
                  <a:buFont typeface="Wingdings" pitchFamily="2" charset="2"/>
                  <a:buChar char="n"/>
                  <a:defRPr sz="2800">
                    <a:solidFill>
                      <a:schemeClr val="tx1"/>
                    </a:solidFill>
                    <a:latin typeface="Times New Roman" panose="02020603050405020304" pitchFamily="18" charset="0"/>
                    <a:cs typeface="Arial" panose="020B0604020202020204" pitchFamily="34" charset="0"/>
                  </a:defRPr>
                </a:lvl2pPr>
                <a:lvl3pPr marL="1143000" indent="-228600">
                  <a:spcBef>
                    <a:spcPct val="20000"/>
                  </a:spcBef>
                  <a:buClr>
                    <a:schemeClr val="folHlink"/>
                  </a:buClr>
                  <a:buSzPct val="60000"/>
                  <a:buFont typeface="Wingdings" pitchFamily="2" charset="2"/>
                  <a:buChar char="n"/>
                  <a:defRPr sz="2400">
                    <a:solidFill>
                      <a:schemeClr val="tx1"/>
                    </a:solidFill>
                    <a:latin typeface="Times New Roman" panose="02020603050405020304" pitchFamily="18" charset="0"/>
                    <a:cs typeface="Arial" panose="020B0604020202020204" pitchFamily="34" charset="0"/>
                  </a:defRPr>
                </a:lvl3pPr>
                <a:lvl4pPr marL="1600200" indent="-228600">
                  <a:spcBef>
                    <a:spcPct val="20000"/>
                  </a:spcBef>
                  <a:buClr>
                    <a:schemeClr val="tx1"/>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4pPr>
                <a:lvl5pPr marL="2057400" indent="-228600">
                  <a:spcBef>
                    <a:spcPct val="20000"/>
                  </a:spcBef>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20000"/>
                  </a:spcBef>
                  <a:spcAft>
                    <a:spcPct val="0"/>
                  </a:spcAft>
                  <a:buClr>
                    <a:schemeClr val="hlink"/>
                  </a:buClr>
                  <a:buSzPct val="60000"/>
                  <a:buFont typeface="Wingdings" pitchFamily="2" charset="2"/>
                  <a:buChar char="n"/>
                  <a:defRPr sz="2000">
                    <a:solidFill>
                      <a:schemeClr val="tx1"/>
                    </a:solidFill>
                    <a:latin typeface="Times New Roman" panose="02020603050405020304" pitchFamily="18" charset="0"/>
                    <a:cs typeface="Arial" panose="020B0604020202020204" pitchFamily="34" charset="0"/>
                  </a:defRPr>
                </a:lvl9pPr>
              </a:lstStyle>
              <a:p>
                <a:pPr>
                  <a:spcBef>
                    <a:spcPct val="0"/>
                  </a:spcBef>
                  <a:buClrTx/>
                  <a:buSzTx/>
                  <a:buFontTx/>
                  <a:buNone/>
                </a:pPr>
                <a:r>
                  <a:rPr lang="en-US" altLang="en-US" sz="2800" b="1">
                    <a:solidFill>
                      <a:srgbClr val="002060"/>
                    </a:solidFill>
                  </a:rPr>
                  <a:t>-</a:t>
                </a:r>
              </a:p>
            </p:txBody>
          </p:sp>
        </p:grpSp>
      </p:grpSp>
      <p:graphicFrame>
        <p:nvGraphicFramePr>
          <p:cNvPr id="25603" name="Object 3">
            <a:extLst>
              <a:ext uri="{FF2B5EF4-FFF2-40B4-BE49-F238E27FC236}">
                <a16:creationId xmlns="" xmlns:a16="http://schemas.microsoft.com/office/drawing/2014/main" id="{ADA79480-6748-9B50-806F-EFD6C7F37ED7}"/>
              </a:ext>
            </a:extLst>
          </p:cNvPr>
          <p:cNvGraphicFramePr>
            <a:graphicFrameLocks noChangeAspect="1"/>
          </p:cNvGraphicFramePr>
          <p:nvPr/>
        </p:nvGraphicFramePr>
        <p:xfrm>
          <a:off x="1531935" y="1882907"/>
          <a:ext cx="2928383" cy="2982242"/>
        </p:xfrm>
        <a:graphic>
          <a:graphicData uri="http://schemas.openxmlformats.org/presentationml/2006/ole">
            <mc:AlternateContent xmlns:mc="http://schemas.openxmlformats.org/markup-compatibility/2006">
              <mc:Choice xmlns:v="urn:schemas-microsoft-com:vml" Requires="v">
                <p:oleObj spid="_x0000_s5132" name="Equation" r:id="rId8" imgW="31013400" imgH="31597600" progId="Equation.3">
                  <p:embed/>
                </p:oleObj>
              </mc:Choice>
              <mc:Fallback>
                <p:oleObj name="Equation" r:id="rId8" imgW="31013400" imgH="31597600" progId="Equation.3">
                  <p:embed/>
                  <p:pic>
                    <p:nvPicPr>
                      <p:cNvPr id="25603" name="Object 3">
                        <a:extLst>
                          <a:ext uri="{FF2B5EF4-FFF2-40B4-BE49-F238E27FC236}">
                            <a16:creationId xmlns="" xmlns:a16="http://schemas.microsoft.com/office/drawing/2014/main" id="{ADA79480-6748-9B50-806F-EFD6C7F37ED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31935" y="1882907"/>
                        <a:ext cx="2928383" cy="2982242"/>
                      </a:xfrm>
                      <a:prstGeom prst="rect">
                        <a:avLst/>
                      </a:prstGeom>
                      <a:solidFill>
                        <a:schemeClr val="bg1"/>
                      </a:solidFill>
                      <a:ln w="28575">
                        <a:solidFill>
                          <a:srgbClr val="660033"/>
                        </a:solidFill>
                        <a:miter lim="800000"/>
                        <a:headEnd/>
                        <a:tailEnd/>
                      </a:ln>
                    </p:spPr>
                  </p:pic>
                </p:oleObj>
              </mc:Fallback>
            </mc:AlternateContent>
          </a:graphicData>
        </a:graphic>
      </p:graphicFrame>
      <p:graphicFrame>
        <p:nvGraphicFramePr>
          <p:cNvPr id="25604" name="Object 3">
            <a:extLst>
              <a:ext uri="{FF2B5EF4-FFF2-40B4-BE49-F238E27FC236}">
                <a16:creationId xmlns="" xmlns:a16="http://schemas.microsoft.com/office/drawing/2014/main" id="{44585EAD-69EE-77A0-D169-364D0275E9CE}"/>
              </a:ext>
            </a:extLst>
          </p:cNvPr>
          <p:cNvGraphicFramePr>
            <a:graphicFrameLocks noGrp="1" noChangeAspect="1"/>
          </p:cNvGraphicFramePr>
          <p:nvPr>
            <p:ph sz="half" idx="1"/>
          </p:nvPr>
        </p:nvGraphicFramePr>
        <p:xfrm>
          <a:off x="1054163" y="5035144"/>
          <a:ext cx="3741738" cy="1604963"/>
        </p:xfrm>
        <a:graphic>
          <a:graphicData uri="http://schemas.openxmlformats.org/presentationml/2006/ole">
            <mc:AlternateContent xmlns:mc="http://schemas.openxmlformats.org/markup-compatibility/2006">
              <mc:Choice xmlns:v="urn:schemas-microsoft-com:vml" Requires="v">
                <p:oleObj spid="_x0000_s5133" name="Equation" r:id="rId10" imgW="49149000" imgH="21069300" progId="Equation.3">
                  <p:embed/>
                </p:oleObj>
              </mc:Choice>
              <mc:Fallback>
                <p:oleObj name="Equation" r:id="rId10" imgW="49149000" imgH="21069300" progId="Equation.3">
                  <p:embed/>
                  <p:pic>
                    <p:nvPicPr>
                      <p:cNvPr id="25604" name="Object 3">
                        <a:extLst>
                          <a:ext uri="{FF2B5EF4-FFF2-40B4-BE49-F238E27FC236}">
                            <a16:creationId xmlns="" xmlns:a16="http://schemas.microsoft.com/office/drawing/2014/main" id="{44585EAD-69EE-77A0-D169-364D0275E9C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54163" y="5035144"/>
                        <a:ext cx="3741738" cy="1604963"/>
                      </a:xfrm>
                      <a:prstGeom prst="rect">
                        <a:avLst/>
                      </a:prstGeom>
                      <a:solidFill>
                        <a:schemeClr val="bg1"/>
                      </a:solidFill>
                      <a:ln w="28575" cmpd="sng">
                        <a:solidFill>
                          <a:srgbClr val="2A1000"/>
                        </a:solidFill>
                        <a:miter lim="800000"/>
                        <a:headEnd/>
                        <a:tailEnd/>
                      </a:ln>
                    </p:spPr>
                  </p:pic>
                </p:oleObj>
              </mc:Fallback>
            </mc:AlternateContent>
          </a:graphicData>
        </a:graphic>
      </p:graphicFrame>
    </p:spTree>
    <p:extLst>
      <p:ext uri="{BB962C8B-B14F-4D97-AF65-F5344CB8AC3E}">
        <p14:creationId xmlns:p14="http://schemas.microsoft.com/office/powerpoint/2010/main" val="15531714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CC429F48-61D7-2C01-FB17-01542D3F127D}"/>
              </a:ext>
            </a:extLst>
          </p:cNvPr>
          <p:cNvSpPr txBox="1"/>
          <p:nvPr/>
        </p:nvSpPr>
        <p:spPr>
          <a:xfrm>
            <a:off x="146050" y="212770"/>
            <a:ext cx="11899900" cy="523220"/>
          </a:xfrm>
          <a:prstGeom prst="rect">
            <a:avLst/>
          </a:prstGeom>
          <a:solidFill>
            <a:schemeClr val="bg1"/>
          </a:solidFill>
          <a:ln w="28575">
            <a:solidFill>
              <a:srgbClr val="941651"/>
            </a:solidFill>
          </a:ln>
        </p:spPr>
        <p:txBody>
          <a:bodyPr wrap="square">
            <a:spAutoFit/>
          </a:bodyPr>
          <a:lstStyle/>
          <a:p>
            <a:r>
              <a:rPr lang="en-IN" sz="2800" b="1" dirty="0">
                <a:solidFill>
                  <a:srgbClr val="941651"/>
                </a:solidFill>
                <a:latin typeface="Times New Roman" panose="02020603050405020304" pitchFamily="18" charset="0"/>
                <a:cs typeface="Times New Roman" panose="02020603050405020304" pitchFamily="18" charset="0"/>
              </a:rPr>
              <a:t>Orientation (Dipolar) Polarization</a:t>
            </a:r>
            <a:r>
              <a:rPr lang="en-IN" sz="2800" dirty="0">
                <a:solidFill>
                  <a:srgbClr val="941651"/>
                </a:solidFill>
                <a:latin typeface="Times New Roman" panose="02020603050405020304" pitchFamily="18" charset="0"/>
                <a:cs typeface="Times New Roman" panose="02020603050405020304" pitchFamily="18" charset="0"/>
              </a:rPr>
              <a:t>: </a:t>
            </a:r>
          </a:p>
        </p:txBody>
      </p:sp>
      <p:sp>
        <p:nvSpPr>
          <p:cNvPr id="3" name="TextBox 2">
            <a:extLst>
              <a:ext uri="{FF2B5EF4-FFF2-40B4-BE49-F238E27FC236}">
                <a16:creationId xmlns="" xmlns:a16="http://schemas.microsoft.com/office/drawing/2014/main" id="{CF703520-766F-62D2-EDCA-8936BEE2CC27}"/>
              </a:ext>
            </a:extLst>
          </p:cNvPr>
          <p:cNvSpPr txBox="1"/>
          <p:nvPr/>
        </p:nvSpPr>
        <p:spPr>
          <a:xfrm>
            <a:off x="146050" y="849005"/>
            <a:ext cx="11899900" cy="1200329"/>
          </a:xfrm>
          <a:prstGeom prst="rect">
            <a:avLst/>
          </a:prstGeom>
          <a:solidFill>
            <a:schemeClr val="bg1"/>
          </a:solidFill>
          <a:ln w="28575">
            <a:solidFill>
              <a:srgbClr val="941651"/>
            </a:solidFill>
          </a:ln>
        </p:spPr>
        <p:txBody>
          <a:bodyPr wrap="square">
            <a:spAutoFit/>
          </a:bodyPr>
          <a:lstStyle/>
          <a:p>
            <a:r>
              <a:rPr lang="en-IN" sz="2400" dirty="0">
                <a:solidFill>
                  <a:srgbClr val="002060"/>
                </a:solidFill>
                <a:latin typeface="Times New Roman" panose="02020603050405020304" pitchFamily="18" charset="0"/>
                <a:cs typeface="Times New Roman" panose="02020603050405020304" pitchFamily="18" charset="0"/>
              </a:rPr>
              <a:t>Orientation polarization takes place in materials having permanent dipoles, where the external electric field tends to align these dipoles in its direction, reducing their random orientation and producing a net polarization.</a:t>
            </a:r>
          </a:p>
        </p:txBody>
      </p:sp>
      <p:sp>
        <p:nvSpPr>
          <p:cNvPr id="5" name="TextBox 4">
            <a:extLst>
              <a:ext uri="{FF2B5EF4-FFF2-40B4-BE49-F238E27FC236}">
                <a16:creationId xmlns="" xmlns:a16="http://schemas.microsoft.com/office/drawing/2014/main" id="{F7959152-4D88-EC1F-B718-79D929C4C3C2}"/>
              </a:ext>
            </a:extLst>
          </p:cNvPr>
          <p:cNvSpPr txBox="1"/>
          <p:nvPr/>
        </p:nvSpPr>
        <p:spPr>
          <a:xfrm>
            <a:off x="146050" y="2159338"/>
            <a:ext cx="5010150" cy="4524315"/>
          </a:xfrm>
          <a:prstGeom prst="rect">
            <a:avLst/>
          </a:prstGeom>
          <a:solidFill>
            <a:schemeClr val="bg1"/>
          </a:solidFill>
        </p:spPr>
        <p:txBody>
          <a:bodyPr wrap="square">
            <a:spAutoFit/>
          </a:bodyPr>
          <a:lstStyle/>
          <a:p>
            <a:pPr marL="342900" indent="-342900">
              <a:buFont typeface="Arial" panose="020B0604020202020204" pitchFamily="34" charset="0"/>
              <a:buChar char="•"/>
            </a:pPr>
            <a:r>
              <a:rPr lang="en-IN" sz="2400" dirty="0">
                <a:solidFill>
                  <a:srgbClr val="002060"/>
                </a:solidFill>
                <a:latin typeface="Times New Roman" panose="02020603050405020304" pitchFamily="18" charset="0"/>
                <a:cs typeface="Times New Roman" panose="02020603050405020304" pitchFamily="18" charset="0"/>
              </a:rPr>
              <a:t>Found in materials with permanent dipoles (e.g., H₂O, NH₃).</a:t>
            </a:r>
          </a:p>
          <a:p>
            <a:pPr marL="342900" indent="-342900">
              <a:buFont typeface="Arial" panose="020B0604020202020204" pitchFamily="34" charset="0"/>
              <a:buChar char="•"/>
            </a:pPr>
            <a:r>
              <a:rPr lang="en-IN" sz="2400" dirty="0">
                <a:solidFill>
                  <a:srgbClr val="002060"/>
                </a:solidFill>
                <a:latin typeface="Times New Roman" panose="02020603050405020304" pitchFamily="18" charset="0"/>
                <a:cs typeface="Times New Roman" panose="02020603050405020304" pitchFamily="18" charset="0"/>
              </a:rPr>
              <a:t>In the absence of an external field, the dipoles are randomly oriented due to thermal agitation.</a:t>
            </a:r>
          </a:p>
          <a:p>
            <a:pPr marL="342900" indent="-342900">
              <a:buFont typeface="Arial" panose="020B0604020202020204" pitchFamily="34" charset="0"/>
              <a:buChar char="•"/>
            </a:pPr>
            <a:r>
              <a:rPr lang="en-IN" sz="2400" dirty="0">
                <a:solidFill>
                  <a:srgbClr val="002060"/>
                </a:solidFill>
                <a:latin typeface="Times New Roman" panose="02020603050405020304" pitchFamily="18" charset="0"/>
                <a:cs typeface="Times New Roman" panose="02020603050405020304" pitchFamily="18" charset="0"/>
              </a:rPr>
              <a:t>Under an electric field, dipoles tend to align with the field direction, producing net polarization.</a:t>
            </a:r>
          </a:p>
          <a:p>
            <a:pPr marL="342900" indent="-342900">
              <a:buFont typeface="Arial" panose="020B0604020202020204" pitchFamily="34" charset="0"/>
              <a:buChar char="•"/>
            </a:pPr>
            <a:r>
              <a:rPr lang="en-IN" sz="2400" dirty="0">
                <a:solidFill>
                  <a:srgbClr val="002060"/>
                </a:solidFill>
                <a:latin typeface="Times New Roman" panose="02020603050405020304" pitchFamily="18" charset="0"/>
                <a:cs typeface="Times New Roman" panose="02020603050405020304" pitchFamily="18" charset="0"/>
              </a:rPr>
              <a:t>This type of polarization is temperature-dependent and decreases at higher temperatures due to thermal vibrations</a:t>
            </a:r>
          </a:p>
        </p:txBody>
      </p:sp>
      <p:sp>
        <p:nvSpPr>
          <p:cNvPr id="7" name="TextBox 6">
            <a:extLst>
              <a:ext uri="{FF2B5EF4-FFF2-40B4-BE49-F238E27FC236}">
                <a16:creationId xmlns="" xmlns:a16="http://schemas.microsoft.com/office/drawing/2014/main" id="{247C702D-3C9B-9771-E513-32A9AFC732D4}"/>
              </a:ext>
            </a:extLst>
          </p:cNvPr>
          <p:cNvSpPr txBox="1"/>
          <p:nvPr/>
        </p:nvSpPr>
        <p:spPr>
          <a:xfrm>
            <a:off x="5295900" y="5833799"/>
            <a:ext cx="6750050" cy="830997"/>
          </a:xfrm>
          <a:prstGeom prst="rect">
            <a:avLst/>
          </a:prstGeom>
          <a:solidFill>
            <a:schemeClr val="bg1"/>
          </a:solidFill>
        </p:spPr>
        <p:txBody>
          <a:bodyPr wrap="square">
            <a:spAutoFit/>
          </a:bodyPr>
          <a:lstStyle/>
          <a:p>
            <a:pPr algn="just">
              <a:defRPr/>
            </a:pPr>
            <a:r>
              <a:rPr lang="en-US" altLang="en-US" sz="2400" dirty="0">
                <a:solidFill>
                  <a:srgbClr val="002060"/>
                </a:solidFill>
                <a:latin typeface="Times New Roman" panose="02020603050405020304" pitchFamily="18" charset="0"/>
                <a:cs typeface="Times New Roman" panose="02020603050405020304" pitchFamily="18" charset="0"/>
              </a:rPr>
              <a:t>It occurs at a frequency of 10</a:t>
            </a:r>
            <a:r>
              <a:rPr lang="en-US" altLang="en-US" sz="2400" baseline="30000" dirty="0">
                <a:solidFill>
                  <a:srgbClr val="002060"/>
                </a:solidFill>
                <a:latin typeface="Times New Roman" panose="02020603050405020304" pitchFamily="18" charset="0"/>
                <a:cs typeface="Times New Roman" panose="02020603050405020304" pitchFamily="18" charset="0"/>
              </a:rPr>
              <a:t>6 </a:t>
            </a:r>
            <a:r>
              <a:rPr lang="en-US" altLang="en-US" sz="2400" dirty="0">
                <a:solidFill>
                  <a:srgbClr val="002060"/>
                </a:solidFill>
                <a:latin typeface="Times New Roman" panose="02020603050405020304" pitchFamily="18" charset="0"/>
                <a:cs typeface="Times New Roman" panose="02020603050405020304" pitchFamily="18" charset="0"/>
              </a:rPr>
              <a:t>Hz to 10</a:t>
            </a:r>
            <a:r>
              <a:rPr lang="en-US" altLang="en-US" sz="2400" baseline="30000" dirty="0">
                <a:solidFill>
                  <a:srgbClr val="002060"/>
                </a:solidFill>
                <a:latin typeface="Times New Roman" panose="02020603050405020304" pitchFamily="18" charset="0"/>
                <a:cs typeface="Times New Roman" panose="02020603050405020304" pitchFamily="18" charset="0"/>
              </a:rPr>
              <a:t>10</a:t>
            </a:r>
            <a:r>
              <a:rPr lang="en-US" altLang="en-US" sz="2400" dirty="0">
                <a:solidFill>
                  <a:srgbClr val="002060"/>
                </a:solidFill>
                <a:latin typeface="Times New Roman" panose="02020603050405020304" pitchFamily="18" charset="0"/>
                <a:cs typeface="Times New Roman" panose="02020603050405020304" pitchFamily="18" charset="0"/>
              </a:rPr>
              <a:t>Hz. And It greatly depends on temperature. </a:t>
            </a:r>
            <a:endParaRPr lang="en-US" sz="2400" dirty="0">
              <a:latin typeface="Times New Roman" panose="02020603050405020304" pitchFamily="18" charset="0"/>
              <a:cs typeface="Times New Roman" panose="02020603050405020304" pitchFamily="18" charset="0"/>
            </a:endParaRPr>
          </a:p>
        </p:txBody>
      </p:sp>
      <p:pic>
        <p:nvPicPr>
          <p:cNvPr id="9" name="Picture 8" descr="A diagram of a graph&#10;&#10;Description automatically generated">
            <a:extLst>
              <a:ext uri="{FF2B5EF4-FFF2-40B4-BE49-F238E27FC236}">
                <a16:creationId xmlns="" xmlns:a16="http://schemas.microsoft.com/office/drawing/2014/main" id="{6C06ED4F-0715-722F-0D99-F7405039191D}"/>
              </a:ext>
            </a:extLst>
          </p:cNvPr>
          <p:cNvPicPr>
            <a:picLocks noChangeAspect="1"/>
          </p:cNvPicPr>
          <p:nvPr/>
        </p:nvPicPr>
        <p:blipFill>
          <a:blip r:embed="rId2"/>
          <a:stretch>
            <a:fillRect/>
          </a:stretch>
        </p:blipFill>
        <p:spPr>
          <a:xfrm>
            <a:off x="8839200" y="2159337"/>
            <a:ext cx="3073400" cy="3556253"/>
          </a:xfrm>
          <a:prstGeom prst="rect">
            <a:avLst/>
          </a:prstGeom>
          <a:ln>
            <a:solidFill>
              <a:srgbClr val="941651"/>
            </a:solidFill>
          </a:ln>
        </p:spPr>
      </p:pic>
      <p:pic>
        <p:nvPicPr>
          <p:cNvPr id="10" name="Picture 9" descr="Text&#10;&#10;Description automatically generated">
            <a:extLst>
              <a:ext uri="{FF2B5EF4-FFF2-40B4-BE49-F238E27FC236}">
                <a16:creationId xmlns="" xmlns:a16="http://schemas.microsoft.com/office/drawing/2014/main" id="{14B6064E-9025-4D88-C918-2C811C7FDD62}"/>
              </a:ext>
            </a:extLst>
          </p:cNvPr>
          <p:cNvPicPr>
            <a:picLocks noChangeAspect="1"/>
          </p:cNvPicPr>
          <p:nvPr/>
        </p:nvPicPr>
        <p:blipFill>
          <a:blip r:embed="rId3"/>
          <a:stretch>
            <a:fillRect/>
          </a:stretch>
        </p:blipFill>
        <p:spPr>
          <a:xfrm>
            <a:off x="5400299" y="3192770"/>
            <a:ext cx="2900346" cy="1602333"/>
          </a:xfrm>
          <a:prstGeom prst="rect">
            <a:avLst/>
          </a:prstGeom>
          <a:ln>
            <a:solidFill>
              <a:srgbClr val="941651"/>
            </a:solidFill>
          </a:ln>
        </p:spPr>
      </p:pic>
    </p:spTree>
    <p:extLst>
      <p:ext uri="{BB962C8B-B14F-4D97-AF65-F5344CB8AC3E}">
        <p14:creationId xmlns:p14="http://schemas.microsoft.com/office/powerpoint/2010/main" val="10544214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5DB7A213-0126-5BA0-7304-8D6BD95D5767}"/>
              </a:ext>
            </a:extLst>
          </p:cNvPr>
          <p:cNvSpPr txBox="1"/>
          <p:nvPr/>
        </p:nvSpPr>
        <p:spPr>
          <a:xfrm>
            <a:off x="139700" y="715366"/>
            <a:ext cx="11912600" cy="2492990"/>
          </a:xfrm>
          <a:prstGeom prst="rect">
            <a:avLst/>
          </a:prstGeom>
          <a:solidFill>
            <a:schemeClr val="bg1"/>
          </a:solidFill>
          <a:ln w="28575">
            <a:solidFill>
              <a:srgbClr val="941651"/>
            </a:solidFill>
          </a:ln>
        </p:spPr>
        <p:txBody>
          <a:bodyPr wrap="square">
            <a:spAutoFit/>
          </a:bodyPr>
          <a:lstStyle/>
          <a:p>
            <a:r>
              <a:rPr lang="en-IN" sz="2600" b="1" dirty="0">
                <a:solidFill>
                  <a:srgbClr val="002060"/>
                </a:solidFill>
                <a:latin typeface="Times New Roman" panose="02020603050405020304" pitchFamily="18" charset="0"/>
                <a:cs typeface="Times New Roman" panose="02020603050405020304" pitchFamily="18" charset="0"/>
              </a:rPr>
              <a:t>Definition</a:t>
            </a:r>
            <a:r>
              <a:rPr lang="en-IN" sz="2600" dirty="0">
                <a:solidFill>
                  <a:srgbClr val="002060"/>
                </a:solidFill>
                <a:latin typeface="Times New Roman" panose="02020603050405020304" pitchFamily="18" charset="0"/>
                <a:cs typeface="Times New Roman" panose="02020603050405020304" pitchFamily="18" charset="0"/>
              </a:rPr>
              <a:t>: These are dielectric materials that exhibit a </a:t>
            </a:r>
            <a:r>
              <a:rPr lang="en-IN" sz="2600" b="1" dirty="0">
                <a:solidFill>
                  <a:srgbClr val="002060"/>
                </a:solidFill>
                <a:latin typeface="Times New Roman" panose="02020603050405020304" pitchFamily="18" charset="0"/>
                <a:cs typeface="Times New Roman" panose="02020603050405020304" pitchFamily="18" charset="0"/>
              </a:rPr>
              <a:t>spontaneous electric polarization</a:t>
            </a:r>
            <a:r>
              <a:rPr lang="en-IN" sz="2600" dirty="0">
                <a:solidFill>
                  <a:srgbClr val="002060"/>
                </a:solidFill>
                <a:latin typeface="Times New Roman" panose="02020603050405020304" pitchFamily="18" charset="0"/>
                <a:cs typeface="Times New Roman" panose="02020603050405020304" pitchFamily="18" charset="0"/>
              </a:rPr>
              <a:t> even in the absence of an external electric field, and this polarization can be reversed by applying an external field.</a:t>
            </a:r>
          </a:p>
          <a:p>
            <a:r>
              <a:rPr lang="en-IN" sz="2600" b="1" dirty="0">
                <a:solidFill>
                  <a:srgbClr val="002060"/>
                </a:solidFill>
                <a:latin typeface="Times New Roman" panose="02020603050405020304" pitchFamily="18" charset="0"/>
                <a:cs typeface="Times New Roman" panose="02020603050405020304" pitchFamily="18" charset="0"/>
              </a:rPr>
              <a:t>Examples</a:t>
            </a:r>
            <a:r>
              <a:rPr lang="en-IN" sz="2600" dirty="0">
                <a:solidFill>
                  <a:srgbClr val="002060"/>
                </a:solidFill>
                <a:latin typeface="Times New Roman" panose="02020603050405020304" pitchFamily="18" charset="0"/>
                <a:cs typeface="Times New Roman" panose="02020603050405020304" pitchFamily="18" charset="0"/>
              </a:rPr>
              <a:t>: Barium titanate (</a:t>
            </a:r>
            <a:r>
              <a:rPr lang="en-IN" sz="2600" dirty="0" err="1">
                <a:solidFill>
                  <a:srgbClr val="002060"/>
                </a:solidFill>
                <a:latin typeface="Times New Roman" panose="02020603050405020304" pitchFamily="18" charset="0"/>
                <a:cs typeface="Times New Roman" panose="02020603050405020304" pitchFamily="18" charset="0"/>
              </a:rPr>
              <a:t>BaTiO</a:t>
            </a:r>
            <a:r>
              <a:rPr lang="en-IN" sz="2600" dirty="0">
                <a:solidFill>
                  <a:srgbClr val="002060"/>
                </a:solidFill>
                <a:latin typeface="Times New Roman" panose="02020603050405020304" pitchFamily="18" charset="0"/>
                <a:cs typeface="Times New Roman" panose="02020603050405020304" pitchFamily="18" charset="0"/>
              </a:rPr>
              <a:t>₃), Lead zirconate titanate (PZT).</a:t>
            </a:r>
          </a:p>
          <a:p>
            <a:r>
              <a:rPr lang="en-IN" sz="2600" b="1" dirty="0">
                <a:solidFill>
                  <a:srgbClr val="002060"/>
                </a:solidFill>
                <a:latin typeface="Times New Roman" panose="02020603050405020304" pitchFamily="18" charset="0"/>
                <a:cs typeface="Times New Roman" panose="02020603050405020304" pitchFamily="18" charset="0"/>
              </a:rPr>
              <a:t>Applications</a:t>
            </a:r>
            <a:r>
              <a:rPr lang="en-IN" sz="2600" dirty="0">
                <a:solidFill>
                  <a:srgbClr val="002060"/>
                </a:solidFill>
                <a:latin typeface="Times New Roman" panose="02020603050405020304" pitchFamily="18" charset="0"/>
                <a:cs typeface="Times New Roman" panose="02020603050405020304" pitchFamily="18" charset="0"/>
              </a:rPr>
              <a:t>: Non-volatile ferroelectric random-access memory (</a:t>
            </a:r>
            <a:r>
              <a:rPr lang="en-IN" sz="2600" dirty="0" err="1">
                <a:solidFill>
                  <a:srgbClr val="002060"/>
                </a:solidFill>
                <a:latin typeface="Times New Roman" panose="02020603050405020304" pitchFamily="18" charset="0"/>
                <a:cs typeface="Times New Roman" panose="02020603050405020304" pitchFamily="18" charset="0"/>
              </a:rPr>
              <a:t>FeRAM</a:t>
            </a:r>
            <a:r>
              <a:rPr lang="en-IN" sz="2600" dirty="0">
                <a:solidFill>
                  <a:srgbClr val="002060"/>
                </a:solidFill>
                <a:latin typeface="Times New Roman" panose="02020603050405020304" pitchFamily="18" charset="0"/>
                <a:cs typeface="Times New Roman" panose="02020603050405020304" pitchFamily="18" charset="0"/>
              </a:rPr>
              <a:t>), capacitors with high permittivity, sensors, actuators, and electro-optic devices.</a:t>
            </a:r>
          </a:p>
        </p:txBody>
      </p:sp>
      <p:sp>
        <p:nvSpPr>
          <p:cNvPr id="5" name="TextBox 4">
            <a:extLst>
              <a:ext uri="{FF2B5EF4-FFF2-40B4-BE49-F238E27FC236}">
                <a16:creationId xmlns="" xmlns:a16="http://schemas.microsoft.com/office/drawing/2014/main" id="{80162B5B-F770-E76D-D666-29748AF1F51C}"/>
              </a:ext>
            </a:extLst>
          </p:cNvPr>
          <p:cNvSpPr txBox="1"/>
          <p:nvPr/>
        </p:nvSpPr>
        <p:spPr>
          <a:xfrm>
            <a:off x="139700" y="3907968"/>
            <a:ext cx="11912600" cy="2492990"/>
          </a:xfrm>
          <a:prstGeom prst="rect">
            <a:avLst/>
          </a:prstGeom>
          <a:solidFill>
            <a:schemeClr val="bg1"/>
          </a:solidFill>
          <a:ln w="28575">
            <a:solidFill>
              <a:srgbClr val="941651"/>
            </a:solidFill>
          </a:ln>
        </p:spPr>
        <p:txBody>
          <a:bodyPr wrap="square">
            <a:spAutoFit/>
          </a:bodyPr>
          <a:lstStyle/>
          <a:p>
            <a:r>
              <a:rPr lang="en-IN" sz="2600" b="1" dirty="0">
                <a:latin typeface="Times New Roman" panose="02020603050405020304" pitchFamily="18" charset="0"/>
                <a:cs typeface="Times New Roman" panose="02020603050405020304" pitchFamily="18" charset="0"/>
              </a:rPr>
              <a:t>D</a:t>
            </a:r>
            <a:r>
              <a:rPr lang="en-IN" sz="2600" b="1" dirty="0">
                <a:solidFill>
                  <a:srgbClr val="002060"/>
                </a:solidFill>
                <a:latin typeface="Times New Roman" panose="02020603050405020304" pitchFamily="18" charset="0"/>
                <a:cs typeface="Times New Roman" panose="02020603050405020304" pitchFamily="18" charset="0"/>
              </a:rPr>
              <a:t>efinition</a:t>
            </a:r>
            <a:r>
              <a:rPr lang="en-IN" sz="2600" dirty="0">
                <a:solidFill>
                  <a:srgbClr val="002060"/>
                </a:solidFill>
                <a:latin typeface="Times New Roman" panose="02020603050405020304" pitchFamily="18" charset="0"/>
                <a:cs typeface="Times New Roman" panose="02020603050405020304" pitchFamily="18" charset="0"/>
              </a:rPr>
              <a:t>: Materials that generate an electric charge when subjected to mechanical stress (direct piezoelectric effect) and conversely undergo mechanical deformation when an electric field is applied (converse piezoelectric effect).</a:t>
            </a:r>
          </a:p>
          <a:p>
            <a:r>
              <a:rPr lang="en-IN" sz="2600" b="1" dirty="0">
                <a:solidFill>
                  <a:srgbClr val="002060"/>
                </a:solidFill>
                <a:latin typeface="Times New Roman" panose="02020603050405020304" pitchFamily="18" charset="0"/>
                <a:cs typeface="Times New Roman" panose="02020603050405020304" pitchFamily="18" charset="0"/>
              </a:rPr>
              <a:t>Examples</a:t>
            </a:r>
            <a:r>
              <a:rPr lang="en-IN" sz="2600" dirty="0">
                <a:solidFill>
                  <a:srgbClr val="002060"/>
                </a:solidFill>
                <a:latin typeface="Times New Roman" panose="02020603050405020304" pitchFamily="18" charset="0"/>
                <a:cs typeface="Times New Roman" panose="02020603050405020304" pitchFamily="18" charset="0"/>
              </a:rPr>
              <a:t>: Quartz (</a:t>
            </a:r>
            <a:r>
              <a:rPr lang="en-IN" sz="2600" dirty="0" err="1">
                <a:solidFill>
                  <a:srgbClr val="002060"/>
                </a:solidFill>
                <a:latin typeface="Times New Roman" panose="02020603050405020304" pitchFamily="18" charset="0"/>
                <a:cs typeface="Times New Roman" panose="02020603050405020304" pitchFamily="18" charset="0"/>
              </a:rPr>
              <a:t>SiO</a:t>
            </a:r>
            <a:r>
              <a:rPr lang="en-IN" sz="2600" dirty="0">
                <a:solidFill>
                  <a:srgbClr val="002060"/>
                </a:solidFill>
                <a:latin typeface="Times New Roman" panose="02020603050405020304" pitchFamily="18" charset="0"/>
                <a:cs typeface="Times New Roman" panose="02020603050405020304" pitchFamily="18" charset="0"/>
              </a:rPr>
              <a:t>₂), Rochelle salt, Lead zirconate titanate (PZT).</a:t>
            </a:r>
          </a:p>
          <a:p>
            <a:r>
              <a:rPr lang="en-IN" sz="2600" b="1" dirty="0">
                <a:solidFill>
                  <a:srgbClr val="002060"/>
                </a:solidFill>
                <a:latin typeface="Times New Roman" panose="02020603050405020304" pitchFamily="18" charset="0"/>
                <a:cs typeface="Times New Roman" panose="02020603050405020304" pitchFamily="18" charset="0"/>
              </a:rPr>
              <a:t>Applications</a:t>
            </a:r>
            <a:r>
              <a:rPr lang="en-IN" sz="2600" dirty="0">
                <a:solidFill>
                  <a:srgbClr val="002060"/>
                </a:solidFill>
                <a:latin typeface="Times New Roman" panose="02020603050405020304" pitchFamily="18" charset="0"/>
                <a:cs typeface="Times New Roman" panose="02020603050405020304" pitchFamily="18" charset="0"/>
              </a:rPr>
              <a:t>: Microphones, ultrasonic transducers, piezoelectric sensors, actuators, igniters, and vibration energy harvesters.</a:t>
            </a:r>
          </a:p>
        </p:txBody>
      </p:sp>
      <p:sp>
        <p:nvSpPr>
          <p:cNvPr id="9" name="TextBox 8">
            <a:extLst>
              <a:ext uri="{FF2B5EF4-FFF2-40B4-BE49-F238E27FC236}">
                <a16:creationId xmlns="" xmlns:a16="http://schemas.microsoft.com/office/drawing/2014/main" id="{49D28FA2-869E-28B8-0CAA-22829C83B5FA}"/>
              </a:ext>
            </a:extLst>
          </p:cNvPr>
          <p:cNvSpPr txBox="1"/>
          <p:nvPr/>
        </p:nvSpPr>
        <p:spPr>
          <a:xfrm>
            <a:off x="127000" y="3296552"/>
            <a:ext cx="11912600" cy="523220"/>
          </a:xfrm>
          <a:prstGeom prst="rect">
            <a:avLst/>
          </a:prstGeom>
          <a:solidFill>
            <a:schemeClr val="bg1"/>
          </a:solidFill>
          <a:ln w="28575">
            <a:solidFill>
              <a:srgbClr val="941651"/>
            </a:solidFill>
          </a:ln>
        </p:spPr>
        <p:txBody>
          <a:bodyPr wrap="square">
            <a:spAutoFit/>
          </a:bodyPr>
          <a:lstStyle/>
          <a:p>
            <a:r>
              <a:rPr lang="en-IN" sz="2800" b="1" dirty="0">
                <a:solidFill>
                  <a:srgbClr val="941651"/>
                </a:solidFill>
                <a:latin typeface="Times New Roman" panose="02020603050405020304" pitchFamily="18" charset="0"/>
                <a:cs typeface="Times New Roman" panose="02020603050405020304" pitchFamily="18" charset="0"/>
              </a:rPr>
              <a:t>Piezoelectric Materials </a:t>
            </a:r>
            <a:r>
              <a:rPr lang="en-IN" sz="2800" b="1" dirty="0">
                <a:latin typeface="Times New Roman" panose="02020603050405020304" pitchFamily="18" charset="0"/>
                <a:cs typeface="Times New Roman" panose="02020603050405020304" pitchFamily="18" charset="0"/>
              </a:rPr>
              <a:t>:</a:t>
            </a:r>
            <a:endParaRPr lang="en-IN" sz="28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 xmlns:a16="http://schemas.microsoft.com/office/drawing/2014/main" id="{92DBBE4B-C8F8-497B-6F85-392DF01F3132}"/>
              </a:ext>
            </a:extLst>
          </p:cNvPr>
          <p:cNvSpPr txBox="1"/>
          <p:nvPr/>
        </p:nvSpPr>
        <p:spPr>
          <a:xfrm>
            <a:off x="127000" y="109040"/>
            <a:ext cx="11912600" cy="523220"/>
          </a:xfrm>
          <a:prstGeom prst="rect">
            <a:avLst/>
          </a:prstGeom>
          <a:solidFill>
            <a:schemeClr val="bg1"/>
          </a:solidFill>
          <a:ln w="28575">
            <a:solidFill>
              <a:srgbClr val="941651"/>
            </a:solidFill>
          </a:ln>
        </p:spPr>
        <p:txBody>
          <a:bodyPr wrap="square">
            <a:spAutoFit/>
          </a:bodyPr>
          <a:lstStyle/>
          <a:p>
            <a:r>
              <a:rPr lang="en-IN" sz="2800" b="1" dirty="0">
                <a:solidFill>
                  <a:srgbClr val="941651"/>
                </a:solidFill>
                <a:latin typeface="Times New Roman" panose="02020603050405020304" pitchFamily="18" charset="0"/>
                <a:cs typeface="Times New Roman" panose="02020603050405020304" pitchFamily="18" charset="0"/>
              </a:rPr>
              <a:t>Ferroelectric Materials:</a:t>
            </a:r>
            <a:endParaRPr lang="en-IN" sz="2800" dirty="0">
              <a:solidFill>
                <a:srgbClr val="94165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12237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B4983740-C808-359E-FEC8-156120BACA4F}"/>
              </a:ext>
            </a:extLst>
          </p:cNvPr>
          <p:cNvSpPr txBox="1"/>
          <p:nvPr/>
        </p:nvSpPr>
        <p:spPr>
          <a:xfrm>
            <a:off x="222250" y="825649"/>
            <a:ext cx="11747500" cy="2092881"/>
          </a:xfrm>
          <a:prstGeom prst="rect">
            <a:avLst/>
          </a:prstGeom>
          <a:solidFill>
            <a:schemeClr val="bg1"/>
          </a:solidFill>
          <a:ln w="28575">
            <a:solidFill>
              <a:srgbClr val="941651"/>
            </a:solidFill>
          </a:ln>
        </p:spPr>
        <p:txBody>
          <a:bodyPr wrap="square">
            <a:spAutoFit/>
          </a:bodyPr>
          <a:lstStyle/>
          <a:p>
            <a:r>
              <a:rPr lang="en-IN" sz="2600" b="1" dirty="0">
                <a:solidFill>
                  <a:srgbClr val="002060"/>
                </a:solidFill>
                <a:latin typeface="Times New Roman" panose="02020603050405020304" pitchFamily="18" charset="0"/>
                <a:cs typeface="Times New Roman" panose="02020603050405020304" pitchFamily="18" charset="0"/>
              </a:rPr>
              <a:t>Definition</a:t>
            </a:r>
            <a:r>
              <a:rPr lang="en-IN" sz="2600" dirty="0">
                <a:solidFill>
                  <a:srgbClr val="002060"/>
                </a:solidFill>
                <a:latin typeface="Times New Roman" panose="02020603050405020304" pitchFamily="18" charset="0"/>
                <a:cs typeface="Times New Roman" panose="02020603050405020304" pitchFamily="18" charset="0"/>
              </a:rPr>
              <a:t>: Materials that generate a temporary electrical potential when they are heated or cooled, due to a change in their spontaneous polarization with temperature.</a:t>
            </a:r>
          </a:p>
          <a:p>
            <a:r>
              <a:rPr lang="en-IN" sz="2600" b="1" dirty="0">
                <a:solidFill>
                  <a:srgbClr val="002060"/>
                </a:solidFill>
                <a:latin typeface="Times New Roman" panose="02020603050405020304" pitchFamily="18" charset="0"/>
                <a:cs typeface="Times New Roman" panose="02020603050405020304" pitchFamily="18" charset="0"/>
              </a:rPr>
              <a:t>Examples</a:t>
            </a:r>
            <a:r>
              <a:rPr lang="en-IN" sz="2600" dirty="0">
                <a:solidFill>
                  <a:srgbClr val="002060"/>
                </a:solidFill>
                <a:latin typeface="Times New Roman" panose="02020603050405020304" pitchFamily="18" charset="0"/>
                <a:cs typeface="Times New Roman" panose="02020603050405020304" pitchFamily="18" charset="0"/>
              </a:rPr>
              <a:t>: Lithium tantalate (</a:t>
            </a:r>
            <a:r>
              <a:rPr lang="en-IN" sz="2600" dirty="0" err="1">
                <a:solidFill>
                  <a:srgbClr val="002060"/>
                </a:solidFill>
                <a:latin typeface="Times New Roman" panose="02020603050405020304" pitchFamily="18" charset="0"/>
                <a:cs typeface="Times New Roman" panose="02020603050405020304" pitchFamily="18" charset="0"/>
              </a:rPr>
              <a:t>LiTaO</a:t>
            </a:r>
            <a:r>
              <a:rPr lang="en-IN" sz="2600" dirty="0">
                <a:solidFill>
                  <a:srgbClr val="002060"/>
                </a:solidFill>
                <a:latin typeface="Times New Roman" panose="02020603050405020304" pitchFamily="18" charset="0"/>
                <a:cs typeface="Times New Roman" panose="02020603050405020304" pitchFamily="18" charset="0"/>
              </a:rPr>
              <a:t>₃), Tourmaline, Triglycine </a:t>
            </a:r>
            <a:r>
              <a:rPr lang="en-IN" sz="2600" dirty="0" err="1">
                <a:solidFill>
                  <a:srgbClr val="002060"/>
                </a:solidFill>
                <a:latin typeface="Times New Roman" panose="02020603050405020304" pitchFamily="18" charset="0"/>
                <a:cs typeface="Times New Roman" panose="02020603050405020304" pitchFamily="18" charset="0"/>
              </a:rPr>
              <a:t>sulfate</a:t>
            </a:r>
            <a:r>
              <a:rPr lang="en-IN" sz="2600" dirty="0">
                <a:solidFill>
                  <a:srgbClr val="002060"/>
                </a:solidFill>
                <a:latin typeface="Times New Roman" panose="02020603050405020304" pitchFamily="18" charset="0"/>
                <a:cs typeface="Times New Roman" panose="02020603050405020304" pitchFamily="18" charset="0"/>
              </a:rPr>
              <a:t> (TGS).</a:t>
            </a:r>
          </a:p>
          <a:p>
            <a:r>
              <a:rPr lang="en-IN" sz="2600" b="1" dirty="0">
                <a:solidFill>
                  <a:srgbClr val="002060"/>
                </a:solidFill>
                <a:latin typeface="Times New Roman" panose="02020603050405020304" pitchFamily="18" charset="0"/>
                <a:cs typeface="Times New Roman" panose="02020603050405020304" pitchFamily="18" charset="0"/>
              </a:rPr>
              <a:t>Applications</a:t>
            </a:r>
            <a:r>
              <a:rPr lang="en-IN" sz="2600" dirty="0">
                <a:solidFill>
                  <a:srgbClr val="002060"/>
                </a:solidFill>
                <a:latin typeface="Times New Roman" panose="02020603050405020304" pitchFamily="18" charset="0"/>
                <a:cs typeface="Times New Roman" panose="02020603050405020304" pitchFamily="18" charset="0"/>
              </a:rPr>
              <a:t>: Infrared detectors, motion sensors, thermal imaging devices, and fire alarms.</a:t>
            </a:r>
          </a:p>
        </p:txBody>
      </p:sp>
      <p:sp>
        <p:nvSpPr>
          <p:cNvPr id="5" name="TextBox 4">
            <a:extLst>
              <a:ext uri="{FF2B5EF4-FFF2-40B4-BE49-F238E27FC236}">
                <a16:creationId xmlns="" xmlns:a16="http://schemas.microsoft.com/office/drawing/2014/main" id="{BADDF574-7803-9D17-6E1A-F3C654116778}"/>
              </a:ext>
            </a:extLst>
          </p:cNvPr>
          <p:cNvSpPr txBox="1"/>
          <p:nvPr/>
        </p:nvSpPr>
        <p:spPr>
          <a:xfrm>
            <a:off x="222250" y="202317"/>
            <a:ext cx="11747500" cy="523220"/>
          </a:xfrm>
          <a:prstGeom prst="rect">
            <a:avLst/>
          </a:prstGeom>
          <a:solidFill>
            <a:schemeClr val="bg1"/>
          </a:solidFill>
          <a:ln w="28575">
            <a:solidFill>
              <a:srgbClr val="941651"/>
            </a:solidFill>
          </a:ln>
        </p:spPr>
        <p:txBody>
          <a:bodyPr wrap="square">
            <a:spAutoFit/>
          </a:bodyPr>
          <a:lstStyle/>
          <a:p>
            <a:r>
              <a:rPr lang="en-IN" sz="2800" b="1" dirty="0">
                <a:solidFill>
                  <a:srgbClr val="941651"/>
                </a:solidFill>
                <a:latin typeface="Times New Roman" panose="02020603050405020304" pitchFamily="18" charset="0"/>
                <a:cs typeface="Times New Roman" panose="02020603050405020304" pitchFamily="18" charset="0"/>
              </a:rPr>
              <a:t>Pyroelectric Materials:</a:t>
            </a:r>
            <a:endParaRPr lang="en-IN" sz="2800" dirty="0">
              <a:solidFill>
                <a:srgbClr val="94165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 xmlns:a16="http://schemas.microsoft.com/office/drawing/2014/main" id="{458B8947-39EE-73F9-C021-83694CB5531B}"/>
              </a:ext>
            </a:extLst>
          </p:cNvPr>
          <p:cNvSpPr txBox="1"/>
          <p:nvPr/>
        </p:nvSpPr>
        <p:spPr>
          <a:xfrm>
            <a:off x="222250" y="3700681"/>
            <a:ext cx="11747500" cy="2246769"/>
          </a:xfrm>
          <a:prstGeom prst="rect">
            <a:avLst/>
          </a:prstGeom>
          <a:solidFill>
            <a:schemeClr val="bg1"/>
          </a:solidFill>
          <a:ln w="28575">
            <a:solidFill>
              <a:srgbClr val="941651"/>
            </a:solidFill>
          </a:ln>
        </p:spPr>
        <p:txBody>
          <a:bodyPr wrap="square">
            <a:spAutoFit/>
          </a:bodyPr>
          <a:lstStyle/>
          <a:p>
            <a:r>
              <a:rPr lang="en-IN" sz="2800" b="1" dirty="0">
                <a:solidFill>
                  <a:srgbClr val="002060"/>
                </a:solidFill>
                <a:latin typeface="Times New Roman" panose="02020603050405020304" pitchFamily="18" charset="0"/>
                <a:cs typeface="Times New Roman" panose="02020603050405020304" pitchFamily="18" charset="0"/>
              </a:rPr>
              <a:t>Definition</a:t>
            </a:r>
            <a:r>
              <a:rPr lang="en-IN" sz="2800" dirty="0">
                <a:solidFill>
                  <a:srgbClr val="002060"/>
                </a:solidFill>
                <a:latin typeface="Times New Roman" panose="02020603050405020304" pitchFamily="18" charset="0"/>
                <a:cs typeface="Times New Roman" panose="02020603050405020304" pitchFamily="18" charset="0"/>
              </a:rPr>
              <a:t>:</a:t>
            </a:r>
            <a:br>
              <a:rPr lang="en-IN" sz="2800" dirty="0">
                <a:solidFill>
                  <a:srgbClr val="002060"/>
                </a:solidFill>
                <a:latin typeface="Times New Roman" panose="02020603050405020304" pitchFamily="18" charset="0"/>
                <a:cs typeface="Times New Roman" panose="02020603050405020304" pitchFamily="18" charset="0"/>
              </a:rPr>
            </a:br>
            <a:r>
              <a:rPr lang="en-IN" sz="2800" dirty="0">
                <a:solidFill>
                  <a:srgbClr val="002060"/>
                </a:solidFill>
                <a:latin typeface="Times New Roman" panose="02020603050405020304" pitchFamily="18" charset="0"/>
                <a:cs typeface="Times New Roman" panose="02020603050405020304" pitchFamily="18" charset="0"/>
              </a:rPr>
              <a:t>Ferroelectric Random-Access Memory (Fe-RAM or FRAM) is a type of non-volatile memory that uses a </a:t>
            </a:r>
            <a:r>
              <a:rPr lang="en-IN" sz="2800" b="1" dirty="0">
                <a:solidFill>
                  <a:srgbClr val="002060"/>
                </a:solidFill>
                <a:latin typeface="Times New Roman" panose="02020603050405020304" pitchFamily="18" charset="0"/>
                <a:cs typeface="Times New Roman" panose="02020603050405020304" pitchFamily="18" charset="0"/>
              </a:rPr>
              <a:t>ferroelectric capacitor</a:t>
            </a:r>
            <a:r>
              <a:rPr lang="en-IN" sz="2800" dirty="0">
                <a:solidFill>
                  <a:srgbClr val="002060"/>
                </a:solidFill>
                <a:latin typeface="Times New Roman" panose="02020603050405020304" pitchFamily="18" charset="0"/>
                <a:cs typeface="Times New Roman" panose="02020603050405020304" pitchFamily="18" charset="0"/>
              </a:rPr>
              <a:t> instead of a conventional dielectric capacitor to store data. It retains stored information even when the power supply is turned off.</a:t>
            </a:r>
          </a:p>
        </p:txBody>
      </p:sp>
      <p:sp>
        <p:nvSpPr>
          <p:cNvPr id="9" name="TextBox 8">
            <a:extLst>
              <a:ext uri="{FF2B5EF4-FFF2-40B4-BE49-F238E27FC236}">
                <a16:creationId xmlns="" xmlns:a16="http://schemas.microsoft.com/office/drawing/2014/main" id="{EAAB804F-04B6-54BE-B11A-F03B976DEDE7}"/>
              </a:ext>
            </a:extLst>
          </p:cNvPr>
          <p:cNvSpPr txBox="1"/>
          <p:nvPr/>
        </p:nvSpPr>
        <p:spPr>
          <a:xfrm>
            <a:off x="222250" y="3046120"/>
            <a:ext cx="11747500" cy="523220"/>
          </a:xfrm>
          <a:prstGeom prst="rect">
            <a:avLst/>
          </a:prstGeom>
          <a:solidFill>
            <a:schemeClr val="bg1"/>
          </a:solidFill>
          <a:ln w="28575">
            <a:solidFill>
              <a:srgbClr val="941651"/>
            </a:solidFill>
          </a:ln>
        </p:spPr>
        <p:txBody>
          <a:bodyPr wrap="square">
            <a:spAutoFit/>
          </a:bodyPr>
          <a:lstStyle/>
          <a:p>
            <a:r>
              <a:rPr lang="en-IN" sz="2800" b="1" dirty="0">
                <a:solidFill>
                  <a:srgbClr val="941651"/>
                </a:solidFill>
                <a:latin typeface="Times New Roman" panose="02020603050405020304" pitchFamily="18" charset="0"/>
                <a:cs typeface="Times New Roman" panose="02020603050405020304" pitchFamily="18" charset="0"/>
              </a:rPr>
              <a:t>Ferroelectric Random-Access Memory (Fe-RAM):</a:t>
            </a:r>
          </a:p>
        </p:txBody>
      </p:sp>
    </p:spTree>
    <p:extLst>
      <p:ext uri="{BB962C8B-B14F-4D97-AF65-F5344CB8AC3E}">
        <p14:creationId xmlns:p14="http://schemas.microsoft.com/office/powerpoint/2010/main" val="12386870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6FD498F5-FF84-F4C8-E9FC-74CEB6759C9D}"/>
              </a:ext>
            </a:extLst>
          </p:cNvPr>
          <p:cNvSpPr txBox="1"/>
          <p:nvPr/>
        </p:nvSpPr>
        <p:spPr>
          <a:xfrm>
            <a:off x="101600" y="169545"/>
            <a:ext cx="11925300" cy="2677656"/>
          </a:xfrm>
          <a:prstGeom prst="rect">
            <a:avLst/>
          </a:prstGeom>
          <a:solidFill>
            <a:schemeClr val="bg1"/>
          </a:solidFill>
          <a:ln w="28575">
            <a:solidFill>
              <a:srgbClr val="941651"/>
            </a:solidFill>
          </a:ln>
        </p:spPr>
        <p:txBody>
          <a:bodyPr wrap="square">
            <a:spAutoFit/>
          </a:bodyPr>
          <a:lstStyle/>
          <a:p>
            <a:r>
              <a:rPr lang="en-IN" sz="2400" b="1" dirty="0">
                <a:solidFill>
                  <a:srgbClr val="002060"/>
                </a:solidFill>
                <a:latin typeface="Times New Roman" panose="02020603050405020304" pitchFamily="18" charset="0"/>
                <a:cs typeface="Times New Roman" panose="02020603050405020304" pitchFamily="18" charset="0"/>
              </a:rPr>
              <a:t>Working Principle</a:t>
            </a:r>
            <a:r>
              <a:rPr lang="en-IN" sz="2400" dirty="0">
                <a:solidFill>
                  <a:srgbClr val="002060"/>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IN" sz="2400" dirty="0">
                <a:solidFill>
                  <a:srgbClr val="002060"/>
                </a:solidFill>
                <a:latin typeface="Times New Roman" panose="02020603050405020304" pitchFamily="18" charset="0"/>
                <a:cs typeface="Times New Roman" panose="02020603050405020304" pitchFamily="18" charset="0"/>
              </a:rPr>
              <a:t>In Fe-RAM, the data is stored based on the </a:t>
            </a:r>
            <a:r>
              <a:rPr lang="en-IN" sz="2400" b="1" dirty="0">
                <a:solidFill>
                  <a:srgbClr val="002060"/>
                </a:solidFill>
                <a:latin typeface="Times New Roman" panose="02020603050405020304" pitchFamily="18" charset="0"/>
                <a:cs typeface="Times New Roman" panose="02020603050405020304" pitchFamily="18" charset="0"/>
              </a:rPr>
              <a:t>orientation of spontaneous polarization</a:t>
            </a:r>
            <a:r>
              <a:rPr lang="en-IN" sz="2400" dirty="0">
                <a:solidFill>
                  <a:srgbClr val="002060"/>
                </a:solidFill>
                <a:latin typeface="Times New Roman" panose="02020603050405020304" pitchFamily="18" charset="0"/>
                <a:cs typeface="Times New Roman" panose="02020603050405020304" pitchFamily="18" charset="0"/>
              </a:rPr>
              <a:t> in a ferroelectric material (e.g., Lead Zirconate Titanate – PZT).</a:t>
            </a:r>
          </a:p>
          <a:p>
            <a:pPr marL="342900" indent="-342900">
              <a:buFont typeface="Arial" panose="020B0604020202020204" pitchFamily="34" charset="0"/>
              <a:buChar char="•"/>
            </a:pPr>
            <a:r>
              <a:rPr lang="en-IN" sz="2400" dirty="0">
                <a:solidFill>
                  <a:srgbClr val="002060"/>
                </a:solidFill>
                <a:latin typeface="Times New Roman" panose="02020603050405020304" pitchFamily="18" charset="0"/>
                <a:cs typeface="Times New Roman" panose="02020603050405020304" pitchFamily="18" charset="0"/>
              </a:rPr>
              <a:t>The polarization state (upward or downward) corresponds to binary states </a:t>
            </a:r>
            <a:r>
              <a:rPr lang="en-IN" sz="2400" b="1" dirty="0">
                <a:solidFill>
                  <a:srgbClr val="002060"/>
                </a:solidFill>
                <a:latin typeface="Times New Roman" panose="02020603050405020304" pitchFamily="18" charset="0"/>
                <a:cs typeface="Times New Roman" panose="02020603050405020304" pitchFamily="18" charset="0"/>
              </a:rPr>
              <a:t>“0” and “1”</a:t>
            </a:r>
            <a:r>
              <a:rPr lang="en-IN" sz="2400" dirty="0">
                <a:solidFill>
                  <a:srgbClr val="002060"/>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IN" sz="2400" dirty="0">
                <a:solidFill>
                  <a:srgbClr val="002060"/>
                </a:solidFill>
                <a:latin typeface="Times New Roman" panose="02020603050405020304" pitchFamily="18" charset="0"/>
                <a:cs typeface="Times New Roman" panose="02020603050405020304" pitchFamily="18" charset="0"/>
              </a:rPr>
              <a:t>Writing data involves applying an electric field to switch the polarization direction.</a:t>
            </a:r>
          </a:p>
          <a:p>
            <a:pPr marL="342900" indent="-342900">
              <a:buFont typeface="Arial" panose="020B0604020202020204" pitchFamily="34" charset="0"/>
              <a:buChar char="•"/>
            </a:pPr>
            <a:r>
              <a:rPr lang="en-IN" sz="2400" dirty="0">
                <a:solidFill>
                  <a:srgbClr val="002060"/>
                </a:solidFill>
                <a:latin typeface="Times New Roman" panose="02020603050405020304" pitchFamily="18" charset="0"/>
                <a:cs typeface="Times New Roman" panose="02020603050405020304" pitchFamily="18" charset="0"/>
              </a:rPr>
              <a:t>Reading data requires sensing the polarization state, often using destructive readout (data must be rewritten after being read).</a:t>
            </a:r>
          </a:p>
        </p:txBody>
      </p:sp>
      <p:pic>
        <p:nvPicPr>
          <p:cNvPr id="5" name="Picture 4" descr="A diagram of a structure&#10;&#10;Description automatically generated">
            <a:extLst>
              <a:ext uri="{FF2B5EF4-FFF2-40B4-BE49-F238E27FC236}">
                <a16:creationId xmlns="" xmlns:a16="http://schemas.microsoft.com/office/drawing/2014/main" id="{4106254C-E4C1-91FF-557A-6687A051A477}"/>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Lst>
          </a:blip>
          <a:stretch>
            <a:fillRect/>
          </a:stretch>
        </p:blipFill>
        <p:spPr>
          <a:xfrm>
            <a:off x="215899" y="3075800"/>
            <a:ext cx="7670801" cy="3404331"/>
          </a:xfrm>
          <a:prstGeom prst="rect">
            <a:avLst/>
          </a:prstGeom>
          <a:ln w="28575">
            <a:solidFill>
              <a:srgbClr val="941651"/>
            </a:solidFill>
          </a:ln>
        </p:spPr>
      </p:pic>
      <p:sp>
        <p:nvSpPr>
          <p:cNvPr id="6" name="TextBox 5">
            <a:extLst>
              <a:ext uri="{FF2B5EF4-FFF2-40B4-BE49-F238E27FC236}">
                <a16:creationId xmlns="" xmlns:a16="http://schemas.microsoft.com/office/drawing/2014/main" id="{D772ABA7-F957-C65B-5FEE-B9DB179401C1}"/>
              </a:ext>
            </a:extLst>
          </p:cNvPr>
          <p:cNvSpPr txBox="1"/>
          <p:nvPr/>
        </p:nvSpPr>
        <p:spPr>
          <a:xfrm>
            <a:off x="7988300" y="2961501"/>
            <a:ext cx="4089400" cy="3785652"/>
          </a:xfrm>
          <a:prstGeom prst="rect">
            <a:avLst/>
          </a:prstGeom>
          <a:solidFill>
            <a:schemeClr val="bg1"/>
          </a:solidFill>
          <a:ln w="28575">
            <a:solidFill>
              <a:srgbClr val="941651"/>
            </a:solidFill>
          </a:ln>
        </p:spPr>
        <p:txBody>
          <a:bodyPr wrap="square">
            <a:spAutoFit/>
          </a:bodyPr>
          <a:lstStyle/>
          <a:p>
            <a:r>
              <a:rPr lang="en-IN" sz="2400" b="1" dirty="0">
                <a:solidFill>
                  <a:srgbClr val="002060"/>
                </a:solidFill>
                <a:latin typeface="Times New Roman" panose="02020603050405020304" pitchFamily="18" charset="0"/>
                <a:cs typeface="Times New Roman" panose="02020603050405020304" pitchFamily="18" charset="0"/>
              </a:rPr>
              <a:t>Applications</a:t>
            </a:r>
            <a:r>
              <a:rPr lang="en-IN" sz="2400" dirty="0">
                <a:solidFill>
                  <a:srgbClr val="002060"/>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IN" sz="2400" dirty="0">
                <a:solidFill>
                  <a:srgbClr val="002060"/>
                </a:solidFill>
                <a:latin typeface="Times New Roman" panose="02020603050405020304" pitchFamily="18" charset="0"/>
                <a:cs typeface="Times New Roman" panose="02020603050405020304" pitchFamily="18" charset="0"/>
              </a:rPr>
              <a:t>Smart cards and RFID systems.</a:t>
            </a:r>
          </a:p>
          <a:p>
            <a:pPr marL="342900" indent="-342900">
              <a:buFont typeface="Arial" panose="020B0604020202020204" pitchFamily="34" charset="0"/>
              <a:buChar char="•"/>
            </a:pPr>
            <a:r>
              <a:rPr lang="en-IN" sz="2400" dirty="0">
                <a:solidFill>
                  <a:srgbClr val="002060"/>
                </a:solidFill>
                <a:latin typeface="Times New Roman" panose="02020603050405020304" pitchFamily="18" charset="0"/>
                <a:cs typeface="Times New Roman" panose="02020603050405020304" pitchFamily="18" charset="0"/>
              </a:rPr>
              <a:t>Medical devices (like pacemakers).</a:t>
            </a:r>
          </a:p>
          <a:p>
            <a:pPr marL="342900" indent="-342900">
              <a:buFont typeface="Arial" panose="020B0604020202020204" pitchFamily="34" charset="0"/>
              <a:buChar char="•"/>
            </a:pPr>
            <a:r>
              <a:rPr lang="en-IN" sz="2400" dirty="0">
                <a:solidFill>
                  <a:srgbClr val="002060"/>
                </a:solidFill>
                <a:latin typeface="Times New Roman" panose="02020603050405020304" pitchFamily="18" charset="0"/>
                <a:cs typeface="Times New Roman" panose="02020603050405020304" pitchFamily="18" charset="0"/>
              </a:rPr>
              <a:t>Automotive electronics (where high reliability is required).</a:t>
            </a:r>
          </a:p>
          <a:p>
            <a:pPr marL="342900" indent="-342900">
              <a:buFont typeface="Arial" panose="020B0604020202020204" pitchFamily="34" charset="0"/>
              <a:buChar char="•"/>
            </a:pPr>
            <a:r>
              <a:rPr lang="en-IN" sz="2400" dirty="0">
                <a:solidFill>
                  <a:srgbClr val="002060"/>
                </a:solidFill>
                <a:latin typeface="Times New Roman" panose="02020603050405020304" pitchFamily="18" charset="0"/>
                <a:cs typeface="Times New Roman" panose="02020603050405020304" pitchFamily="18" charset="0"/>
              </a:rPr>
              <a:t>Low-power embedded systems.</a:t>
            </a:r>
          </a:p>
        </p:txBody>
      </p:sp>
    </p:spTree>
    <p:extLst>
      <p:ext uri="{BB962C8B-B14F-4D97-AF65-F5344CB8AC3E}">
        <p14:creationId xmlns:p14="http://schemas.microsoft.com/office/powerpoint/2010/main" val="28733829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 xmlns:a16="http://schemas.microsoft.com/office/drawing/2014/main" id="{EC89F88B-30F0-34A9-65CB-F5B3A9D585B8}"/>
              </a:ext>
            </a:extLst>
          </p:cNvPr>
          <p:cNvSpPr txBox="1"/>
          <p:nvPr/>
        </p:nvSpPr>
        <p:spPr>
          <a:xfrm>
            <a:off x="88958" y="4833373"/>
            <a:ext cx="11976100" cy="1938992"/>
          </a:xfrm>
          <a:prstGeom prst="rect">
            <a:avLst/>
          </a:prstGeom>
          <a:solidFill>
            <a:schemeClr val="bg1"/>
          </a:solidFill>
          <a:ln w="28575">
            <a:solidFill>
              <a:srgbClr val="941651"/>
            </a:solidFill>
          </a:ln>
        </p:spPr>
        <p:txBody>
          <a:bodyPr wrap="square">
            <a:spAutoFit/>
          </a:bodyPr>
          <a:lstStyle/>
          <a:p>
            <a:pPr algn="l"/>
            <a:r>
              <a:rPr lang="en-IN" sz="2400" b="1" i="0" u="none" strike="noStrike" dirty="0">
                <a:solidFill>
                  <a:srgbClr val="002060"/>
                </a:solidFill>
                <a:effectLst/>
                <a:latin typeface="Times New Roman" panose="02020603050405020304" pitchFamily="18" charset="0"/>
                <a:cs typeface="Times New Roman" panose="02020603050405020304" pitchFamily="18" charset="0"/>
              </a:rPr>
              <a:t>Applications</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a:t>
            </a:r>
          </a:p>
          <a:p>
            <a:pPr marL="742950" lvl="1" indent="-285750" algn="l">
              <a:buFont typeface="Arial" panose="020B0604020202020204" pitchFamily="34" charset="0"/>
              <a:buChar char="•"/>
            </a:pPr>
            <a:r>
              <a:rPr lang="en-IN" sz="2400" b="0" i="0" u="none" strike="noStrike" dirty="0">
                <a:solidFill>
                  <a:srgbClr val="002060"/>
                </a:solidFill>
                <a:effectLst/>
                <a:latin typeface="Times New Roman" panose="02020603050405020304" pitchFamily="18" charset="0"/>
                <a:cs typeface="Times New Roman" panose="02020603050405020304" pitchFamily="18" charset="0"/>
              </a:rPr>
              <a:t>Weighing machines and electronic balances.</a:t>
            </a:r>
          </a:p>
          <a:p>
            <a:pPr marL="742950" lvl="1" indent="-285750" algn="l">
              <a:buFont typeface="Arial" panose="020B0604020202020204" pitchFamily="34" charset="0"/>
              <a:buChar char="•"/>
            </a:pPr>
            <a:r>
              <a:rPr lang="en-IN" sz="2400" b="0" i="0" u="none" strike="noStrike" dirty="0">
                <a:solidFill>
                  <a:srgbClr val="002060"/>
                </a:solidFill>
                <a:effectLst/>
                <a:latin typeface="Times New Roman" panose="02020603050405020304" pitchFamily="18" charset="0"/>
                <a:cs typeface="Times New Roman" panose="02020603050405020304" pitchFamily="18" charset="0"/>
              </a:rPr>
              <a:t>Industrial automation for force and pressure measurement.</a:t>
            </a:r>
          </a:p>
          <a:p>
            <a:pPr marL="742950" lvl="1" indent="-285750" algn="l">
              <a:buFont typeface="Arial" panose="020B0604020202020204" pitchFamily="34" charset="0"/>
              <a:buChar char="•"/>
            </a:pPr>
            <a:r>
              <a:rPr lang="en-IN" sz="2400" b="0" i="0" u="none" strike="noStrike" dirty="0">
                <a:solidFill>
                  <a:srgbClr val="002060"/>
                </a:solidFill>
                <a:effectLst/>
                <a:latin typeface="Times New Roman" panose="02020603050405020304" pitchFamily="18" charset="0"/>
                <a:cs typeface="Times New Roman" panose="02020603050405020304" pitchFamily="18" charset="0"/>
              </a:rPr>
              <a:t>Structural health monitoring.</a:t>
            </a:r>
          </a:p>
          <a:p>
            <a:pPr marL="742950" lvl="1" indent="-285750" algn="l">
              <a:buFont typeface="Arial" panose="020B0604020202020204" pitchFamily="34" charset="0"/>
              <a:buChar char="•"/>
            </a:pPr>
            <a:r>
              <a:rPr lang="en-IN" sz="2400" b="0" i="0" u="none" strike="noStrike" dirty="0">
                <a:solidFill>
                  <a:srgbClr val="002060"/>
                </a:solidFill>
                <a:effectLst/>
                <a:latin typeface="Times New Roman" panose="02020603050405020304" pitchFamily="18" charset="0"/>
                <a:cs typeface="Times New Roman" panose="02020603050405020304" pitchFamily="18" charset="0"/>
              </a:rPr>
              <a:t>Robotics and aerospace systems.</a:t>
            </a:r>
          </a:p>
        </p:txBody>
      </p:sp>
      <p:pic>
        <p:nvPicPr>
          <p:cNvPr id="12" name="Picture 11" descr="A diagram of a wire&#10;&#10;Description automatically generated">
            <a:extLst>
              <a:ext uri="{FF2B5EF4-FFF2-40B4-BE49-F238E27FC236}">
                <a16:creationId xmlns="" xmlns:a16="http://schemas.microsoft.com/office/drawing/2014/main" id="{E88D12B9-F41D-4BDC-4777-008FA114B1E7}"/>
              </a:ext>
            </a:extLst>
          </p:cNvPr>
          <p:cNvPicPr>
            <a:picLocks noChangeAspect="1"/>
          </p:cNvPicPr>
          <p:nvPr/>
        </p:nvPicPr>
        <p:blipFill>
          <a:blip r:embed="rId2"/>
          <a:stretch>
            <a:fillRect/>
          </a:stretch>
        </p:blipFill>
        <p:spPr>
          <a:xfrm>
            <a:off x="3394249" y="2759780"/>
            <a:ext cx="5063952" cy="1997393"/>
          </a:xfrm>
          <a:prstGeom prst="rect">
            <a:avLst/>
          </a:prstGeom>
          <a:ln w="28575">
            <a:solidFill>
              <a:srgbClr val="941651"/>
            </a:solidFill>
          </a:ln>
        </p:spPr>
      </p:pic>
      <p:sp>
        <p:nvSpPr>
          <p:cNvPr id="13" name="TextBox 12">
            <a:extLst>
              <a:ext uri="{FF2B5EF4-FFF2-40B4-BE49-F238E27FC236}">
                <a16:creationId xmlns="" xmlns:a16="http://schemas.microsoft.com/office/drawing/2014/main" id="{C421680D-0AF8-97FB-DAB9-7DF66B830301}"/>
              </a:ext>
            </a:extLst>
          </p:cNvPr>
          <p:cNvSpPr txBox="1"/>
          <p:nvPr/>
        </p:nvSpPr>
        <p:spPr>
          <a:xfrm>
            <a:off x="50916" y="123735"/>
            <a:ext cx="12052184" cy="523220"/>
          </a:xfrm>
          <a:prstGeom prst="rect">
            <a:avLst/>
          </a:prstGeom>
          <a:solidFill>
            <a:schemeClr val="bg1"/>
          </a:solidFill>
          <a:ln w="28575">
            <a:solidFill>
              <a:srgbClr val="941651"/>
            </a:solidFill>
          </a:ln>
        </p:spPr>
        <p:txBody>
          <a:bodyPr wrap="square">
            <a:spAutoFit/>
          </a:bodyPr>
          <a:lstStyle/>
          <a:p>
            <a:pPr algn="l"/>
            <a:r>
              <a:rPr lang="en-IN" sz="2800" b="1" i="0" u="none" strike="noStrike" dirty="0">
                <a:solidFill>
                  <a:srgbClr val="941651"/>
                </a:solidFill>
                <a:effectLst/>
                <a:latin typeface="Times New Roman" panose="02020603050405020304" pitchFamily="18" charset="0"/>
                <a:cs typeface="Times New Roman" panose="02020603050405020304" pitchFamily="18" charset="0"/>
              </a:rPr>
              <a:t>Load Cell: </a:t>
            </a:r>
          </a:p>
        </p:txBody>
      </p:sp>
      <p:sp>
        <p:nvSpPr>
          <p:cNvPr id="14" name="TextBox 13">
            <a:extLst>
              <a:ext uri="{FF2B5EF4-FFF2-40B4-BE49-F238E27FC236}">
                <a16:creationId xmlns="" xmlns:a16="http://schemas.microsoft.com/office/drawing/2014/main" id="{3904F0DF-A270-0FB6-834F-F84F72EB251C}"/>
              </a:ext>
            </a:extLst>
          </p:cNvPr>
          <p:cNvSpPr txBox="1"/>
          <p:nvPr/>
        </p:nvSpPr>
        <p:spPr>
          <a:xfrm>
            <a:off x="50916" y="698968"/>
            <a:ext cx="12052184" cy="1938992"/>
          </a:xfrm>
          <a:prstGeom prst="rect">
            <a:avLst/>
          </a:prstGeom>
          <a:solidFill>
            <a:schemeClr val="bg1"/>
          </a:solidFill>
          <a:ln w="38100">
            <a:solidFill>
              <a:srgbClr val="941651"/>
            </a:solidFill>
          </a:ln>
        </p:spPr>
        <p:txBody>
          <a:bodyPr wrap="square">
            <a:spAutoFit/>
          </a:bodyPr>
          <a:lstStyle/>
          <a:p>
            <a:r>
              <a:rPr lang="en-IN" sz="2400" i="0" u="none" strike="noStrike" dirty="0">
                <a:solidFill>
                  <a:srgbClr val="002060"/>
                </a:solidFill>
                <a:effectLst/>
                <a:latin typeface="Times New Roman" panose="02020603050405020304" pitchFamily="18" charset="0"/>
                <a:cs typeface="Times New Roman" panose="02020603050405020304" pitchFamily="18" charset="0"/>
              </a:rPr>
              <a:t>A load cell is a transducer that converts mechanical force (load, weight, or pressure) into an electrical signal.</a:t>
            </a:r>
            <a:r>
              <a:rPr lang="en-IN" sz="2400" b="1" i="0" u="none" strike="noStrike" dirty="0">
                <a:solidFill>
                  <a:srgbClr val="002060"/>
                </a:solidFill>
                <a:effectLst/>
                <a:latin typeface="Times New Roman" panose="02020603050405020304" pitchFamily="18" charset="0"/>
                <a:cs typeface="Times New Roman" panose="02020603050405020304" pitchFamily="18" charset="0"/>
              </a:rPr>
              <a:t> </a:t>
            </a:r>
          </a:p>
          <a:p>
            <a:r>
              <a:rPr lang="en-IN" sz="2400" b="1" i="0" u="none" strike="noStrike" dirty="0">
                <a:solidFill>
                  <a:srgbClr val="002060"/>
                </a:solidFill>
                <a:effectLst/>
                <a:latin typeface="Times New Roman" panose="02020603050405020304" pitchFamily="18" charset="0"/>
                <a:cs typeface="Times New Roman" panose="02020603050405020304" pitchFamily="18" charset="0"/>
              </a:rPr>
              <a:t>Working Principle</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 Most load cells work on the </a:t>
            </a:r>
            <a:r>
              <a:rPr lang="en-IN" sz="2400" b="1" i="0" u="none" strike="noStrike" dirty="0">
                <a:solidFill>
                  <a:srgbClr val="002060"/>
                </a:solidFill>
                <a:effectLst/>
                <a:latin typeface="Times New Roman" panose="02020603050405020304" pitchFamily="18" charset="0"/>
                <a:cs typeface="Times New Roman" panose="02020603050405020304" pitchFamily="18" charset="0"/>
              </a:rPr>
              <a:t>strain gauge principle</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 where applied force causes strain (deformation) in the material, changing the resistance of strain gauges. This change in resistance is measured as an electrical signal proportional to the force.</a:t>
            </a:r>
          </a:p>
        </p:txBody>
      </p:sp>
    </p:spTree>
    <p:extLst>
      <p:ext uri="{BB962C8B-B14F-4D97-AF65-F5344CB8AC3E}">
        <p14:creationId xmlns:p14="http://schemas.microsoft.com/office/powerpoint/2010/main" val="17234245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19346841-C7A9-C518-C232-24F519B6460A}"/>
              </a:ext>
            </a:extLst>
          </p:cNvPr>
          <p:cNvSpPr txBox="1"/>
          <p:nvPr/>
        </p:nvSpPr>
        <p:spPr>
          <a:xfrm>
            <a:off x="215900" y="774343"/>
            <a:ext cx="11791950" cy="2308324"/>
          </a:xfrm>
          <a:prstGeom prst="rect">
            <a:avLst/>
          </a:prstGeom>
          <a:solidFill>
            <a:schemeClr val="bg1"/>
          </a:solidFill>
          <a:ln w="19050">
            <a:solidFill>
              <a:srgbClr val="941651"/>
            </a:solidFill>
          </a:ln>
        </p:spPr>
        <p:txBody>
          <a:bodyPr wrap="square">
            <a:spAutoFit/>
          </a:bodyPr>
          <a:lstStyle/>
          <a:p>
            <a:pPr algn="l"/>
            <a:r>
              <a:rPr lang="en-IN" sz="2400" b="0" i="0" u="none" strike="noStrike" dirty="0">
                <a:solidFill>
                  <a:srgbClr val="002060"/>
                </a:solidFill>
                <a:effectLst/>
                <a:latin typeface="Times New Roman" panose="02020603050405020304" pitchFamily="18" charset="0"/>
                <a:cs typeface="Times New Roman" panose="02020603050405020304" pitchFamily="18" charset="0"/>
              </a:rPr>
              <a:t>A fire sensor is a </a:t>
            </a:r>
            <a:r>
              <a:rPr lang="en-IN" sz="2400" b="1" i="0" u="none" strike="noStrike" dirty="0">
                <a:solidFill>
                  <a:srgbClr val="002060"/>
                </a:solidFill>
                <a:effectLst/>
                <a:latin typeface="Times New Roman" panose="02020603050405020304" pitchFamily="18" charset="0"/>
                <a:cs typeface="Times New Roman" panose="02020603050405020304" pitchFamily="18" charset="0"/>
              </a:rPr>
              <a:t>device designed to detect fire or flame presence</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 through heat, smoke, light (UV/IR), or gas emissions, and trigger an alarm or safety response.</a:t>
            </a:r>
          </a:p>
          <a:p>
            <a:pPr algn="l"/>
            <a:r>
              <a:rPr lang="en-IN" sz="2400" b="1" i="0" u="none" strike="noStrike" dirty="0">
                <a:solidFill>
                  <a:srgbClr val="002060"/>
                </a:solidFill>
                <a:effectLst/>
                <a:latin typeface="Times New Roman" panose="02020603050405020304" pitchFamily="18" charset="0"/>
                <a:cs typeface="Times New Roman" panose="02020603050405020304" pitchFamily="18" charset="0"/>
              </a:rPr>
              <a:t>Types &amp; Working</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a:t>
            </a:r>
          </a:p>
          <a:p>
            <a:pPr marL="742950" lvl="1" indent="-285750" algn="l">
              <a:buFont typeface="Arial" panose="020B0604020202020204" pitchFamily="34" charset="0"/>
              <a:buChar char="•"/>
            </a:pPr>
            <a:r>
              <a:rPr lang="en-IN" sz="2400" b="1" i="0" u="none" strike="noStrike" dirty="0">
                <a:solidFill>
                  <a:srgbClr val="002060"/>
                </a:solidFill>
                <a:effectLst/>
                <a:latin typeface="Times New Roman" panose="02020603050405020304" pitchFamily="18" charset="0"/>
                <a:cs typeface="Times New Roman" panose="02020603050405020304" pitchFamily="18" charset="0"/>
              </a:rPr>
              <a:t>Smoke Detectors</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 Detect smoke particles using ionization or photoelectric sensors.</a:t>
            </a:r>
          </a:p>
          <a:p>
            <a:pPr marL="742950" lvl="1" indent="-285750" algn="l">
              <a:buFont typeface="Arial" panose="020B0604020202020204" pitchFamily="34" charset="0"/>
              <a:buChar char="•"/>
            </a:pPr>
            <a:r>
              <a:rPr lang="en-IN" sz="2400" b="1" i="0" u="none" strike="noStrike" dirty="0">
                <a:solidFill>
                  <a:srgbClr val="002060"/>
                </a:solidFill>
                <a:effectLst/>
                <a:latin typeface="Times New Roman" panose="02020603050405020304" pitchFamily="18" charset="0"/>
                <a:cs typeface="Times New Roman" panose="02020603050405020304" pitchFamily="18" charset="0"/>
              </a:rPr>
              <a:t>Heat Detectors</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 Sense an abnormal rise in temperature.</a:t>
            </a:r>
          </a:p>
          <a:p>
            <a:pPr marL="742950" lvl="1" indent="-285750" algn="l">
              <a:buFont typeface="Arial" panose="020B0604020202020204" pitchFamily="34" charset="0"/>
              <a:buChar char="•"/>
            </a:pPr>
            <a:r>
              <a:rPr lang="en-IN" sz="2400" b="1" i="0" u="none" strike="noStrike" dirty="0">
                <a:solidFill>
                  <a:srgbClr val="002060"/>
                </a:solidFill>
                <a:effectLst/>
                <a:latin typeface="Times New Roman" panose="02020603050405020304" pitchFamily="18" charset="0"/>
                <a:cs typeface="Times New Roman" panose="02020603050405020304" pitchFamily="18" charset="0"/>
              </a:rPr>
              <a:t>Flame Detectors</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 Detect infrared (IR) or ultraviolet (UV) radiation from flames.</a:t>
            </a:r>
          </a:p>
        </p:txBody>
      </p:sp>
      <p:sp>
        <p:nvSpPr>
          <p:cNvPr id="5" name="TextBox 4">
            <a:extLst>
              <a:ext uri="{FF2B5EF4-FFF2-40B4-BE49-F238E27FC236}">
                <a16:creationId xmlns="" xmlns:a16="http://schemas.microsoft.com/office/drawing/2014/main" id="{30C5D535-9CB0-6409-A4EB-37A61B3E926E}"/>
              </a:ext>
            </a:extLst>
          </p:cNvPr>
          <p:cNvSpPr txBox="1"/>
          <p:nvPr/>
        </p:nvSpPr>
        <p:spPr>
          <a:xfrm>
            <a:off x="215900" y="149523"/>
            <a:ext cx="11823700" cy="523220"/>
          </a:xfrm>
          <a:prstGeom prst="rect">
            <a:avLst/>
          </a:prstGeom>
          <a:solidFill>
            <a:schemeClr val="bg1"/>
          </a:solidFill>
          <a:ln w="19050">
            <a:solidFill>
              <a:srgbClr val="941651"/>
            </a:solidFill>
          </a:ln>
        </p:spPr>
        <p:txBody>
          <a:bodyPr wrap="square">
            <a:spAutoFit/>
          </a:bodyPr>
          <a:lstStyle/>
          <a:p>
            <a:pPr algn="l"/>
            <a:r>
              <a:rPr lang="en-IN" sz="2800" b="1" i="0" u="none" strike="noStrike" dirty="0">
                <a:solidFill>
                  <a:srgbClr val="941651"/>
                </a:solidFill>
                <a:effectLst/>
                <a:latin typeface="Times New Roman" panose="02020603050405020304" pitchFamily="18" charset="0"/>
                <a:cs typeface="Times New Roman" panose="02020603050405020304" pitchFamily="18" charset="0"/>
              </a:rPr>
              <a:t>Fire Sensor:</a:t>
            </a:r>
          </a:p>
        </p:txBody>
      </p:sp>
      <p:sp>
        <p:nvSpPr>
          <p:cNvPr id="7" name="TextBox 6">
            <a:extLst>
              <a:ext uri="{FF2B5EF4-FFF2-40B4-BE49-F238E27FC236}">
                <a16:creationId xmlns="" xmlns:a16="http://schemas.microsoft.com/office/drawing/2014/main" id="{B1760BFF-408C-9B03-FBC9-A2C41EF44AAA}"/>
              </a:ext>
            </a:extLst>
          </p:cNvPr>
          <p:cNvSpPr txBox="1"/>
          <p:nvPr/>
        </p:nvSpPr>
        <p:spPr>
          <a:xfrm>
            <a:off x="4222750" y="4113431"/>
            <a:ext cx="7816850" cy="1569660"/>
          </a:xfrm>
          <a:prstGeom prst="rect">
            <a:avLst/>
          </a:prstGeom>
          <a:solidFill>
            <a:schemeClr val="bg1"/>
          </a:solidFill>
          <a:ln w="28575">
            <a:solidFill>
              <a:srgbClr val="941651"/>
            </a:solidFill>
          </a:ln>
        </p:spPr>
        <p:txBody>
          <a:bodyPr wrap="square">
            <a:spAutoFit/>
          </a:bodyPr>
          <a:lstStyle/>
          <a:p>
            <a:pPr algn="l"/>
            <a:r>
              <a:rPr lang="en-IN" sz="2400" b="1" i="0" u="none" strike="noStrike" dirty="0">
                <a:solidFill>
                  <a:srgbClr val="002060"/>
                </a:solidFill>
                <a:effectLst/>
                <a:latin typeface="Times New Roman" panose="02020603050405020304" pitchFamily="18" charset="0"/>
                <a:cs typeface="Times New Roman" panose="02020603050405020304" pitchFamily="18" charset="0"/>
              </a:rPr>
              <a:t>Applications</a:t>
            </a:r>
            <a:r>
              <a:rPr lang="en-IN" sz="2400" b="0" i="0" u="none" strike="noStrike" dirty="0">
                <a:solidFill>
                  <a:srgbClr val="002060"/>
                </a:solidFill>
                <a:effectLst/>
                <a:latin typeface="Times New Roman" panose="02020603050405020304" pitchFamily="18" charset="0"/>
                <a:cs typeface="Times New Roman" panose="02020603050405020304" pitchFamily="18" charset="0"/>
              </a:rPr>
              <a:t>:</a:t>
            </a:r>
          </a:p>
          <a:p>
            <a:pPr marL="742950" lvl="1" indent="-285750" algn="l">
              <a:buFont typeface="Arial" panose="020B0604020202020204" pitchFamily="34" charset="0"/>
              <a:buChar char="•"/>
            </a:pPr>
            <a:r>
              <a:rPr lang="en-IN" sz="2400" b="0" i="0" u="none" strike="noStrike" dirty="0">
                <a:solidFill>
                  <a:srgbClr val="002060"/>
                </a:solidFill>
                <a:effectLst/>
                <a:latin typeface="Times New Roman" panose="02020603050405020304" pitchFamily="18" charset="0"/>
                <a:cs typeface="Times New Roman" panose="02020603050405020304" pitchFamily="18" charset="0"/>
              </a:rPr>
              <a:t>Fire alarm systems in homes, offices, and industries.</a:t>
            </a:r>
          </a:p>
          <a:p>
            <a:pPr marL="742950" lvl="1" indent="-285750" algn="l">
              <a:buFont typeface="Arial" panose="020B0604020202020204" pitchFamily="34" charset="0"/>
              <a:buChar char="•"/>
            </a:pPr>
            <a:r>
              <a:rPr lang="en-IN" sz="2400" b="0" i="0" u="none" strike="noStrike" dirty="0">
                <a:solidFill>
                  <a:srgbClr val="002060"/>
                </a:solidFill>
                <a:effectLst/>
                <a:latin typeface="Times New Roman" panose="02020603050405020304" pitchFamily="18" charset="0"/>
                <a:cs typeface="Times New Roman" panose="02020603050405020304" pitchFamily="18" charset="0"/>
              </a:rPr>
              <a:t>Safety systems in aircraft, automobiles, and spacecraft.</a:t>
            </a:r>
          </a:p>
          <a:p>
            <a:pPr marL="742950" lvl="1" indent="-285750" algn="l">
              <a:buFont typeface="Arial" panose="020B0604020202020204" pitchFamily="34" charset="0"/>
              <a:buChar char="•"/>
            </a:pPr>
            <a:r>
              <a:rPr lang="en-IN" sz="2400" b="0" i="0" u="none" strike="noStrike" dirty="0">
                <a:solidFill>
                  <a:srgbClr val="002060"/>
                </a:solidFill>
                <a:effectLst/>
                <a:latin typeface="Times New Roman" panose="02020603050405020304" pitchFamily="18" charset="0"/>
                <a:cs typeface="Times New Roman" panose="02020603050405020304" pitchFamily="18" charset="0"/>
              </a:rPr>
              <a:t>Industrial plants (oil refineries, chemical factories).</a:t>
            </a:r>
          </a:p>
        </p:txBody>
      </p:sp>
      <p:pic>
        <p:nvPicPr>
          <p:cNvPr id="9" name="Picture 8" descr="A red circuit board with a blue and black component&#10;&#10;Description automatically generated">
            <a:extLst>
              <a:ext uri="{FF2B5EF4-FFF2-40B4-BE49-F238E27FC236}">
                <a16:creationId xmlns="" xmlns:a16="http://schemas.microsoft.com/office/drawing/2014/main" id="{D2070A07-653E-6E03-696F-476D0E545C80}"/>
              </a:ext>
            </a:extLst>
          </p:cNvPr>
          <p:cNvPicPr>
            <a:picLocks noChangeAspect="1"/>
          </p:cNvPicPr>
          <p:nvPr/>
        </p:nvPicPr>
        <p:blipFill>
          <a:blip r:embed="rId2"/>
          <a:stretch>
            <a:fillRect/>
          </a:stretch>
        </p:blipFill>
        <p:spPr>
          <a:xfrm>
            <a:off x="215900" y="3222311"/>
            <a:ext cx="3864947" cy="3351901"/>
          </a:xfrm>
          <a:prstGeom prst="rect">
            <a:avLst/>
          </a:prstGeom>
          <a:ln w="28575">
            <a:solidFill>
              <a:srgbClr val="941651"/>
            </a:solidFill>
          </a:ln>
        </p:spPr>
      </p:pic>
    </p:spTree>
    <p:extLst>
      <p:ext uri="{BB962C8B-B14F-4D97-AF65-F5344CB8AC3E}">
        <p14:creationId xmlns:p14="http://schemas.microsoft.com/office/powerpoint/2010/main" val="11059807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1377</TotalTime>
  <Words>1945</Words>
  <Application>Microsoft Office PowerPoint</Application>
  <PresentationFormat>Custom</PresentationFormat>
  <Paragraphs>199</Paragraphs>
  <Slides>30</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30</vt:i4>
      </vt:variant>
    </vt:vector>
  </HeadingPairs>
  <TitlesOfParts>
    <vt:vector size="32" baseType="lpstr">
      <vt:lpstr>Office Theme</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Naresh Parkala</dc:creator>
  <cp:lastModifiedBy>DELL</cp:lastModifiedBy>
  <cp:revision>16</cp:revision>
  <dcterms:created xsi:type="dcterms:W3CDTF">2025-09-05T04:36:45Z</dcterms:created>
  <dcterms:modified xsi:type="dcterms:W3CDTF">2025-10-14T03:38:33Z</dcterms:modified>
</cp:coreProperties>
</file>